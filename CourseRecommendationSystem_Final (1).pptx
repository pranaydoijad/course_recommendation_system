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7.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User Enrollment Distribution</a:t>
            </a:r>
          </a:p>
        </c:rich>
      </c:tx>
      <c:layout/>
      <c:overlay val="0"/>
    </c:title>
    <c:autoTitleDeleted val="0"/>
    <c:plotArea>
      <c:layout/>
      <c:barChart>
        <c:barDir val="col"/>
        <c:grouping val="clustered"/>
        <c:varyColors val="0"/>
        <c:ser>
          <c:idx val="0"/>
          <c:order val="0"/>
          <c:tx>
            <c:strRef>
              <c:f>Sheet1!$B$1</c:f>
              <c:strCache>
                <c:ptCount val="1"/>
                <c:pt idx="0">
                  <c:v>Users</c:v>
                </c:pt>
              </c:strCache>
            </c:strRef>
          </c:tx>
          <c:spPr>
            <a:solidFill>
              <a:srgbClr val="028090"/>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2C39A"/>
              </a:solidFill>
              <a:effectLst/>
            </c:spPr>
          </c:dPt>
          <c:dPt>
            <c:idx val="3"/>
            <c:invertIfNegative val="0"/>
            <c:bubble3D val="0"/>
            <c:spPr>
              <a:solidFill>
                <a:srgbClr val="14B8A6"/>
              </a:solidFill>
              <a:effectLst/>
            </c:spPr>
          </c:dPt>
          <c:dPt>
            <c:idx val="4"/>
            <c:invertIfNegative val="0"/>
            <c:bubble3D val="0"/>
            <c:spPr>
              <a:solidFill>
                <a:srgbClr val="0D9488"/>
              </a:solidFill>
              <a:effectLst/>
            </c:spPr>
          </c:dPt>
          <c:cat>
            <c:multiLvlStrRef>
              <c:f>Sheet1!$A$2:$A$6</c:f>
              <c:multiLvlStrCache>
                <c:ptCount val="5"/>
                <c:lvl>
                  <c:pt idx="0">
                    <c:v>1 Course</c:v>
                  </c:pt>
                  <c:pt idx="1">
                    <c:v>2 Courses</c:v>
                  </c:pt>
                  <c:pt idx="2">
                    <c:v>3 Courses</c:v>
                  </c:pt>
                  <c:pt idx="3">
                    <c:v>4 Courses</c:v>
                  </c:pt>
                  <c:pt idx="4">
                    <c:v>5+ Courses</c:v>
                  </c:pt>
                </c:lvl>
              </c:multiLvlStrCache>
            </c:multiLvlStrRef>
          </c:cat>
          <c:val>
            <c:numRef>
              <c:f>Sheet1!$B$2:$B$6</c:f>
              <c:numCache>
                <c:formatCode>General</c:formatCode>
                <c:ptCount val="5"/>
                <c:pt idx="0">
                  <c:v>14182</c:v>
                </c:pt>
                <c:pt idx="1">
                  <c:v>15390</c:v>
                </c:pt>
                <c:pt idx="2">
                  <c:v>8060</c:v>
                </c:pt>
                <c:pt idx="3">
                  <c:v>3810</c:v>
                </c:pt>
                <c:pt idx="4">
                  <c:v>1800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Rating Distribution Across All Enrollments</a:t>
            </a:r>
          </a:p>
        </c:rich>
      </c:tx>
      <c:layout/>
      <c:overlay val="0"/>
    </c:title>
    <c:autoTitleDeleted val="0"/>
    <c:plotArea>
      <c:layout/>
      <c:pieChart>
        <c:varyColors val="1"/>
        <c:ser>
          <c:idx val="0"/>
          <c:order val="0"/>
          <c:tx>
            <c:strRef>
              <c:f>Sheet1!$B$1</c:f>
              <c:strCache>
                <c:ptCount val="1"/>
                <c:pt idx="0">
                  <c:v>Rating Range</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dPt>
          <c:dPt>
            <c:idx val="1"/>
            <c:bubble3D val="0"/>
            <c:spPr>
              <a:solidFill>
                <a:srgbClr val="F59E0B"/>
              </a:solidFill>
              <a:effectLst/>
            </c:spPr>
          </c:dPt>
          <c:dPt>
            <c:idx val="2"/>
            <c:bubble3D val="0"/>
            <c:spPr>
              <a:solidFill>
                <a:srgbClr val="3B82F6"/>
              </a:solidFill>
              <a:effectLst/>
            </c:spPr>
          </c:dPt>
          <c:dPt>
            <c:idx val="3"/>
            <c:bubble3D val="0"/>
            <c:spPr>
              <a:solidFill>
                <a:srgbClr val="10B981"/>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1–2 Stars (0.5%)</c:v>
                </c:pt>
                <c:pt idx="1">
                  <c:v>2–3 Stars (9.1%)</c:v>
                </c:pt>
                <c:pt idx="2">
                  <c:v>3–4 Stars (37.8%)</c:v>
                </c:pt>
                <c:pt idx="3">
                  <c:v>4–5 Stars (52.6%)</c:v>
                </c:pt>
              </c:strCache>
            </c:strRef>
          </c:cat>
          <c:val>
            <c:numRef>
              <c:f>Sheet1!$B$2:$B$5</c:f>
              <c:numCache>
                <c:ptCount val="4"/>
                <c:pt idx="0">
                  <c:v>529</c:v>
                </c:pt>
                <c:pt idx="1">
                  <c:v>9056</c:v>
                </c:pt>
                <c:pt idx="2">
                  <c:v>37777</c:v>
                </c:pt>
                <c:pt idx="3">
                  <c:v>52638</c:v>
                </c:pt>
              </c:numCache>
            </c:numRef>
          </c:val>
        </c:ser>
        <c:firstSliceAng val="0"/>
      </c:pie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Feature Correlations with User Rating</a:t>
            </a:r>
          </a:p>
        </c:rich>
      </c:tx>
      <c:layout/>
      <c:overlay val="0"/>
    </c:title>
    <c:autoTitleDeleted val="0"/>
    <c:plotArea>
      <c:layout/>
      <c:barChart>
        <c:barDir val="bar"/>
        <c:grouping val="clustered"/>
        <c:varyColors val="0"/>
        <c:ser>
          <c:idx val="0"/>
          <c:order val="0"/>
          <c:tx>
            <c:strRef>
              <c:f>Sheet1!$B$1</c:f>
              <c:strCache>
                <c:ptCount val="1"/>
                <c:pt idx="0">
                  <c:v>Correlation with Rating</c:v>
                </c:pt>
              </c:strCache>
            </c:strRef>
          </c:tx>
          <c:spPr>
            <a:solidFill>
              <a:srgbClr val="028090"/>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Time Spent</c:v>
                  </c:pt>
                  <c:pt idx="1">
                    <c:v>Course Duration</c:v>
                  </c:pt>
                  <c:pt idx="2">
                    <c:v>Course Price</c:v>
                  </c:pt>
                  <c:pt idx="3">
                    <c:v>Feedback Score</c:v>
                  </c:pt>
                  <c:pt idx="4">
                    <c:v>Enrollment Count</c:v>
                  </c:pt>
                </c:lvl>
              </c:multiLvlStrCache>
            </c:multiLvlStrRef>
          </c:cat>
          <c:val>
            <c:numRef>
              <c:f>Sheet1!$B$2:$B$6</c:f>
              <c:numCache>
                <c:formatCode>General</c:formatCode>
                <c:ptCount val="5"/>
                <c:pt idx="0">
                  <c:v>0.002</c:v>
                </c:pt>
                <c:pt idx="1">
                  <c:v>0.0016</c:v>
                </c:pt>
                <c:pt idx="2">
                  <c:v>-0.0014</c:v>
                </c:pt>
                <c:pt idx="3">
                  <c:v>0.0015</c:v>
                </c:pt>
                <c:pt idx="4">
                  <c:v>-0.0011</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Top 5 Most Popular Courses by Enrollment</a:t>
            </a:r>
          </a:p>
        </c:rich>
      </c:tx>
      <c:layout/>
      <c:overlay val="0"/>
    </c:title>
    <c:autoTitleDeleted val="0"/>
    <c:plotArea>
      <c:layout/>
      <c:barChart>
        <c:barDir val="bar"/>
        <c:grouping val="clustered"/>
        <c:varyColors val="0"/>
        <c:ser>
          <c:idx val="0"/>
          <c:order val="0"/>
          <c:tx>
            <c:strRef>
              <c:f>Sheet1!$B$1</c:f>
              <c:strCache>
                <c:ptCount val="1"/>
                <c:pt idx="0">
                  <c:v>Total Enrollments</c:v>
                </c:pt>
              </c:strCache>
            </c:strRef>
          </c:tx>
          <c:spPr>
            <a:solidFill>
              <a:srgbClr val="028090"/>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Networking &amp; Sys Admin</c:v>
                  </c:pt>
                  <c:pt idx="1">
                    <c:v>Photography &amp; Video</c:v>
                  </c:pt>
                  <c:pt idx="2">
                    <c:v>DevOps &amp; CI/CD</c:v>
                  </c:pt>
                  <c:pt idx="3">
                    <c:v>Personal Finance</c:v>
                  </c:pt>
                  <c:pt idx="4">
                    <c:v>Game Development</c:v>
                  </c:pt>
                </c:lvl>
              </c:multiLvlStrCache>
            </c:multiLvlStrRef>
          </c:cat>
          <c:val>
            <c:numRef>
              <c:f>Sheet1!$B$2:$B$6</c:f>
              <c:numCache>
                <c:formatCode>General</c:formatCode>
                <c:ptCount val="5"/>
                <c:pt idx="0">
                  <c:v>47314</c:v>
                </c:pt>
                <c:pt idx="1">
                  <c:v>47116</c:v>
                </c:pt>
                <c:pt idx="2">
                  <c:v>46293</c:v>
                </c:pt>
                <c:pt idx="3">
                  <c:v>45666</c:v>
                </c:pt>
                <c:pt idx="4">
                  <c:v>43502</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in val="4000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Hybrid Score Composition</a:t>
            </a:r>
          </a:p>
        </c:rich>
      </c:tx>
      <c:layout/>
      <c:overlay val="0"/>
    </c:title>
    <c:autoTitleDeleted val="0"/>
    <c:plotArea>
      <c:layout/>
      <c:pieChart>
        <c:varyColors val="1"/>
        <c:ser>
          <c:idx val="0"/>
          <c:order val="0"/>
          <c:tx>
            <c:strRef>
              <c:f>Sheet1!$B$1</c:f>
              <c:strCache>
                <c:ptCount val="1"/>
                <c:pt idx="0">
                  <c:v>Hybrid Weights</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dPt>
          <c:dPt>
            <c:idx val="1"/>
            <c:bubble3D val="0"/>
            <c:spPr>
              <a:solidFill>
                <a:srgbClr val="02C39A"/>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Popularity Score (60%)</c:v>
                </c:pt>
                <c:pt idx="1">
                  <c:v>Content-Based Score (40%)</c:v>
                </c:pt>
              </c:strCache>
            </c:strRef>
          </c:cat>
          <c:val>
            <c:numRef>
              <c:f>Sheet1!$B$2:$B$3</c:f>
              <c:numCache>
                <c:ptCount val="2"/>
                <c:pt idx="0">
                  <c:v>60</c:v>
                </c:pt>
                <c:pt idx="1">
                  <c:v>40</c:v>
                </c:pt>
              </c:numCache>
            </c:numRef>
          </c:val>
        </c:ser>
        <c:firstSliceAng val="0"/>
      </c:pie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Train-Test Split (70 / 30)</a:t>
            </a:r>
          </a:p>
        </c:rich>
      </c:tx>
      <c:layout/>
      <c:overlay val="0"/>
    </c:title>
    <c:autoTitleDeleted val="0"/>
    <c:plotArea>
      <c:layout/>
      <c:pie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dPt>
          <c:dPt>
            <c:idx val="1"/>
            <c:bubble3D val="0"/>
            <c:spPr>
              <a:solidFill>
                <a:srgbClr val="CBD5E1"/>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Training Set (70%)</c:v>
                </c:pt>
                <c:pt idx="1">
                  <c:v>Test Set (30%)</c:v>
                </c:pt>
              </c:strCache>
            </c:strRef>
          </c:cat>
          <c:val>
            <c:numRef>
              <c:f>Sheet1!$B$2:$B$3</c:f>
              <c:numCache>
                <c:ptCount val="2"/>
                <c:pt idx="0">
                  <c:v>70</c:v>
                </c:pt>
                <c:pt idx="1">
                  <c:v>30</c:v>
                </c:pt>
              </c:numCache>
            </c:numRef>
          </c:val>
        </c:ser>
        <c:firstSliceAng val="0"/>
      </c:pie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Precision@5 &amp; Coverage: All Models</a:t>
            </a:r>
          </a:p>
        </c:rich>
      </c:tx>
      <c:layout/>
      <c:overlay val="0"/>
    </c:title>
    <c:autoTitleDeleted val="0"/>
    <c:plotArea>
      <c:layout/>
      <c:barChart>
        <c:barDir val="col"/>
        <c:grouping val="clustered"/>
        <c:varyColors val="0"/>
        <c:ser>
          <c:idx val="0"/>
          <c:order val="0"/>
          <c:tx>
            <c:strRef>
              <c:f>Sheet1!$B$1</c:f>
              <c:strCache>
                <c:ptCount val="1"/>
                <c:pt idx="0">
                  <c:v>Popularity-Based</c:v>
                </c:pt>
              </c:strCache>
            </c:strRef>
          </c:tx>
          <c:spPr>
            <a:solidFill>
              <a:srgbClr val="028090"/>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Precision@5</c:v>
                  </c:pt>
                  <c:pt idx="1">
                    <c:v>Coverage %</c:v>
                  </c:pt>
                </c:lvl>
              </c:multiLvlStrCache>
            </c:multiLvlStrRef>
          </c:cat>
          <c:val>
            <c:numRef>
              <c:f>Sheet1!$B$2:$B$3</c:f>
              <c:numCache>
                <c:formatCode>General</c:formatCode>
                <c:ptCount val="2"/>
                <c:pt idx="0">
                  <c:v>0.059</c:v>
                </c:pt>
                <c:pt idx="1">
                  <c:v>25</c:v>
                </c:pt>
              </c:numCache>
            </c:numRef>
          </c:val>
        </c:ser>
        <c:ser>
          <c:idx val="1"/>
          <c:order val="1"/>
          <c:tx>
            <c:strRef>
              <c:f>Sheet1!$C$1</c:f>
              <c:strCache>
                <c:ptCount val="1"/>
                <c:pt idx="0">
                  <c:v>Content-Based</c:v>
                </c:pt>
              </c:strCache>
            </c:strRef>
          </c:tx>
          <c:spPr>
            <a:solidFill>
              <a:srgbClr val="00A896"/>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Precision@5</c:v>
                  </c:pt>
                  <c:pt idx="1">
                    <c:v>Coverage %</c:v>
                  </c:pt>
                </c:lvl>
              </c:multiLvlStrCache>
            </c:multiLvlStrRef>
          </c:cat>
          <c:val>
            <c:numRef>
              <c:f>Sheet1!$C$2:$C$3</c:f>
              <c:numCache>
                <c:formatCode>General</c:formatCode>
                <c:ptCount val="2"/>
                <c:pt idx="0">
                  <c:v>0.059</c:v>
                </c:pt>
                <c:pt idx="1">
                  <c:v>25</c:v>
                </c:pt>
              </c:numCache>
            </c:numRef>
          </c:val>
        </c:ser>
        <c:ser>
          <c:idx val="2"/>
          <c:order val="2"/>
          <c:tx>
            <c:strRef>
              <c:f>Sheet1!$D$1</c:f>
              <c:strCache>
                <c:ptCount val="1"/>
                <c:pt idx="0">
                  <c:v>Hybrid</c:v>
                </c:pt>
              </c:strCache>
            </c:strRef>
          </c:tx>
          <c:spPr>
            <a:solidFill>
              <a:srgbClr val="02C39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Precision@5</c:v>
                  </c:pt>
                  <c:pt idx="1">
                    <c:v>Coverage %</c:v>
                  </c:pt>
                </c:lvl>
              </c:multiLvlStrCache>
            </c:multiLvlStrRef>
          </c:cat>
          <c:val>
            <c:numRef>
              <c:f>Sheet1!$D$2:$D$3</c:f>
              <c:numCache>
                <c:formatCode>General</c:formatCode>
                <c:ptCount val="2"/>
                <c:pt idx="0">
                  <c:v>0.059</c:v>
                </c:pt>
                <c:pt idx="1">
                  <c:v>25</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sp>
      <p:sp>
        <p:nvSpPr>
          <p:cNvPr id="3" name="Shape 1"/>
          <p:cNvSpPr/>
          <p:nvPr/>
        </p:nvSpPr>
        <p:spPr>
          <a:xfrm>
            <a:off x="6858000" y="-457200"/>
            <a:ext cx="3200400" cy="3200400"/>
          </a:xfrm>
          <a:prstGeom prst="ellipse">
            <a:avLst/>
          </a:prstGeom>
          <a:solidFill>
            <a:srgbClr val="028090">
              <a:alpha val="15000"/>
            </a:srgbClr>
          </a:solidFill>
          <a:ln w="12700">
            <a:solidFill>
              <a:srgbClr val="028090">
                <a:alpha val="15000"/>
              </a:srgbClr>
            </a:solidFill>
            <a:prstDash val="solid"/>
          </a:ln>
        </p:spPr>
      </p:sp>
      <p:sp>
        <p:nvSpPr>
          <p:cNvPr id="4" name="Shape 2"/>
          <p:cNvSpPr/>
          <p:nvPr/>
        </p:nvSpPr>
        <p:spPr>
          <a:xfrm>
            <a:off x="7772400" y="2743200"/>
            <a:ext cx="2286000" cy="2286000"/>
          </a:xfrm>
          <a:prstGeom prst="ellipse">
            <a:avLst/>
          </a:prstGeom>
          <a:solidFill>
            <a:srgbClr val="02C39A">
              <a:alpha val="12000"/>
            </a:srgbClr>
          </a:solidFill>
          <a:ln w="12700">
            <a:solidFill>
              <a:srgbClr val="02C39A">
                <a:alpha val="12000"/>
              </a:srgbClr>
            </a:solidFill>
            <a:prstDash val="solid"/>
          </a:ln>
        </p:spPr>
      </p:sp>
      <p:sp>
        <p:nvSpPr>
          <p:cNvPr id="5" name="Shape 3"/>
          <p:cNvSpPr/>
          <p:nvPr/>
        </p:nvSpPr>
        <p:spPr>
          <a:xfrm>
            <a:off x="457200" y="457200"/>
            <a:ext cx="2560320" cy="365760"/>
          </a:xfrm>
          <a:prstGeom prst="roundRect">
            <a:avLst>
              <a:gd name="adj" fmla="val 12500"/>
            </a:avLst>
          </a:prstGeom>
          <a:solidFill>
            <a:srgbClr val="028090">
              <a:alpha val="70000"/>
            </a:srgbClr>
          </a:solidFill>
          <a:ln/>
        </p:spPr>
      </p:sp>
      <p:sp>
        <p:nvSpPr>
          <p:cNvPr id="6" name="Text 4"/>
          <p:cNvSpPr/>
          <p:nvPr/>
        </p:nvSpPr>
        <p:spPr>
          <a:xfrm>
            <a:off x="457200" y="457200"/>
            <a:ext cx="2560320" cy="365760"/>
          </a:xfrm>
          <a:prstGeom prst="rect">
            <a:avLst/>
          </a:prstGeom>
          <a:noFill/>
          <a:ln/>
        </p:spPr>
        <p:txBody>
          <a:bodyPr wrap="square" lIns="0" tIns="0" rIns="0" bIns="0" rtlCol="0" anchor="ctr"/>
          <a:lstStyle/>
          <a:p>
            <a:pPr algn="ctr" indent="0" marL="0">
              <a:buNone/>
            </a:pPr>
            <a:r>
              <a:rPr lang="en-US" sz="900" b="1" dirty="0">
                <a:solidFill>
                  <a:srgbClr val="02C39A"/>
                </a:solidFill>
              </a:rPr>
              <a:t>DATA SCIENCE PROJECT</a:t>
            </a:r>
            <a:endParaRPr lang="en-US" sz="900" dirty="0"/>
          </a:p>
        </p:txBody>
      </p:sp>
      <p:sp>
        <p:nvSpPr>
          <p:cNvPr id="7" name="Text 5"/>
          <p:cNvSpPr/>
          <p:nvPr/>
        </p:nvSpPr>
        <p:spPr>
          <a:xfrm>
            <a:off x="457200" y="960120"/>
            <a:ext cx="6858000" cy="1737360"/>
          </a:xfrm>
          <a:prstGeom prst="rect">
            <a:avLst/>
          </a:prstGeom>
          <a:noFill/>
          <a:ln/>
        </p:spPr>
        <p:txBody>
          <a:bodyPr wrap="square"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Course Recommendation</a:t>
            </a:r>
            <a:endParaRPr lang="en-US" sz="4600" dirty="0"/>
          </a:p>
          <a:p>
            <a:pPr algn="l" indent="0" marL="0">
              <a:buNone/>
            </a:pPr>
            <a:r>
              <a:rPr lang="en-US" sz="4600" b="1" dirty="0">
                <a:solidFill>
                  <a:srgbClr val="FFFFFF"/>
                </a:solidFill>
                <a:latin typeface="Calibri" pitchFamily="34" charset="0"/>
                <a:ea typeface="Calibri" pitchFamily="34" charset="-122"/>
                <a:cs typeface="Calibri" pitchFamily="34" charset="-120"/>
              </a:rPr>
              <a:t>System</a:t>
            </a:r>
            <a:endParaRPr lang="en-US" sz="4600" dirty="0"/>
          </a:p>
        </p:txBody>
      </p:sp>
      <p:sp>
        <p:nvSpPr>
          <p:cNvPr id="8" name="Text 6"/>
          <p:cNvSpPr/>
          <p:nvPr/>
        </p:nvSpPr>
        <p:spPr>
          <a:xfrm>
            <a:off x="457200" y="2697480"/>
            <a:ext cx="6858000" cy="457200"/>
          </a:xfrm>
          <a:prstGeom prst="rect">
            <a:avLst/>
          </a:prstGeom>
          <a:noFill/>
          <a:ln/>
        </p:spPr>
        <p:txBody>
          <a:bodyPr wrap="square" rtlCol="0" anchor="ctr"/>
          <a:lstStyle/>
          <a:p>
            <a:pPr algn="l" indent="0" marL="0">
              <a:buNone/>
            </a:pPr>
            <a:r>
              <a:rPr lang="en-US" sz="1600" i="1" dirty="0">
                <a:solidFill>
                  <a:srgbClr val="CBD5E1"/>
                </a:solidFill>
                <a:latin typeface="Calibri" pitchFamily="34" charset="0"/>
                <a:ea typeface="Calibri" pitchFamily="34" charset="-122"/>
                <a:cs typeface="Calibri" pitchFamily="34" charset="-120"/>
              </a:rPr>
              <a:t>AI-Powered Personalized Learning Recommendations</a:t>
            </a:r>
            <a:endParaRPr lang="en-US" sz="1600" dirty="0"/>
          </a:p>
        </p:txBody>
      </p:sp>
      <p:sp>
        <p:nvSpPr>
          <p:cNvPr id="9" name="Shape 7"/>
          <p:cNvSpPr/>
          <p:nvPr/>
        </p:nvSpPr>
        <p:spPr>
          <a:xfrm>
            <a:off x="457200" y="3337560"/>
            <a:ext cx="2194560" cy="411480"/>
          </a:xfrm>
          <a:prstGeom prst="roundRect">
            <a:avLst>
              <a:gd name="adj" fmla="val 15556"/>
            </a:avLst>
          </a:prstGeom>
          <a:solidFill>
            <a:srgbClr val="028090"/>
          </a:solidFill>
          <a:ln/>
        </p:spPr>
      </p:sp>
      <p:sp>
        <p:nvSpPr>
          <p:cNvPr id="10" name="Text 8"/>
          <p:cNvSpPr/>
          <p:nvPr/>
        </p:nvSpPr>
        <p:spPr>
          <a:xfrm>
            <a:off x="457200" y="3337560"/>
            <a:ext cx="2194560" cy="411480"/>
          </a:xfrm>
          <a:prstGeom prst="rect">
            <a:avLst/>
          </a:prstGeom>
          <a:noFill/>
          <a:ln/>
        </p:spPr>
        <p:txBody>
          <a:bodyPr wrap="square" lIns="0" tIns="0" rIns="0" bIns="0" rtlCol="0" anchor="ctr"/>
          <a:lstStyle/>
          <a:p>
            <a:pPr algn="ctr" indent="0" marL="0">
              <a:buNone/>
            </a:pPr>
            <a:r>
              <a:rPr lang="en-US" sz="1100" b="1" dirty="0">
                <a:solidFill>
                  <a:srgbClr val="FFFFFF"/>
                </a:solidFill>
              </a:rPr>
              <a:t>Popularity-Based</a:t>
            </a:r>
            <a:endParaRPr lang="en-US" sz="1100" dirty="0"/>
          </a:p>
        </p:txBody>
      </p:sp>
      <p:sp>
        <p:nvSpPr>
          <p:cNvPr id="11" name="Shape 9"/>
          <p:cNvSpPr/>
          <p:nvPr/>
        </p:nvSpPr>
        <p:spPr>
          <a:xfrm>
            <a:off x="2880360" y="3337560"/>
            <a:ext cx="2194560" cy="411480"/>
          </a:xfrm>
          <a:prstGeom prst="roundRect">
            <a:avLst>
              <a:gd name="adj" fmla="val 15556"/>
            </a:avLst>
          </a:prstGeom>
          <a:solidFill>
            <a:srgbClr val="00A896"/>
          </a:solidFill>
          <a:ln/>
        </p:spPr>
      </p:sp>
      <p:sp>
        <p:nvSpPr>
          <p:cNvPr id="12" name="Text 10"/>
          <p:cNvSpPr/>
          <p:nvPr/>
        </p:nvSpPr>
        <p:spPr>
          <a:xfrm>
            <a:off x="2880360" y="3337560"/>
            <a:ext cx="2194560" cy="411480"/>
          </a:xfrm>
          <a:prstGeom prst="rect">
            <a:avLst/>
          </a:prstGeom>
          <a:noFill/>
          <a:ln/>
        </p:spPr>
        <p:txBody>
          <a:bodyPr wrap="square" lIns="0" tIns="0" rIns="0" bIns="0" rtlCol="0" anchor="ctr"/>
          <a:lstStyle/>
          <a:p>
            <a:pPr algn="ctr" indent="0" marL="0">
              <a:buNone/>
            </a:pPr>
            <a:r>
              <a:rPr lang="en-US" sz="1100" b="1" dirty="0">
                <a:solidFill>
                  <a:srgbClr val="FFFFFF"/>
                </a:solidFill>
              </a:rPr>
              <a:t>Content-Based (TF-IDF)</a:t>
            </a:r>
            <a:endParaRPr lang="en-US" sz="1100" dirty="0"/>
          </a:p>
        </p:txBody>
      </p:sp>
      <p:sp>
        <p:nvSpPr>
          <p:cNvPr id="13" name="Shape 11"/>
          <p:cNvSpPr/>
          <p:nvPr/>
        </p:nvSpPr>
        <p:spPr>
          <a:xfrm>
            <a:off x="5303520" y="3337560"/>
            <a:ext cx="2194560" cy="411480"/>
          </a:xfrm>
          <a:prstGeom prst="roundRect">
            <a:avLst>
              <a:gd name="adj" fmla="val 15556"/>
            </a:avLst>
          </a:prstGeom>
          <a:solidFill>
            <a:srgbClr val="02C39A"/>
          </a:solidFill>
          <a:ln/>
        </p:spPr>
      </p:sp>
      <p:sp>
        <p:nvSpPr>
          <p:cNvPr id="14" name="Text 12"/>
          <p:cNvSpPr/>
          <p:nvPr/>
        </p:nvSpPr>
        <p:spPr>
          <a:xfrm>
            <a:off x="5303520" y="3337560"/>
            <a:ext cx="2194560" cy="411480"/>
          </a:xfrm>
          <a:prstGeom prst="rect">
            <a:avLst/>
          </a:prstGeom>
          <a:noFill/>
          <a:ln/>
        </p:spPr>
        <p:txBody>
          <a:bodyPr wrap="square" lIns="0" tIns="0" rIns="0" bIns="0" rtlCol="0" anchor="ctr"/>
          <a:lstStyle/>
          <a:p>
            <a:pPr algn="ctr" indent="0" marL="0">
              <a:buNone/>
            </a:pPr>
            <a:r>
              <a:rPr lang="en-US" sz="1100" b="1" dirty="0">
                <a:solidFill>
                  <a:srgbClr val="FFFFFF"/>
                </a:solidFill>
              </a:rPr>
              <a:t>Hybrid Model</a:t>
            </a:r>
            <a:endParaRPr lang="en-US" sz="1100" dirty="0"/>
          </a:p>
        </p:txBody>
      </p:sp>
      <p:sp>
        <p:nvSpPr>
          <p:cNvPr id="15" name="Shape 13"/>
          <p:cNvSpPr/>
          <p:nvPr/>
        </p:nvSpPr>
        <p:spPr>
          <a:xfrm>
            <a:off x="0" y="4754880"/>
            <a:ext cx="9144000" cy="388620"/>
          </a:xfrm>
          <a:prstGeom prst="rect">
            <a:avLst/>
          </a:prstGeom>
          <a:solidFill>
            <a:srgbClr val="028090">
              <a:alpha val="20000"/>
            </a:srgbClr>
          </a:solidFill>
          <a:ln/>
        </p:spPr>
      </p:sp>
      <p:sp>
        <p:nvSpPr>
          <p:cNvPr id="16" name="Text 14"/>
          <p:cNvSpPr/>
          <p:nvPr/>
        </p:nvSpPr>
        <p:spPr>
          <a:xfrm>
            <a:off x="274320" y="4754880"/>
            <a:ext cx="8595360" cy="388620"/>
          </a:xfrm>
          <a:prstGeom prst="rect">
            <a:avLst/>
          </a:prstGeom>
          <a:noFill/>
          <a:ln/>
        </p:spPr>
        <p:txBody>
          <a:bodyPr wrap="square" rtlCol="0" anchor="ctr"/>
          <a:lstStyle/>
          <a:p>
            <a:pPr algn="l" indent="0" marL="0">
              <a:buNone/>
            </a:pPr>
            <a:r>
              <a:rPr lang="en-US" sz="1100" i="1" dirty="0">
                <a:solidFill>
                  <a:srgbClr val="F0F9FF"/>
                </a:solidFill>
              </a:rPr>
              <a:t>Streamlit Deployed Application  |  AI Variant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600" b="1" dirty="0">
                <a:solidFill>
                  <a:srgbClr val="FFFFFF"/>
                </a:solidFill>
              </a:rPr>
              <a:t>TEAM MEMBERS</a:t>
            </a:r>
            <a:endParaRPr lang="en-US" sz="26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14400"/>
            <a:ext cx="269748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914400"/>
            <a:ext cx="109728" cy="685800"/>
          </a:xfrm>
          <a:prstGeom prst="rect">
            <a:avLst/>
          </a:prstGeom>
          <a:solidFill>
            <a:srgbClr val="028090"/>
          </a:solidFill>
          <a:ln/>
        </p:spPr>
      </p:sp>
      <p:sp>
        <p:nvSpPr>
          <p:cNvPr id="7" name="Shape 5"/>
          <p:cNvSpPr/>
          <p:nvPr/>
        </p:nvSpPr>
        <p:spPr>
          <a:xfrm>
            <a:off x="521208" y="1024128"/>
            <a:ext cx="457200" cy="457200"/>
          </a:xfrm>
          <a:prstGeom prst="ellipse">
            <a:avLst/>
          </a:prstGeom>
          <a:solidFill>
            <a:srgbClr val="028090"/>
          </a:solidFill>
          <a:ln/>
        </p:spPr>
      </p:sp>
      <p:sp>
        <p:nvSpPr>
          <p:cNvPr id="8" name="Text 6"/>
          <p:cNvSpPr/>
          <p:nvPr/>
        </p:nvSpPr>
        <p:spPr>
          <a:xfrm>
            <a:off x="521208" y="10241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1097280" y="1078992"/>
            <a:ext cx="1828800" cy="365760"/>
          </a:xfrm>
          <a:prstGeom prst="rect">
            <a:avLst/>
          </a:prstGeom>
          <a:noFill/>
          <a:ln/>
        </p:spPr>
        <p:txBody>
          <a:bodyPr wrap="square" rtlCol="0" anchor="ctr"/>
          <a:lstStyle/>
          <a:p>
            <a:pPr indent="0" marL="0">
              <a:buNone/>
            </a:pPr>
            <a:r>
              <a:rPr lang="en-US" sz="1200" b="1" dirty="0">
                <a:solidFill>
                  <a:srgbClr val="1E293B"/>
                </a:solidFill>
              </a:rPr>
              <a:t>Mekala Arunkumar</a:t>
            </a:r>
            <a:endParaRPr lang="en-US" sz="1200" dirty="0"/>
          </a:p>
        </p:txBody>
      </p:sp>
      <p:sp>
        <p:nvSpPr>
          <p:cNvPr id="10" name="Text 8"/>
          <p:cNvSpPr/>
          <p:nvPr/>
        </p:nvSpPr>
        <p:spPr>
          <a:xfrm>
            <a:off x="1097280" y="1371600"/>
            <a:ext cx="1828800" cy="182880"/>
          </a:xfrm>
          <a:prstGeom prst="rect">
            <a:avLst/>
          </a:prstGeom>
          <a:noFill/>
          <a:ln/>
        </p:spPr>
        <p:txBody>
          <a:bodyPr wrap="square" rtlCol="0" anchor="ctr"/>
          <a:lstStyle/>
          <a:p>
            <a:pPr indent="0" marL="0">
              <a:buNone/>
            </a:pPr>
            <a:r>
              <a:rPr lang="en-US" sz="900" i="1" dirty="0">
                <a:solidFill>
                  <a:srgbClr val="64748B"/>
                </a:solidFill>
              </a:rPr>
              <a:t>Data Science Intern — AI Variant</a:t>
            </a:r>
            <a:endParaRPr lang="en-US" sz="900" dirty="0"/>
          </a:p>
        </p:txBody>
      </p:sp>
      <p:sp>
        <p:nvSpPr>
          <p:cNvPr id="11" name="Shape 9"/>
          <p:cNvSpPr/>
          <p:nvPr/>
        </p:nvSpPr>
        <p:spPr>
          <a:xfrm>
            <a:off x="3108960" y="914400"/>
            <a:ext cx="269748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108960" y="914400"/>
            <a:ext cx="109728" cy="685800"/>
          </a:xfrm>
          <a:prstGeom prst="rect">
            <a:avLst/>
          </a:prstGeom>
          <a:solidFill>
            <a:srgbClr val="028090"/>
          </a:solidFill>
          <a:ln/>
        </p:spPr>
      </p:sp>
      <p:sp>
        <p:nvSpPr>
          <p:cNvPr id="13" name="Shape 11"/>
          <p:cNvSpPr/>
          <p:nvPr/>
        </p:nvSpPr>
        <p:spPr>
          <a:xfrm>
            <a:off x="3310128" y="1024128"/>
            <a:ext cx="457200" cy="457200"/>
          </a:xfrm>
          <a:prstGeom prst="ellipse">
            <a:avLst/>
          </a:prstGeom>
          <a:solidFill>
            <a:srgbClr val="028090"/>
          </a:solidFill>
          <a:ln/>
        </p:spPr>
      </p:sp>
      <p:sp>
        <p:nvSpPr>
          <p:cNvPr id="14" name="Text 12"/>
          <p:cNvSpPr/>
          <p:nvPr/>
        </p:nvSpPr>
        <p:spPr>
          <a:xfrm>
            <a:off x="3310128" y="10241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3"/>
          <p:cNvSpPr/>
          <p:nvPr/>
        </p:nvSpPr>
        <p:spPr>
          <a:xfrm>
            <a:off x="3886200" y="1078992"/>
            <a:ext cx="1828800" cy="365760"/>
          </a:xfrm>
          <a:prstGeom prst="rect">
            <a:avLst/>
          </a:prstGeom>
          <a:noFill/>
          <a:ln/>
        </p:spPr>
        <p:txBody>
          <a:bodyPr wrap="square" rtlCol="0" anchor="ctr"/>
          <a:lstStyle/>
          <a:p>
            <a:pPr indent="0" marL="0">
              <a:buNone/>
            </a:pPr>
            <a:r>
              <a:rPr lang="en-US" sz="1200" b="1" dirty="0">
                <a:solidFill>
                  <a:srgbClr val="1E293B"/>
                </a:solidFill>
              </a:rPr>
              <a:t>Pranay Bhagwan Doijad</a:t>
            </a:r>
            <a:endParaRPr lang="en-US" sz="1200" dirty="0"/>
          </a:p>
        </p:txBody>
      </p:sp>
      <p:sp>
        <p:nvSpPr>
          <p:cNvPr id="16" name="Text 14"/>
          <p:cNvSpPr/>
          <p:nvPr/>
        </p:nvSpPr>
        <p:spPr>
          <a:xfrm>
            <a:off x="3886200" y="1371600"/>
            <a:ext cx="1828800" cy="182880"/>
          </a:xfrm>
          <a:prstGeom prst="rect">
            <a:avLst/>
          </a:prstGeom>
          <a:noFill/>
          <a:ln/>
        </p:spPr>
        <p:txBody>
          <a:bodyPr wrap="square" rtlCol="0" anchor="ctr"/>
          <a:lstStyle/>
          <a:p>
            <a:pPr indent="0" marL="0">
              <a:buNone/>
            </a:pPr>
            <a:r>
              <a:rPr lang="en-US" sz="900" i="1" dirty="0">
                <a:solidFill>
                  <a:srgbClr val="64748B"/>
                </a:solidFill>
              </a:rPr>
              <a:t>Data Science Intern — AI Variant</a:t>
            </a:r>
            <a:endParaRPr lang="en-US" sz="900" dirty="0"/>
          </a:p>
        </p:txBody>
      </p:sp>
      <p:sp>
        <p:nvSpPr>
          <p:cNvPr id="17" name="Shape 15"/>
          <p:cNvSpPr/>
          <p:nvPr/>
        </p:nvSpPr>
        <p:spPr>
          <a:xfrm>
            <a:off x="5897880" y="914400"/>
            <a:ext cx="269748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5897880" y="914400"/>
            <a:ext cx="109728" cy="685800"/>
          </a:xfrm>
          <a:prstGeom prst="rect">
            <a:avLst/>
          </a:prstGeom>
          <a:solidFill>
            <a:srgbClr val="028090"/>
          </a:solidFill>
          <a:ln/>
        </p:spPr>
      </p:sp>
      <p:sp>
        <p:nvSpPr>
          <p:cNvPr id="19" name="Shape 17"/>
          <p:cNvSpPr/>
          <p:nvPr/>
        </p:nvSpPr>
        <p:spPr>
          <a:xfrm>
            <a:off x="6099048" y="1024128"/>
            <a:ext cx="457200" cy="457200"/>
          </a:xfrm>
          <a:prstGeom prst="ellipse">
            <a:avLst/>
          </a:prstGeom>
          <a:solidFill>
            <a:srgbClr val="028090"/>
          </a:solidFill>
          <a:ln/>
        </p:spPr>
      </p:sp>
      <p:sp>
        <p:nvSpPr>
          <p:cNvPr id="20" name="Text 18"/>
          <p:cNvSpPr/>
          <p:nvPr/>
        </p:nvSpPr>
        <p:spPr>
          <a:xfrm>
            <a:off x="6099048" y="10241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6675120" y="1078992"/>
            <a:ext cx="1828800" cy="365760"/>
          </a:xfrm>
          <a:prstGeom prst="rect">
            <a:avLst/>
          </a:prstGeom>
          <a:noFill/>
          <a:ln/>
        </p:spPr>
        <p:txBody>
          <a:bodyPr wrap="square" rtlCol="0" anchor="ctr"/>
          <a:lstStyle/>
          <a:p>
            <a:pPr indent="0" marL="0">
              <a:buNone/>
            </a:pPr>
            <a:r>
              <a:rPr lang="en-US" sz="1200" b="1" dirty="0">
                <a:solidFill>
                  <a:srgbClr val="1E293B"/>
                </a:solidFill>
              </a:rPr>
              <a:t>Anil Kumar Reddy Korivi</a:t>
            </a:r>
            <a:endParaRPr lang="en-US" sz="1200" dirty="0"/>
          </a:p>
        </p:txBody>
      </p:sp>
      <p:sp>
        <p:nvSpPr>
          <p:cNvPr id="22" name="Text 20"/>
          <p:cNvSpPr/>
          <p:nvPr/>
        </p:nvSpPr>
        <p:spPr>
          <a:xfrm>
            <a:off x="6675120" y="1371600"/>
            <a:ext cx="1828800" cy="182880"/>
          </a:xfrm>
          <a:prstGeom prst="rect">
            <a:avLst/>
          </a:prstGeom>
          <a:noFill/>
          <a:ln/>
        </p:spPr>
        <p:txBody>
          <a:bodyPr wrap="square" rtlCol="0" anchor="ctr"/>
          <a:lstStyle/>
          <a:p>
            <a:pPr indent="0" marL="0">
              <a:buNone/>
            </a:pPr>
            <a:r>
              <a:rPr lang="en-US" sz="900" i="1" dirty="0">
                <a:solidFill>
                  <a:srgbClr val="64748B"/>
                </a:solidFill>
              </a:rPr>
              <a:t>Data Science Intern — AI Variant</a:t>
            </a:r>
            <a:endParaRPr lang="en-US" sz="900" dirty="0"/>
          </a:p>
        </p:txBody>
      </p:sp>
      <p:sp>
        <p:nvSpPr>
          <p:cNvPr id="23" name="Shape 21"/>
          <p:cNvSpPr/>
          <p:nvPr/>
        </p:nvSpPr>
        <p:spPr>
          <a:xfrm>
            <a:off x="320040" y="1764792"/>
            <a:ext cx="269748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320040" y="1764792"/>
            <a:ext cx="109728" cy="685800"/>
          </a:xfrm>
          <a:prstGeom prst="rect">
            <a:avLst/>
          </a:prstGeom>
          <a:solidFill>
            <a:srgbClr val="028090"/>
          </a:solidFill>
          <a:ln/>
        </p:spPr>
      </p:sp>
      <p:sp>
        <p:nvSpPr>
          <p:cNvPr id="25" name="Shape 23"/>
          <p:cNvSpPr/>
          <p:nvPr/>
        </p:nvSpPr>
        <p:spPr>
          <a:xfrm>
            <a:off x="521208" y="1874520"/>
            <a:ext cx="457200" cy="457200"/>
          </a:xfrm>
          <a:prstGeom prst="ellipse">
            <a:avLst/>
          </a:prstGeom>
          <a:solidFill>
            <a:srgbClr val="028090"/>
          </a:solidFill>
          <a:ln/>
        </p:spPr>
      </p:sp>
      <p:sp>
        <p:nvSpPr>
          <p:cNvPr id="26" name="Text 24"/>
          <p:cNvSpPr/>
          <p:nvPr/>
        </p:nvSpPr>
        <p:spPr>
          <a:xfrm>
            <a:off x="52120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7" name="Text 25"/>
          <p:cNvSpPr/>
          <p:nvPr/>
        </p:nvSpPr>
        <p:spPr>
          <a:xfrm>
            <a:off x="1097280" y="1929384"/>
            <a:ext cx="1828800" cy="365760"/>
          </a:xfrm>
          <a:prstGeom prst="rect">
            <a:avLst/>
          </a:prstGeom>
          <a:noFill/>
          <a:ln/>
        </p:spPr>
        <p:txBody>
          <a:bodyPr wrap="square" rtlCol="0" anchor="ctr"/>
          <a:lstStyle/>
          <a:p>
            <a:pPr indent="0" marL="0">
              <a:buNone/>
            </a:pPr>
            <a:r>
              <a:rPr lang="en-US" sz="1200" b="1" dirty="0">
                <a:solidFill>
                  <a:srgbClr val="1E293B"/>
                </a:solidFill>
              </a:rPr>
              <a:t>Mrs. Dhivya Mohan</a:t>
            </a:r>
            <a:endParaRPr lang="en-US" sz="1200" dirty="0"/>
          </a:p>
        </p:txBody>
      </p:sp>
      <p:sp>
        <p:nvSpPr>
          <p:cNvPr id="28" name="Text 26"/>
          <p:cNvSpPr/>
          <p:nvPr/>
        </p:nvSpPr>
        <p:spPr>
          <a:xfrm>
            <a:off x="1097280" y="2221992"/>
            <a:ext cx="1828800" cy="182880"/>
          </a:xfrm>
          <a:prstGeom prst="rect">
            <a:avLst/>
          </a:prstGeom>
          <a:noFill/>
          <a:ln/>
        </p:spPr>
        <p:txBody>
          <a:bodyPr wrap="square" rtlCol="0" anchor="ctr"/>
          <a:lstStyle/>
          <a:p>
            <a:pPr indent="0" marL="0">
              <a:buNone/>
            </a:pPr>
            <a:r>
              <a:rPr lang="en-US" sz="900" i="1" dirty="0">
                <a:solidFill>
                  <a:srgbClr val="64748B"/>
                </a:solidFill>
              </a:rPr>
              <a:t>Data Science Intern — AI Variant</a:t>
            </a:r>
            <a:endParaRPr lang="en-US" sz="900" dirty="0"/>
          </a:p>
        </p:txBody>
      </p:sp>
      <p:sp>
        <p:nvSpPr>
          <p:cNvPr id="29" name="Shape 27"/>
          <p:cNvSpPr/>
          <p:nvPr/>
        </p:nvSpPr>
        <p:spPr>
          <a:xfrm>
            <a:off x="3108960" y="1764792"/>
            <a:ext cx="269748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3108960" y="1764792"/>
            <a:ext cx="109728" cy="685800"/>
          </a:xfrm>
          <a:prstGeom prst="rect">
            <a:avLst/>
          </a:prstGeom>
          <a:solidFill>
            <a:srgbClr val="028090"/>
          </a:solidFill>
          <a:ln/>
        </p:spPr>
      </p:sp>
      <p:sp>
        <p:nvSpPr>
          <p:cNvPr id="31" name="Shape 29"/>
          <p:cNvSpPr/>
          <p:nvPr/>
        </p:nvSpPr>
        <p:spPr>
          <a:xfrm>
            <a:off x="3310128" y="1874520"/>
            <a:ext cx="457200" cy="457200"/>
          </a:xfrm>
          <a:prstGeom prst="ellipse">
            <a:avLst/>
          </a:prstGeom>
          <a:solidFill>
            <a:srgbClr val="028090"/>
          </a:solidFill>
          <a:ln/>
        </p:spPr>
      </p:sp>
      <p:sp>
        <p:nvSpPr>
          <p:cNvPr id="32" name="Text 30"/>
          <p:cNvSpPr/>
          <p:nvPr/>
        </p:nvSpPr>
        <p:spPr>
          <a:xfrm>
            <a:off x="331012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3" name="Text 31"/>
          <p:cNvSpPr/>
          <p:nvPr/>
        </p:nvSpPr>
        <p:spPr>
          <a:xfrm>
            <a:off x="3886200" y="1929384"/>
            <a:ext cx="1828800" cy="365760"/>
          </a:xfrm>
          <a:prstGeom prst="rect">
            <a:avLst/>
          </a:prstGeom>
          <a:noFill/>
          <a:ln/>
        </p:spPr>
        <p:txBody>
          <a:bodyPr wrap="square" rtlCol="0" anchor="ctr"/>
          <a:lstStyle/>
          <a:p>
            <a:pPr indent="0" marL="0">
              <a:buNone/>
            </a:pPr>
            <a:r>
              <a:rPr lang="en-US" sz="1200" b="1" dirty="0">
                <a:solidFill>
                  <a:srgbClr val="1E293B"/>
                </a:solidFill>
              </a:rPr>
              <a:t>Devarakonda Vijay</a:t>
            </a:r>
            <a:endParaRPr lang="en-US" sz="1200" dirty="0"/>
          </a:p>
        </p:txBody>
      </p:sp>
      <p:sp>
        <p:nvSpPr>
          <p:cNvPr id="34" name="Text 32"/>
          <p:cNvSpPr/>
          <p:nvPr/>
        </p:nvSpPr>
        <p:spPr>
          <a:xfrm>
            <a:off x="3886200" y="2221992"/>
            <a:ext cx="1828800" cy="182880"/>
          </a:xfrm>
          <a:prstGeom prst="rect">
            <a:avLst/>
          </a:prstGeom>
          <a:noFill/>
          <a:ln/>
        </p:spPr>
        <p:txBody>
          <a:bodyPr wrap="square" rtlCol="0" anchor="ctr"/>
          <a:lstStyle/>
          <a:p>
            <a:pPr indent="0" marL="0">
              <a:buNone/>
            </a:pPr>
            <a:r>
              <a:rPr lang="en-US" sz="900" i="1" dirty="0">
                <a:solidFill>
                  <a:srgbClr val="64748B"/>
                </a:solidFill>
              </a:rPr>
              <a:t>Data Science Intern — AI Variant</a:t>
            </a:r>
            <a:endParaRPr lang="en-US" sz="900" dirty="0"/>
          </a:p>
        </p:txBody>
      </p:sp>
      <p:sp>
        <p:nvSpPr>
          <p:cNvPr id="35" name="Shape 33"/>
          <p:cNvSpPr/>
          <p:nvPr/>
        </p:nvSpPr>
        <p:spPr>
          <a:xfrm>
            <a:off x="5897880" y="1764792"/>
            <a:ext cx="269748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6" name="Shape 34"/>
          <p:cNvSpPr/>
          <p:nvPr/>
        </p:nvSpPr>
        <p:spPr>
          <a:xfrm>
            <a:off x="5897880" y="1764792"/>
            <a:ext cx="109728" cy="685800"/>
          </a:xfrm>
          <a:prstGeom prst="rect">
            <a:avLst/>
          </a:prstGeom>
          <a:solidFill>
            <a:srgbClr val="028090"/>
          </a:solidFill>
          <a:ln/>
        </p:spPr>
      </p:sp>
      <p:sp>
        <p:nvSpPr>
          <p:cNvPr id="37" name="Shape 35"/>
          <p:cNvSpPr/>
          <p:nvPr/>
        </p:nvSpPr>
        <p:spPr>
          <a:xfrm>
            <a:off x="6099048" y="1874520"/>
            <a:ext cx="457200" cy="457200"/>
          </a:xfrm>
          <a:prstGeom prst="ellipse">
            <a:avLst/>
          </a:prstGeom>
          <a:solidFill>
            <a:srgbClr val="028090"/>
          </a:solidFill>
          <a:ln/>
        </p:spPr>
      </p:sp>
      <p:sp>
        <p:nvSpPr>
          <p:cNvPr id="38" name="Text 36"/>
          <p:cNvSpPr/>
          <p:nvPr/>
        </p:nvSpPr>
        <p:spPr>
          <a:xfrm>
            <a:off x="609904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9" name="Text 37"/>
          <p:cNvSpPr/>
          <p:nvPr/>
        </p:nvSpPr>
        <p:spPr>
          <a:xfrm>
            <a:off x="6675120" y="1929384"/>
            <a:ext cx="1828800" cy="365760"/>
          </a:xfrm>
          <a:prstGeom prst="rect">
            <a:avLst/>
          </a:prstGeom>
          <a:noFill/>
          <a:ln/>
        </p:spPr>
        <p:txBody>
          <a:bodyPr wrap="square" rtlCol="0" anchor="ctr"/>
          <a:lstStyle/>
          <a:p>
            <a:pPr indent="0" marL="0">
              <a:buNone/>
            </a:pPr>
            <a:r>
              <a:rPr lang="en-US" sz="1200" b="1" dirty="0">
                <a:solidFill>
                  <a:srgbClr val="1E293B"/>
                </a:solidFill>
              </a:rPr>
              <a:t>Neha P</a:t>
            </a:r>
            <a:endParaRPr lang="en-US" sz="1200" dirty="0"/>
          </a:p>
        </p:txBody>
      </p:sp>
      <p:sp>
        <p:nvSpPr>
          <p:cNvPr id="40" name="Text 38"/>
          <p:cNvSpPr/>
          <p:nvPr/>
        </p:nvSpPr>
        <p:spPr>
          <a:xfrm>
            <a:off x="6675120" y="2221992"/>
            <a:ext cx="1828800" cy="182880"/>
          </a:xfrm>
          <a:prstGeom prst="rect">
            <a:avLst/>
          </a:prstGeom>
          <a:noFill/>
          <a:ln/>
        </p:spPr>
        <p:txBody>
          <a:bodyPr wrap="square" rtlCol="0" anchor="ctr"/>
          <a:lstStyle/>
          <a:p>
            <a:pPr indent="0" marL="0">
              <a:buNone/>
            </a:pPr>
            <a:r>
              <a:rPr lang="en-US" sz="900" i="1" dirty="0">
                <a:solidFill>
                  <a:srgbClr val="64748B"/>
                </a:solidFill>
              </a:rPr>
              <a:t>Data Science Intern — AI Variant</a:t>
            </a:r>
            <a:endParaRPr lang="en-US" sz="900" dirty="0"/>
          </a:p>
        </p:txBody>
      </p:sp>
      <p:sp>
        <p:nvSpPr>
          <p:cNvPr id="41" name="Shape 39"/>
          <p:cNvSpPr/>
          <p:nvPr/>
        </p:nvSpPr>
        <p:spPr>
          <a:xfrm>
            <a:off x="320040" y="2615184"/>
            <a:ext cx="269748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2" name="Shape 40"/>
          <p:cNvSpPr/>
          <p:nvPr/>
        </p:nvSpPr>
        <p:spPr>
          <a:xfrm>
            <a:off x="320040" y="2615184"/>
            <a:ext cx="109728" cy="685800"/>
          </a:xfrm>
          <a:prstGeom prst="rect">
            <a:avLst/>
          </a:prstGeom>
          <a:solidFill>
            <a:srgbClr val="028090"/>
          </a:solidFill>
          <a:ln/>
        </p:spPr>
      </p:sp>
      <p:sp>
        <p:nvSpPr>
          <p:cNvPr id="43" name="Shape 41"/>
          <p:cNvSpPr/>
          <p:nvPr/>
        </p:nvSpPr>
        <p:spPr>
          <a:xfrm>
            <a:off x="521208" y="2724912"/>
            <a:ext cx="457200" cy="457200"/>
          </a:xfrm>
          <a:prstGeom prst="ellipse">
            <a:avLst/>
          </a:prstGeom>
          <a:solidFill>
            <a:srgbClr val="028090"/>
          </a:solidFill>
          <a:ln/>
        </p:spPr>
      </p:sp>
      <p:sp>
        <p:nvSpPr>
          <p:cNvPr id="44" name="Text 42"/>
          <p:cNvSpPr/>
          <p:nvPr/>
        </p:nvSpPr>
        <p:spPr>
          <a:xfrm>
            <a:off x="521208" y="27249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45" name="Text 43"/>
          <p:cNvSpPr/>
          <p:nvPr/>
        </p:nvSpPr>
        <p:spPr>
          <a:xfrm>
            <a:off x="1097280" y="2779776"/>
            <a:ext cx="1828800" cy="365760"/>
          </a:xfrm>
          <a:prstGeom prst="rect">
            <a:avLst/>
          </a:prstGeom>
          <a:noFill/>
          <a:ln/>
        </p:spPr>
        <p:txBody>
          <a:bodyPr wrap="square" rtlCol="0" anchor="ctr"/>
          <a:lstStyle/>
          <a:p>
            <a:pPr indent="0" marL="0">
              <a:buNone/>
            </a:pPr>
            <a:r>
              <a:rPr lang="en-US" sz="1200" b="1" dirty="0">
                <a:solidFill>
                  <a:srgbClr val="1E293B"/>
                </a:solidFill>
              </a:rPr>
              <a:t>Shriharsh Salokhe</a:t>
            </a:r>
            <a:endParaRPr lang="en-US" sz="1200" dirty="0"/>
          </a:p>
        </p:txBody>
      </p:sp>
      <p:sp>
        <p:nvSpPr>
          <p:cNvPr id="46" name="Text 44"/>
          <p:cNvSpPr/>
          <p:nvPr/>
        </p:nvSpPr>
        <p:spPr>
          <a:xfrm>
            <a:off x="1097280" y="3072384"/>
            <a:ext cx="1828800" cy="182880"/>
          </a:xfrm>
          <a:prstGeom prst="rect">
            <a:avLst/>
          </a:prstGeom>
          <a:noFill/>
          <a:ln/>
        </p:spPr>
        <p:txBody>
          <a:bodyPr wrap="square" rtlCol="0" anchor="ctr"/>
          <a:lstStyle/>
          <a:p>
            <a:pPr indent="0" marL="0">
              <a:buNone/>
            </a:pPr>
            <a:r>
              <a:rPr lang="en-US" sz="900" i="1" dirty="0">
                <a:solidFill>
                  <a:srgbClr val="64748B"/>
                </a:solidFill>
              </a:rPr>
              <a:t>Data Science Intern — AI Variant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600" b="1" dirty="0">
                <a:solidFill>
                  <a:srgbClr val="FFFFFF"/>
                </a:solidFill>
              </a:rPr>
              <a:t>OBJECTIVE</a:t>
            </a:r>
            <a:endParaRPr lang="en-US" sz="26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14400"/>
            <a:ext cx="8503920" cy="1691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914400"/>
            <a:ext cx="8503920" cy="438912"/>
          </a:xfrm>
          <a:prstGeom prst="rect">
            <a:avLst/>
          </a:prstGeom>
          <a:solidFill>
            <a:srgbClr val="0A1628"/>
          </a:solidFill>
          <a:ln/>
        </p:spPr>
      </p:sp>
      <p:sp>
        <p:nvSpPr>
          <p:cNvPr id="7" name="Text 5"/>
          <p:cNvSpPr/>
          <p:nvPr/>
        </p:nvSpPr>
        <p:spPr>
          <a:xfrm>
            <a:off x="320040" y="914400"/>
            <a:ext cx="8503920" cy="438912"/>
          </a:xfrm>
          <a:prstGeom prst="rect">
            <a:avLst/>
          </a:prstGeom>
          <a:noFill/>
          <a:ln/>
        </p:spPr>
        <p:txBody>
          <a:bodyPr wrap="square" lIns="0" tIns="0" rIns="0" bIns="0" rtlCol="0" anchor="ctr"/>
          <a:lstStyle/>
          <a:p>
            <a:pPr algn="ctr" indent="0" marL="0">
              <a:buNone/>
            </a:pPr>
            <a:r>
              <a:rPr lang="en-US" sz="1300" b="1" dirty="0">
                <a:solidFill>
                  <a:srgbClr val="02C39A"/>
                </a:solidFill>
              </a:rPr>
              <a:t>📋  PROBLEM STATEMENT</a:t>
            </a:r>
            <a:endParaRPr lang="en-US" sz="1300" dirty="0"/>
          </a:p>
        </p:txBody>
      </p:sp>
      <p:sp>
        <p:nvSpPr>
          <p:cNvPr id="8" name="Text 6"/>
          <p:cNvSpPr/>
          <p:nvPr/>
        </p:nvSpPr>
        <p:spPr>
          <a:xfrm>
            <a:off x="457200" y="1417320"/>
            <a:ext cx="8229600" cy="1097280"/>
          </a:xfrm>
          <a:prstGeom prst="rect">
            <a:avLst/>
          </a:prstGeom>
          <a:noFill/>
          <a:ln/>
        </p:spPr>
        <p:txBody>
          <a:bodyPr wrap="square" rtlCol="0" anchor="ctr"/>
          <a:lstStyle/>
          <a:p>
            <a:pPr indent="0" marL="0">
              <a:buNone/>
            </a:pPr>
            <a:r>
              <a:rPr lang="en-US" sz="1200" dirty="0">
                <a:solidFill>
                  <a:srgbClr val="1E293B"/>
                </a:solidFill>
              </a:rPr>
              <a:t>The goal of this dataset is to build an online course recommendation system that suggests relevant courses to learners based on their interests, past enrollments, and engagement levels. The dataset includes course ratings, instructor information, previous learning history, study material availability, and certification offerings, making it suitable for recommendation models using collaborative filtering, content-based filtering, or hybrid approaches.</a:t>
            </a:r>
            <a:endParaRPr lang="en-US" sz="1200" dirty="0"/>
          </a:p>
        </p:txBody>
      </p:sp>
      <p:sp>
        <p:nvSpPr>
          <p:cNvPr id="9" name="Shape 7"/>
          <p:cNvSpPr/>
          <p:nvPr/>
        </p:nvSpPr>
        <p:spPr>
          <a:xfrm>
            <a:off x="320040" y="2743200"/>
            <a:ext cx="4023360" cy="2057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320040" y="2743200"/>
            <a:ext cx="4023360" cy="411480"/>
          </a:xfrm>
          <a:prstGeom prst="rect">
            <a:avLst/>
          </a:prstGeom>
          <a:solidFill>
            <a:srgbClr val="028090"/>
          </a:solidFill>
          <a:ln/>
        </p:spPr>
      </p:sp>
      <p:sp>
        <p:nvSpPr>
          <p:cNvPr id="11" name="Text 9"/>
          <p:cNvSpPr/>
          <p:nvPr/>
        </p:nvSpPr>
        <p:spPr>
          <a:xfrm>
            <a:off x="320040" y="2743200"/>
            <a:ext cx="4023360" cy="411480"/>
          </a:xfrm>
          <a:prstGeom prst="rect">
            <a:avLst/>
          </a:prstGeom>
          <a:noFill/>
          <a:ln/>
        </p:spPr>
        <p:txBody>
          <a:bodyPr wrap="square" lIns="0" tIns="0" rIns="0" bIns="0" rtlCol="0" anchor="ctr"/>
          <a:lstStyle/>
          <a:p>
            <a:pPr algn="ctr" indent="0" marL="0">
              <a:buNone/>
            </a:pPr>
            <a:r>
              <a:rPr lang="en-US" sz="1200" b="1" dirty="0">
                <a:solidFill>
                  <a:srgbClr val="FFFFFF"/>
                </a:solidFill>
              </a:rPr>
              <a:t>🎯  PROJECT OBJECTIVE</a:t>
            </a:r>
            <a:endParaRPr lang="en-US" sz="1200" dirty="0"/>
          </a:p>
        </p:txBody>
      </p:sp>
      <p:sp>
        <p:nvSpPr>
          <p:cNvPr id="12" name="Text 10"/>
          <p:cNvSpPr/>
          <p:nvPr/>
        </p:nvSpPr>
        <p:spPr>
          <a:xfrm>
            <a:off x="457200" y="3218688"/>
            <a:ext cx="3749040" cy="1463040"/>
          </a:xfrm>
          <a:prstGeom prst="rect">
            <a:avLst/>
          </a:prstGeom>
          <a:noFill/>
          <a:ln/>
        </p:spPr>
        <p:txBody>
          <a:bodyPr wrap="square" rtlCol="0" anchor="ctr"/>
          <a:lstStyle/>
          <a:p>
            <a:pPr indent="0" marL="0">
              <a:spcAft>
                <a:spcPts val="800"/>
              </a:spcAft>
              <a:buNone/>
            </a:pPr>
            <a:r>
              <a:rPr lang="en-US" sz="1100" dirty="0">
                <a:solidFill>
                  <a:srgbClr val="1E293B"/>
                </a:solidFill>
              </a:rPr>
              <a:t>• Build and compare 3 recommendation engines on real learner data</a:t>
            </a:r>
            <a:endParaRPr lang="en-US" sz="1100" dirty="0"/>
          </a:p>
          <a:p>
            <a:pPr indent="0" marL="0">
              <a:spcAft>
                <a:spcPts val="800"/>
              </a:spcAft>
              <a:buNone/>
            </a:pPr>
            <a:r>
              <a:rPr lang="en-US" sz="1100" dirty="0">
                <a:solidFill>
                  <a:srgbClr val="1E293B"/>
                </a:solidFill>
              </a:rPr>
              <a:t>• Evaluate each model using Precision@K, NDCG, and Coverage</a:t>
            </a:r>
            <a:endParaRPr lang="en-US" sz="1100" dirty="0"/>
          </a:p>
          <a:p>
            <a:pPr indent="0" marL="0">
              <a:spcAft>
                <a:spcPts val="800"/>
              </a:spcAft>
              <a:buNone/>
            </a:pPr>
            <a:r>
              <a:rPr lang="en-US" sz="1100" dirty="0">
                <a:solidFill>
                  <a:srgbClr val="1E293B"/>
                </a:solidFill>
              </a:rPr>
              <a:t>• Deploy the best model as a live Streamlit web application</a:t>
            </a:r>
            <a:endParaRPr lang="en-US" sz="1100" dirty="0"/>
          </a:p>
        </p:txBody>
      </p:sp>
      <p:sp>
        <p:nvSpPr>
          <p:cNvPr id="13" name="Shape 11"/>
          <p:cNvSpPr/>
          <p:nvPr/>
        </p:nvSpPr>
        <p:spPr>
          <a:xfrm>
            <a:off x="4800600" y="2743200"/>
            <a:ext cx="4023360" cy="2057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4800600" y="2743200"/>
            <a:ext cx="4023360" cy="411480"/>
          </a:xfrm>
          <a:prstGeom prst="rect">
            <a:avLst/>
          </a:prstGeom>
          <a:solidFill>
            <a:srgbClr val="10B981"/>
          </a:solidFill>
          <a:ln/>
        </p:spPr>
      </p:sp>
      <p:sp>
        <p:nvSpPr>
          <p:cNvPr id="15" name="Text 13"/>
          <p:cNvSpPr/>
          <p:nvPr/>
        </p:nvSpPr>
        <p:spPr>
          <a:xfrm>
            <a:off x="4800600" y="2743200"/>
            <a:ext cx="4023360" cy="411480"/>
          </a:xfrm>
          <a:prstGeom prst="rect">
            <a:avLst/>
          </a:prstGeom>
          <a:noFill/>
          <a:ln/>
        </p:spPr>
        <p:txBody>
          <a:bodyPr wrap="square" lIns="0" tIns="0" rIns="0" bIns="0" rtlCol="0" anchor="ctr"/>
          <a:lstStyle/>
          <a:p>
            <a:pPr algn="ctr" indent="0" marL="0">
              <a:buNone/>
            </a:pPr>
            <a:r>
              <a:rPr lang="en-US" sz="1200" b="1" dirty="0">
                <a:solidFill>
                  <a:srgbClr val="FFFFFF"/>
                </a:solidFill>
              </a:rPr>
              <a:t>✅  OUR SOLUTION</a:t>
            </a:r>
            <a:endParaRPr lang="en-US" sz="1200" dirty="0"/>
          </a:p>
        </p:txBody>
      </p:sp>
      <p:sp>
        <p:nvSpPr>
          <p:cNvPr id="16" name="Text 14"/>
          <p:cNvSpPr/>
          <p:nvPr/>
        </p:nvSpPr>
        <p:spPr>
          <a:xfrm>
            <a:off x="4937760" y="3218688"/>
            <a:ext cx="3749040" cy="1463040"/>
          </a:xfrm>
          <a:prstGeom prst="rect">
            <a:avLst/>
          </a:prstGeom>
          <a:noFill/>
          <a:ln/>
        </p:spPr>
        <p:txBody>
          <a:bodyPr wrap="square" rtlCol="0" anchor="ctr"/>
          <a:lstStyle/>
          <a:p>
            <a:pPr indent="0" marL="0">
              <a:spcAft>
                <a:spcPts val="800"/>
              </a:spcAft>
              <a:buNone/>
            </a:pPr>
            <a:r>
              <a:rPr lang="en-US" sz="1100" dirty="0">
                <a:solidFill>
                  <a:srgbClr val="1E293B"/>
                </a:solidFill>
              </a:rPr>
              <a:t>• Popularity-Based — enrollment signal for cold-start users</a:t>
            </a:r>
            <a:endParaRPr lang="en-US" sz="1100" dirty="0"/>
          </a:p>
          <a:p>
            <a:pPr indent="0" marL="0">
              <a:spcAft>
                <a:spcPts val="800"/>
              </a:spcAft>
              <a:buNone/>
            </a:pPr>
            <a:r>
              <a:rPr lang="en-US" sz="1100" dirty="0">
                <a:solidFill>
                  <a:srgbClr val="1E293B"/>
                </a:solidFill>
              </a:rPr>
              <a:t>• Content-Based — TF-IDF + Cosine Similarity on course metadata</a:t>
            </a:r>
            <a:endParaRPr lang="en-US" sz="1100" dirty="0"/>
          </a:p>
          <a:p>
            <a:pPr indent="0" marL="0">
              <a:spcAft>
                <a:spcPts val="800"/>
              </a:spcAft>
              <a:buNone/>
            </a:pPr>
            <a:r>
              <a:rPr lang="en-US" sz="1100" dirty="0">
                <a:solidFill>
                  <a:srgbClr val="1E293B"/>
                </a:solidFill>
              </a:rPr>
              <a:t>• Hybrid (60% Pop + 40% CB) — selected as the final deployed model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600" b="1" dirty="0">
                <a:solidFill>
                  <a:srgbClr val="FFFFFF"/>
                </a:solidFill>
              </a:rPr>
              <a:t>DATASET DETAILS</a:t>
            </a:r>
            <a:endParaRPr lang="en-US" sz="26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6" name="Text 4"/>
          <p:cNvSpPr/>
          <p:nvPr/>
        </p:nvSpPr>
        <p:spPr>
          <a:xfrm>
            <a:off x="32004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100,000</a:t>
            </a:r>
            <a:endParaRPr lang="en-US" sz="2800" dirty="0"/>
          </a:p>
        </p:txBody>
      </p:sp>
      <p:sp>
        <p:nvSpPr>
          <p:cNvPr id="7" name="Text 5"/>
          <p:cNvSpPr/>
          <p:nvPr/>
        </p:nvSpPr>
        <p:spPr>
          <a:xfrm>
            <a:off x="320040" y="1554480"/>
            <a:ext cx="1965960" cy="320040"/>
          </a:xfrm>
          <a:prstGeom prst="rect">
            <a:avLst/>
          </a:prstGeom>
          <a:noFill/>
          <a:ln/>
        </p:spPr>
        <p:txBody>
          <a:bodyPr wrap="square" lIns="0" tIns="0" rIns="0" bIns="0" rtlCol="0" anchor="t"/>
          <a:lstStyle/>
          <a:p>
            <a:pPr algn="ctr" indent="0" marL="0">
              <a:buNone/>
            </a:pPr>
            <a:r>
              <a:rPr lang="en-US" sz="1000" dirty="0">
                <a:solidFill>
                  <a:srgbClr val="F0F9FF"/>
                </a:solidFill>
              </a:rPr>
              <a:t>Total Enrollments</a:t>
            </a:r>
            <a:endParaRPr lang="en-US" sz="1000" dirty="0"/>
          </a:p>
        </p:txBody>
      </p:sp>
      <p:sp>
        <p:nvSpPr>
          <p:cNvPr id="8" name="Shape 6"/>
          <p:cNvSpPr/>
          <p:nvPr/>
        </p:nvSpPr>
        <p:spPr>
          <a:xfrm>
            <a:off x="246888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9" name="Text 7"/>
          <p:cNvSpPr/>
          <p:nvPr/>
        </p:nvSpPr>
        <p:spPr>
          <a:xfrm>
            <a:off x="246888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43,242</a:t>
            </a:r>
            <a:endParaRPr lang="en-US" sz="2800" dirty="0"/>
          </a:p>
        </p:txBody>
      </p:sp>
      <p:sp>
        <p:nvSpPr>
          <p:cNvPr id="10" name="Text 8"/>
          <p:cNvSpPr/>
          <p:nvPr/>
        </p:nvSpPr>
        <p:spPr>
          <a:xfrm>
            <a:off x="2468880" y="1554480"/>
            <a:ext cx="1965960" cy="320040"/>
          </a:xfrm>
          <a:prstGeom prst="rect">
            <a:avLst/>
          </a:prstGeom>
          <a:noFill/>
          <a:ln/>
        </p:spPr>
        <p:txBody>
          <a:bodyPr wrap="square" lIns="0" tIns="0" rIns="0" bIns="0" rtlCol="0" anchor="t"/>
          <a:lstStyle/>
          <a:p>
            <a:pPr algn="ctr" indent="0" marL="0">
              <a:buNone/>
            </a:pPr>
            <a:r>
              <a:rPr lang="en-US" sz="1000" dirty="0">
                <a:solidFill>
                  <a:srgbClr val="F0F9FF"/>
                </a:solidFill>
              </a:rPr>
              <a:t>Unique Users</a:t>
            </a:r>
            <a:endParaRPr lang="en-US" sz="1000" dirty="0"/>
          </a:p>
        </p:txBody>
      </p:sp>
      <p:sp>
        <p:nvSpPr>
          <p:cNvPr id="11" name="Shape 9"/>
          <p:cNvSpPr/>
          <p:nvPr/>
        </p:nvSpPr>
        <p:spPr>
          <a:xfrm>
            <a:off x="461772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12" name="Text 10"/>
          <p:cNvSpPr/>
          <p:nvPr/>
        </p:nvSpPr>
        <p:spPr>
          <a:xfrm>
            <a:off x="461772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20</a:t>
            </a:r>
            <a:endParaRPr lang="en-US" sz="2800" dirty="0"/>
          </a:p>
        </p:txBody>
      </p:sp>
      <p:sp>
        <p:nvSpPr>
          <p:cNvPr id="13" name="Text 11"/>
          <p:cNvSpPr/>
          <p:nvPr/>
        </p:nvSpPr>
        <p:spPr>
          <a:xfrm>
            <a:off x="4617720" y="1554480"/>
            <a:ext cx="1965960" cy="320040"/>
          </a:xfrm>
          <a:prstGeom prst="rect">
            <a:avLst/>
          </a:prstGeom>
          <a:noFill/>
          <a:ln/>
        </p:spPr>
        <p:txBody>
          <a:bodyPr wrap="square" lIns="0" tIns="0" rIns="0" bIns="0" rtlCol="0" anchor="t"/>
          <a:lstStyle/>
          <a:p>
            <a:pPr algn="ctr" indent="0" marL="0">
              <a:buNone/>
            </a:pPr>
            <a:r>
              <a:rPr lang="en-US" sz="1000" dirty="0">
                <a:solidFill>
                  <a:srgbClr val="F0F9FF"/>
                </a:solidFill>
              </a:rPr>
              <a:t>Unique Courses</a:t>
            </a:r>
            <a:endParaRPr lang="en-US" sz="1000" dirty="0"/>
          </a:p>
        </p:txBody>
      </p:sp>
      <p:sp>
        <p:nvSpPr>
          <p:cNvPr id="14" name="Shape 12"/>
          <p:cNvSpPr/>
          <p:nvPr/>
        </p:nvSpPr>
        <p:spPr>
          <a:xfrm>
            <a:off x="676656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15" name="Text 13"/>
          <p:cNvSpPr/>
          <p:nvPr/>
        </p:nvSpPr>
        <p:spPr>
          <a:xfrm>
            <a:off x="676656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14</a:t>
            </a:r>
            <a:endParaRPr lang="en-US" sz="2800" dirty="0"/>
          </a:p>
        </p:txBody>
      </p:sp>
      <p:sp>
        <p:nvSpPr>
          <p:cNvPr id="16" name="Text 14"/>
          <p:cNvSpPr/>
          <p:nvPr/>
        </p:nvSpPr>
        <p:spPr>
          <a:xfrm>
            <a:off x="6766560" y="1554480"/>
            <a:ext cx="1965960" cy="320040"/>
          </a:xfrm>
          <a:prstGeom prst="rect">
            <a:avLst/>
          </a:prstGeom>
          <a:noFill/>
          <a:ln/>
        </p:spPr>
        <p:txBody>
          <a:bodyPr wrap="square" lIns="0" tIns="0" rIns="0" bIns="0" rtlCol="0" anchor="t"/>
          <a:lstStyle/>
          <a:p>
            <a:pPr algn="ctr" indent="0" marL="0">
              <a:buNone/>
            </a:pPr>
            <a:r>
              <a:rPr lang="en-US" sz="1000" dirty="0">
                <a:solidFill>
                  <a:srgbClr val="F0F9FF"/>
                </a:solidFill>
              </a:rPr>
              <a:t>Feature Columns</a:t>
            </a:r>
            <a:endParaRPr lang="en-US" sz="1000" dirty="0"/>
          </a:p>
        </p:txBody>
      </p:sp>
      <p:sp>
        <p:nvSpPr>
          <p:cNvPr id="17" name="Text 15"/>
          <p:cNvSpPr/>
          <p:nvPr/>
        </p:nvSpPr>
        <p:spPr>
          <a:xfrm>
            <a:off x="365760" y="2148840"/>
            <a:ext cx="5486400" cy="347472"/>
          </a:xfrm>
          <a:prstGeom prst="rect">
            <a:avLst/>
          </a:prstGeom>
          <a:noFill/>
          <a:ln/>
        </p:spPr>
        <p:txBody>
          <a:bodyPr wrap="square" rtlCol="0" anchor="ctr"/>
          <a:lstStyle/>
          <a:p>
            <a:pPr indent="0" marL="0">
              <a:buNone/>
            </a:pPr>
            <a:r>
              <a:rPr lang="en-US" sz="1400" b="1" dirty="0">
                <a:solidFill>
                  <a:srgbClr val="1E293B"/>
                </a:solidFill>
              </a:rPr>
              <a:t>Key Dataset Features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2514600"/>
          <a:ext cx="8503920" cy="2423160"/>
        </p:xfrm>
        <a:graphic>
          <a:graphicData uri="http://schemas.openxmlformats.org/drawingml/2006/table">
            <a:tbl>
              <a:tblPr/>
              <a:tblGrid>
                <a:gridCol w="1828800"/>
                <a:gridCol w="1097280"/>
                <a:gridCol w="5577840"/>
              </a:tblGrid>
              <a:tr h="274320">
                <a:tc>
                  <a:txBody>
                    <a:bodyPr/>
                    <a:lstStyle/>
                    <a:p>
                      <a:pPr algn="l" indent="0" marL="0">
                        <a:buNone/>
                      </a:pPr>
                      <a:r>
                        <a:rPr lang="en-US" sz="1050" b="1" dirty="0">
                          <a:solidFill>
                            <a:srgbClr val="FFFFFF"/>
                          </a:solidFill>
                        </a:rPr>
                        <a:t>Feature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l" indent="0" marL="0">
                        <a:buNone/>
                      </a:pPr>
                      <a:r>
                        <a:rPr lang="en-US" sz="1050" b="1" dirty="0">
                          <a:solidFill>
                            <a:srgbClr val="FFFFFF"/>
                          </a:solidFill>
                        </a:rPr>
                        <a:t>Type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l" indent="0" marL="0">
                        <a:buNone/>
                      </a:pPr>
                      <a:r>
                        <a:rPr lang="en-US" sz="1050" b="1" dirty="0">
                          <a:solidFill>
                            <a:srgbClr val="FFFFFF"/>
                          </a:solidFill>
                        </a:rPr>
                        <a:t>Description</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274320">
                <a:tc>
                  <a:txBody>
                    <a:bodyPr/>
                    <a:lstStyle/>
                    <a:p>
                      <a:pPr algn="l" indent="0" marL="0">
                        <a:buNone/>
                      </a:pPr>
                      <a:r>
                        <a:rPr lang="en-US" sz="1050" dirty="0">
                          <a:solidFill>
                            <a:srgbClr val="1E293B"/>
                          </a:solidFill>
                        </a:rPr>
                        <a:t>user_id / course_id</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Integer</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Unique identifiers for users and courses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E293B"/>
                          </a:solidFill>
                        </a:rPr>
                        <a:t>rating</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Float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User rating: 1.0–5.0 (Mean: 3.96, σ: 0.73)</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E293B"/>
                          </a:solidFill>
                        </a:rPr>
                        <a:t>difficulty_level</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Category</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Beginner (50%), Intermediate (30%), Advanced (20%)</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E293B"/>
                          </a:solidFill>
                        </a:rPr>
                        <a:t>course_price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Float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Range: 20–500 (Mean: $261, σ: $139)</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E293B"/>
                          </a:solidFill>
                        </a:rPr>
                        <a:t>course_duration_hours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Float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5–100 hours (Mean: 52.4 hrs)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E293B"/>
                          </a:solidFill>
                        </a:rPr>
                        <a:t>feedback_score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Float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Normalized 0–1 score (Mean: 0.75)</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E293B"/>
                          </a:solidFill>
                        </a:rPr>
                        <a:t>certification_offered</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Binary</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E293B"/>
                          </a:solidFill>
                        </a:rPr>
                        <a:t>Yes (70%) / No (30%)</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EXPLORATORY DATA ANALYSIS — OVERVIEW</a:t>
            </a:r>
            <a:endParaRPr lang="en-US" sz="24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14400"/>
            <a:ext cx="420624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914400"/>
            <a:ext cx="109728" cy="1188720"/>
          </a:xfrm>
          <a:prstGeom prst="rect">
            <a:avLst/>
          </a:prstGeom>
          <a:solidFill>
            <a:srgbClr val="028090"/>
          </a:solidFill>
          <a:ln/>
        </p:spPr>
      </p:sp>
      <p:sp>
        <p:nvSpPr>
          <p:cNvPr id="7" name="Text 5"/>
          <p:cNvSpPr/>
          <p:nvPr/>
        </p:nvSpPr>
        <p:spPr>
          <a:xfrm>
            <a:off x="521208" y="987552"/>
            <a:ext cx="3840480" cy="320040"/>
          </a:xfrm>
          <a:prstGeom prst="rect">
            <a:avLst/>
          </a:prstGeom>
          <a:noFill/>
          <a:ln/>
        </p:spPr>
        <p:txBody>
          <a:bodyPr wrap="square" rtlCol="0" anchor="ctr"/>
          <a:lstStyle/>
          <a:p>
            <a:pPr indent="0" marL="0">
              <a:buNone/>
            </a:pPr>
            <a:r>
              <a:rPr lang="en-US" sz="1200" b="1" dirty="0">
                <a:solidFill>
                  <a:srgbClr val="028090"/>
                </a:solidFill>
              </a:rPr>
              <a:t>📦  Data Quality</a:t>
            </a:r>
            <a:endParaRPr lang="en-US" sz="1200" dirty="0"/>
          </a:p>
        </p:txBody>
      </p:sp>
      <p:sp>
        <p:nvSpPr>
          <p:cNvPr id="8" name="Text 6"/>
          <p:cNvSpPr/>
          <p:nvPr/>
        </p:nvSpPr>
        <p:spPr>
          <a:xfrm>
            <a:off x="521208" y="1316736"/>
            <a:ext cx="3840480" cy="685800"/>
          </a:xfrm>
          <a:prstGeom prst="rect">
            <a:avLst/>
          </a:prstGeom>
          <a:noFill/>
          <a:ln/>
        </p:spPr>
        <p:txBody>
          <a:bodyPr wrap="square" rtlCol="0" anchor="ctr"/>
          <a:lstStyle/>
          <a:p>
            <a:pPr indent="0" marL="0">
              <a:buNone/>
            </a:pPr>
            <a:r>
              <a:rPr lang="en-US" sz="1050" dirty="0">
                <a:solidFill>
                  <a:srgbClr val="1E293B"/>
                </a:solidFill>
              </a:rPr>
              <a:t>Zero missing values, zero duplicate rows across all 100,000 enrollment records. Dataset is complete and analysis-ready.</a:t>
            </a:r>
            <a:endParaRPr lang="en-US" sz="1050" dirty="0"/>
          </a:p>
        </p:txBody>
      </p:sp>
      <p:sp>
        <p:nvSpPr>
          <p:cNvPr id="9" name="Shape 7"/>
          <p:cNvSpPr/>
          <p:nvPr/>
        </p:nvSpPr>
        <p:spPr>
          <a:xfrm>
            <a:off x="4754880" y="914400"/>
            <a:ext cx="420624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4754880" y="914400"/>
            <a:ext cx="109728" cy="1188720"/>
          </a:xfrm>
          <a:prstGeom prst="rect">
            <a:avLst/>
          </a:prstGeom>
          <a:solidFill>
            <a:srgbClr val="028090"/>
          </a:solidFill>
          <a:ln/>
        </p:spPr>
      </p:sp>
      <p:sp>
        <p:nvSpPr>
          <p:cNvPr id="11" name="Text 9"/>
          <p:cNvSpPr/>
          <p:nvPr/>
        </p:nvSpPr>
        <p:spPr>
          <a:xfrm>
            <a:off x="4956048" y="987552"/>
            <a:ext cx="3840480" cy="320040"/>
          </a:xfrm>
          <a:prstGeom prst="rect">
            <a:avLst/>
          </a:prstGeom>
          <a:noFill/>
          <a:ln/>
        </p:spPr>
        <p:txBody>
          <a:bodyPr wrap="square" rtlCol="0" anchor="ctr"/>
          <a:lstStyle/>
          <a:p>
            <a:pPr indent="0" marL="0">
              <a:buNone/>
            </a:pPr>
            <a:r>
              <a:rPr lang="en-US" sz="1200" b="1" dirty="0">
                <a:solidFill>
                  <a:srgbClr val="028090"/>
                </a:solidFill>
              </a:rPr>
              <a:t>👤  User Profiles are Thin</a:t>
            </a:r>
            <a:endParaRPr lang="en-US" sz="1200" dirty="0"/>
          </a:p>
        </p:txBody>
      </p:sp>
      <p:sp>
        <p:nvSpPr>
          <p:cNvPr id="12" name="Text 10"/>
          <p:cNvSpPr/>
          <p:nvPr/>
        </p:nvSpPr>
        <p:spPr>
          <a:xfrm>
            <a:off x="4956048" y="1316736"/>
            <a:ext cx="3840480" cy="685800"/>
          </a:xfrm>
          <a:prstGeom prst="rect">
            <a:avLst/>
          </a:prstGeom>
          <a:noFill/>
          <a:ln/>
        </p:spPr>
        <p:txBody>
          <a:bodyPr wrap="square" rtlCol="0" anchor="ctr"/>
          <a:lstStyle/>
          <a:p>
            <a:pPr indent="0" marL="0">
              <a:buNone/>
            </a:pPr>
            <a:r>
              <a:rPr lang="en-US" sz="1050" dirty="0">
                <a:solidFill>
                  <a:srgbClr val="1E293B"/>
                </a:solidFill>
              </a:rPr>
              <a:t>Average user takes only 2.2 courses. 33% of users took just 1 course — making standard Collaborative Filtering unreliable.</a:t>
            </a:r>
            <a:endParaRPr lang="en-US" sz="1050" dirty="0"/>
          </a:p>
        </p:txBody>
      </p:sp>
      <p:sp>
        <p:nvSpPr>
          <p:cNvPr id="13" name="Shape 11"/>
          <p:cNvSpPr/>
          <p:nvPr/>
        </p:nvSpPr>
        <p:spPr>
          <a:xfrm>
            <a:off x="320040" y="2240280"/>
            <a:ext cx="420624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320040" y="2240280"/>
            <a:ext cx="109728" cy="1188720"/>
          </a:xfrm>
          <a:prstGeom prst="rect">
            <a:avLst/>
          </a:prstGeom>
          <a:solidFill>
            <a:srgbClr val="028090"/>
          </a:solidFill>
          <a:ln/>
        </p:spPr>
      </p:sp>
      <p:sp>
        <p:nvSpPr>
          <p:cNvPr id="15" name="Text 13"/>
          <p:cNvSpPr/>
          <p:nvPr/>
        </p:nvSpPr>
        <p:spPr>
          <a:xfrm>
            <a:off x="521208" y="2313432"/>
            <a:ext cx="3840480" cy="320040"/>
          </a:xfrm>
          <a:prstGeom prst="rect">
            <a:avLst/>
          </a:prstGeom>
          <a:noFill/>
          <a:ln/>
        </p:spPr>
        <p:txBody>
          <a:bodyPr wrap="square" rtlCol="0" anchor="ctr"/>
          <a:lstStyle/>
          <a:p>
            <a:pPr indent="0" marL="0">
              <a:buNone/>
            </a:pPr>
            <a:r>
              <a:rPr lang="en-US" sz="1200" b="1" dirty="0">
                <a:solidFill>
                  <a:srgbClr val="028090"/>
                </a:solidFill>
              </a:rPr>
              <a:t>🗂️  Sparse Matrix</a:t>
            </a:r>
            <a:endParaRPr lang="en-US" sz="1200" dirty="0"/>
          </a:p>
        </p:txBody>
      </p:sp>
      <p:sp>
        <p:nvSpPr>
          <p:cNvPr id="16" name="Text 14"/>
          <p:cNvSpPr/>
          <p:nvPr/>
        </p:nvSpPr>
        <p:spPr>
          <a:xfrm>
            <a:off x="521208" y="2642616"/>
            <a:ext cx="3840480" cy="685800"/>
          </a:xfrm>
          <a:prstGeom prst="rect">
            <a:avLst/>
          </a:prstGeom>
          <a:noFill/>
          <a:ln/>
        </p:spPr>
        <p:txBody>
          <a:bodyPr wrap="square" rtlCol="0" anchor="ctr"/>
          <a:lstStyle/>
          <a:p>
            <a:pPr indent="0" marL="0">
              <a:buNone/>
            </a:pPr>
            <a:r>
              <a:rPr lang="en-US" sz="1050" dirty="0">
                <a:solidFill>
                  <a:srgbClr val="1E293B"/>
                </a:solidFill>
              </a:rPr>
              <a:t>User-course matrix is 89% sparse (43K × 20 matrix). This 'Goldilocks zone' (70–95%) is ideal for a hybrid recommendation strategy.</a:t>
            </a:r>
            <a:endParaRPr lang="en-US" sz="1050" dirty="0"/>
          </a:p>
        </p:txBody>
      </p:sp>
      <p:sp>
        <p:nvSpPr>
          <p:cNvPr id="17" name="Shape 15"/>
          <p:cNvSpPr/>
          <p:nvPr/>
        </p:nvSpPr>
        <p:spPr>
          <a:xfrm>
            <a:off x="4754880" y="2240280"/>
            <a:ext cx="420624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4754880" y="2240280"/>
            <a:ext cx="109728" cy="1188720"/>
          </a:xfrm>
          <a:prstGeom prst="rect">
            <a:avLst/>
          </a:prstGeom>
          <a:solidFill>
            <a:srgbClr val="028090"/>
          </a:solidFill>
          <a:ln/>
        </p:spPr>
      </p:sp>
      <p:sp>
        <p:nvSpPr>
          <p:cNvPr id="19" name="Text 17"/>
          <p:cNvSpPr/>
          <p:nvPr/>
        </p:nvSpPr>
        <p:spPr>
          <a:xfrm>
            <a:off x="4956048" y="2313432"/>
            <a:ext cx="3840480" cy="320040"/>
          </a:xfrm>
          <a:prstGeom prst="rect">
            <a:avLst/>
          </a:prstGeom>
          <a:noFill/>
          <a:ln/>
        </p:spPr>
        <p:txBody>
          <a:bodyPr wrap="square" rtlCol="0" anchor="ctr"/>
          <a:lstStyle/>
          <a:p>
            <a:pPr indent="0" marL="0">
              <a:buNone/>
            </a:pPr>
            <a:r>
              <a:rPr lang="en-US" sz="1200" b="1" dirty="0">
                <a:solidFill>
                  <a:srgbClr val="028090"/>
                </a:solidFill>
              </a:rPr>
              <a:t>📊  Rating Distribution</a:t>
            </a:r>
            <a:endParaRPr lang="en-US" sz="1200" dirty="0"/>
          </a:p>
        </p:txBody>
      </p:sp>
      <p:sp>
        <p:nvSpPr>
          <p:cNvPr id="20" name="Text 18"/>
          <p:cNvSpPr/>
          <p:nvPr/>
        </p:nvSpPr>
        <p:spPr>
          <a:xfrm>
            <a:off x="4956048" y="2642616"/>
            <a:ext cx="3840480" cy="685800"/>
          </a:xfrm>
          <a:prstGeom prst="rect">
            <a:avLst/>
          </a:prstGeom>
          <a:noFill/>
          <a:ln/>
        </p:spPr>
        <p:txBody>
          <a:bodyPr wrap="square" rtlCol="0" anchor="ctr"/>
          <a:lstStyle/>
          <a:p>
            <a:pPr indent="0" marL="0">
              <a:buNone/>
            </a:pPr>
            <a:r>
              <a:rPr lang="en-US" sz="1050" dirty="0">
                <a:solidFill>
                  <a:srgbClr val="1E293B"/>
                </a:solidFill>
              </a:rPr>
              <a:t>52.6% of ratings are 4-5 stars. Mean = 3.96, σ = 0.73. Ratings are well-spread — a reliable signal for model training.</a:t>
            </a:r>
            <a:endParaRPr lang="en-US" sz="1050" dirty="0"/>
          </a:p>
        </p:txBody>
      </p:sp>
      <p:sp>
        <p:nvSpPr>
          <p:cNvPr id="21" name="Shape 19"/>
          <p:cNvSpPr/>
          <p:nvPr/>
        </p:nvSpPr>
        <p:spPr>
          <a:xfrm>
            <a:off x="320040" y="3566160"/>
            <a:ext cx="420624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320040" y="3566160"/>
            <a:ext cx="109728" cy="1188720"/>
          </a:xfrm>
          <a:prstGeom prst="rect">
            <a:avLst/>
          </a:prstGeom>
          <a:solidFill>
            <a:srgbClr val="028090"/>
          </a:solidFill>
          <a:ln/>
        </p:spPr>
      </p:sp>
      <p:sp>
        <p:nvSpPr>
          <p:cNvPr id="23" name="Text 21"/>
          <p:cNvSpPr/>
          <p:nvPr/>
        </p:nvSpPr>
        <p:spPr>
          <a:xfrm>
            <a:off x="521208" y="3639312"/>
            <a:ext cx="3840480" cy="320040"/>
          </a:xfrm>
          <a:prstGeom prst="rect">
            <a:avLst/>
          </a:prstGeom>
          <a:noFill/>
          <a:ln/>
        </p:spPr>
        <p:txBody>
          <a:bodyPr wrap="square" rtlCol="0" anchor="ctr"/>
          <a:lstStyle/>
          <a:p>
            <a:pPr indent="0" marL="0">
              <a:buNone/>
            </a:pPr>
            <a:r>
              <a:rPr lang="en-US" sz="1200" b="1" dirty="0">
                <a:solidFill>
                  <a:srgbClr val="028090"/>
                </a:solidFill>
              </a:rPr>
              <a:t>⚠️  Feature Correlations Near Zero</a:t>
            </a:r>
            <a:endParaRPr lang="en-US" sz="1200" dirty="0"/>
          </a:p>
        </p:txBody>
      </p:sp>
      <p:sp>
        <p:nvSpPr>
          <p:cNvPr id="24" name="Text 22"/>
          <p:cNvSpPr/>
          <p:nvPr/>
        </p:nvSpPr>
        <p:spPr>
          <a:xfrm>
            <a:off x="521208" y="3968496"/>
            <a:ext cx="3840480" cy="685800"/>
          </a:xfrm>
          <a:prstGeom prst="rect">
            <a:avLst/>
          </a:prstGeom>
          <a:noFill/>
          <a:ln/>
        </p:spPr>
        <p:txBody>
          <a:bodyPr wrap="square" rtlCol="0" anchor="ctr"/>
          <a:lstStyle/>
          <a:p>
            <a:pPr indent="0" marL="0">
              <a:buNone/>
            </a:pPr>
            <a:r>
              <a:rPr lang="en-US" sz="1050" dirty="0">
                <a:solidFill>
                  <a:srgbClr val="1E293B"/>
                </a:solidFill>
              </a:rPr>
              <a:t>Price, duration, and feedback score all show near-zero correlation with user rating. Course metadata alone cannot predict satisfaction.</a:t>
            </a:r>
            <a:endParaRPr lang="en-US" sz="1050" dirty="0"/>
          </a:p>
        </p:txBody>
      </p:sp>
      <p:sp>
        <p:nvSpPr>
          <p:cNvPr id="25" name="Shape 23"/>
          <p:cNvSpPr/>
          <p:nvPr/>
        </p:nvSpPr>
        <p:spPr>
          <a:xfrm>
            <a:off x="4754880" y="3566160"/>
            <a:ext cx="420624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4754880" y="3566160"/>
            <a:ext cx="109728" cy="1188720"/>
          </a:xfrm>
          <a:prstGeom prst="rect">
            <a:avLst/>
          </a:prstGeom>
          <a:solidFill>
            <a:srgbClr val="028090"/>
          </a:solidFill>
          <a:ln/>
        </p:spPr>
      </p:sp>
      <p:sp>
        <p:nvSpPr>
          <p:cNvPr id="27" name="Text 25"/>
          <p:cNvSpPr/>
          <p:nvPr/>
        </p:nvSpPr>
        <p:spPr>
          <a:xfrm>
            <a:off x="4956048" y="3639312"/>
            <a:ext cx="3840480" cy="320040"/>
          </a:xfrm>
          <a:prstGeom prst="rect">
            <a:avLst/>
          </a:prstGeom>
          <a:noFill/>
          <a:ln/>
        </p:spPr>
        <p:txBody>
          <a:bodyPr wrap="square" rtlCol="0" anchor="ctr"/>
          <a:lstStyle/>
          <a:p>
            <a:pPr indent="0" marL="0">
              <a:buNone/>
            </a:pPr>
            <a:r>
              <a:rPr lang="en-US" sz="1200" b="1" dirty="0">
                <a:solidFill>
                  <a:srgbClr val="028090"/>
                </a:solidFill>
              </a:rPr>
              <a:t>❌  Collaborative Filtering Weak</a:t>
            </a:r>
            <a:endParaRPr lang="en-US" sz="1200" dirty="0"/>
          </a:p>
        </p:txBody>
      </p:sp>
      <p:sp>
        <p:nvSpPr>
          <p:cNvPr id="28" name="Text 26"/>
          <p:cNvSpPr/>
          <p:nvPr/>
        </p:nvSpPr>
        <p:spPr>
          <a:xfrm>
            <a:off x="4956048" y="3968496"/>
            <a:ext cx="3840480" cy="685800"/>
          </a:xfrm>
          <a:prstGeom prst="rect">
            <a:avLst/>
          </a:prstGeom>
          <a:noFill/>
          <a:ln/>
        </p:spPr>
        <p:txBody>
          <a:bodyPr wrap="square" rtlCol="0" anchor="ctr"/>
          <a:lstStyle/>
          <a:p>
            <a:pPr indent="0" marL="0">
              <a:buNone/>
            </a:pPr>
            <a:r>
              <a:rPr lang="en-US" sz="1050" dirty="0">
                <a:solidFill>
                  <a:srgbClr val="1E293B"/>
                </a:solidFill>
              </a:rPr>
              <a:t>User-user correlation ≈ −0.04 (near-random). Only 47.5% of user pairs show positive correlation — CF will not perform well here.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EDA — USER BEHAVIOR ANALYSIS</a:t>
            </a:r>
            <a:endParaRPr lang="en-US" sz="2400" dirty="0"/>
          </a:p>
        </p:txBody>
      </p:sp>
      <p:sp>
        <p:nvSpPr>
          <p:cNvPr id="4" name="Shape 2"/>
          <p:cNvSpPr/>
          <p:nvPr/>
        </p:nvSpPr>
        <p:spPr>
          <a:xfrm>
            <a:off x="0" y="777240"/>
            <a:ext cx="164592" cy="4366260"/>
          </a:xfrm>
          <a:prstGeom prst="rect">
            <a:avLst/>
          </a:prstGeom>
          <a:solidFill>
            <a:srgbClr val="028090"/>
          </a:solidFill>
          <a:ln/>
        </p:spPr>
      </p:sp>
      <p:graphicFrame>
        <p:nvGraphicFramePr>
          <p:cNvPr id="5" name="Chart 0" descr=""/>
          <p:cNvGraphicFramePr/>
          <p:nvPr/>
        </p:nvGraphicFramePr>
        <p:xfrm>
          <a:off x="320040" y="91440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0" y="914400"/>
            <a:ext cx="333756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4"/>
          <p:cNvSpPr/>
          <p:nvPr/>
        </p:nvSpPr>
        <p:spPr>
          <a:xfrm>
            <a:off x="5577840" y="950976"/>
            <a:ext cx="1005840" cy="475488"/>
          </a:xfrm>
          <a:prstGeom prst="rect">
            <a:avLst/>
          </a:prstGeom>
          <a:noFill/>
          <a:ln/>
        </p:spPr>
        <p:txBody>
          <a:bodyPr wrap="square" lIns="0" tIns="0" rIns="0" bIns="0" rtlCol="0" anchor="ctr"/>
          <a:lstStyle/>
          <a:p>
            <a:pPr algn="ctr" indent="0" marL="0">
              <a:buNone/>
            </a:pPr>
            <a:r>
              <a:rPr lang="en-US" sz="2000" b="1" dirty="0">
                <a:solidFill>
                  <a:srgbClr val="028090"/>
                </a:solidFill>
              </a:rPr>
              <a:t>2.20</a:t>
            </a:r>
            <a:endParaRPr lang="en-US" sz="2000" dirty="0"/>
          </a:p>
        </p:txBody>
      </p:sp>
      <p:sp>
        <p:nvSpPr>
          <p:cNvPr id="8" name="Text 5"/>
          <p:cNvSpPr/>
          <p:nvPr/>
        </p:nvSpPr>
        <p:spPr>
          <a:xfrm>
            <a:off x="6629400" y="1024128"/>
            <a:ext cx="2103120" cy="347472"/>
          </a:xfrm>
          <a:prstGeom prst="rect">
            <a:avLst/>
          </a:prstGeom>
          <a:noFill/>
          <a:ln/>
        </p:spPr>
        <p:txBody>
          <a:bodyPr wrap="square" rtlCol="0" anchor="ctr"/>
          <a:lstStyle/>
          <a:p>
            <a:pPr indent="0" marL="0">
              <a:buNone/>
            </a:pPr>
            <a:r>
              <a:rPr lang="en-US" sz="1100" dirty="0">
                <a:solidFill>
                  <a:srgbClr val="1E293B"/>
                </a:solidFill>
              </a:rPr>
              <a:t>Avg courses per user</a:t>
            </a:r>
            <a:endParaRPr lang="en-US" sz="1100" dirty="0"/>
          </a:p>
        </p:txBody>
      </p:sp>
      <p:sp>
        <p:nvSpPr>
          <p:cNvPr id="9" name="Shape 6"/>
          <p:cNvSpPr/>
          <p:nvPr/>
        </p:nvSpPr>
        <p:spPr>
          <a:xfrm>
            <a:off x="5486400" y="1554480"/>
            <a:ext cx="333756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Text 7"/>
          <p:cNvSpPr/>
          <p:nvPr/>
        </p:nvSpPr>
        <p:spPr>
          <a:xfrm>
            <a:off x="5577840" y="1591056"/>
            <a:ext cx="1005840" cy="475488"/>
          </a:xfrm>
          <a:prstGeom prst="rect">
            <a:avLst/>
          </a:prstGeom>
          <a:noFill/>
          <a:ln/>
        </p:spPr>
        <p:txBody>
          <a:bodyPr wrap="square" lIns="0" tIns="0" rIns="0" bIns="0" rtlCol="0" anchor="ctr"/>
          <a:lstStyle/>
          <a:p>
            <a:pPr algn="ctr" indent="0" marL="0">
              <a:buNone/>
            </a:pPr>
            <a:r>
              <a:rPr lang="en-US" sz="2000" b="1" dirty="0">
                <a:solidFill>
                  <a:srgbClr val="028090"/>
                </a:solidFill>
              </a:rPr>
              <a:t>14,182</a:t>
            </a:r>
            <a:endParaRPr lang="en-US" sz="2000" dirty="0"/>
          </a:p>
        </p:txBody>
      </p:sp>
      <p:sp>
        <p:nvSpPr>
          <p:cNvPr id="11" name="Text 8"/>
          <p:cNvSpPr/>
          <p:nvPr/>
        </p:nvSpPr>
        <p:spPr>
          <a:xfrm>
            <a:off x="6629400" y="1664208"/>
            <a:ext cx="2103120" cy="347472"/>
          </a:xfrm>
          <a:prstGeom prst="rect">
            <a:avLst/>
          </a:prstGeom>
          <a:noFill/>
          <a:ln/>
        </p:spPr>
        <p:txBody>
          <a:bodyPr wrap="square" rtlCol="0" anchor="ctr"/>
          <a:lstStyle/>
          <a:p>
            <a:pPr indent="0" marL="0">
              <a:buNone/>
            </a:pPr>
            <a:r>
              <a:rPr lang="en-US" sz="1100" dirty="0">
                <a:solidFill>
                  <a:srgbClr val="1E293B"/>
                </a:solidFill>
              </a:rPr>
              <a:t>Users with just 1 course</a:t>
            </a:r>
            <a:endParaRPr lang="en-US" sz="1100" dirty="0"/>
          </a:p>
        </p:txBody>
      </p:sp>
      <p:sp>
        <p:nvSpPr>
          <p:cNvPr id="12" name="Shape 9"/>
          <p:cNvSpPr/>
          <p:nvPr/>
        </p:nvSpPr>
        <p:spPr>
          <a:xfrm>
            <a:off x="5486400" y="2194560"/>
            <a:ext cx="333756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Text 10"/>
          <p:cNvSpPr/>
          <p:nvPr/>
        </p:nvSpPr>
        <p:spPr>
          <a:xfrm>
            <a:off x="5577840" y="2231136"/>
            <a:ext cx="1005840" cy="475488"/>
          </a:xfrm>
          <a:prstGeom prst="rect">
            <a:avLst/>
          </a:prstGeom>
          <a:noFill/>
          <a:ln/>
        </p:spPr>
        <p:txBody>
          <a:bodyPr wrap="square" lIns="0" tIns="0" rIns="0" bIns="0" rtlCol="0" anchor="ctr"/>
          <a:lstStyle/>
          <a:p>
            <a:pPr algn="ctr" indent="0" marL="0">
              <a:buNone/>
            </a:pPr>
            <a:r>
              <a:rPr lang="en-US" sz="2000" b="1" dirty="0">
                <a:solidFill>
                  <a:srgbClr val="028090"/>
                </a:solidFill>
              </a:rPr>
              <a:t>38.4%</a:t>
            </a:r>
            <a:endParaRPr lang="en-US" sz="2000" dirty="0"/>
          </a:p>
        </p:txBody>
      </p:sp>
      <p:sp>
        <p:nvSpPr>
          <p:cNvPr id="14" name="Text 11"/>
          <p:cNvSpPr/>
          <p:nvPr/>
        </p:nvSpPr>
        <p:spPr>
          <a:xfrm>
            <a:off x="6629400" y="2304288"/>
            <a:ext cx="2103120" cy="347472"/>
          </a:xfrm>
          <a:prstGeom prst="rect">
            <a:avLst/>
          </a:prstGeom>
          <a:noFill/>
          <a:ln/>
        </p:spPr>
        <p:txBody>
          <a:bodyPr wrap="square" rtlCol="0" anchor="ctr"/>
          <a:lstStyle/>
          <a:p>
            <a:pPr indent="0" marL="0">
              <a:buNone/>
            </a:pPr>
            <a:r>
              <a:rPr lang="en-US" sz="1100" dirty="0">
                <a:solidFill>
                  <a:srgbClr val="1E293B"/>
                </a:solidFill>
              </a:rPr>
              <a:t>Overall completion rate</a:t>
            </a:r>
            <a:endParaRPr lang="en-US" sz="1100" dirty="0"/>
          </a:p>
        </p:txBody>
      </p:sp>
      <p:sp>
        <p:nvSpPr>
          <p:cNvPr id="15" name="Shape 12"/>
          <p:cNvSpPr/>
          <p:nvPr/>
        </p:nvSpPr>
        <p:spPr>
          <a:xfrm>
            <a:off x="5486400" y="2834640"/>
            <a:ext cx="333756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Text 13"/>
          <p:cNvSpPr/>
          <p:nvPr/>
        </p:nvSpPr>
        <p:spPr>
          <a:xfrm>
            <a:off x="5577840" y="2871216"/>
            <a:ext cx="1005840" cy="475488"/>
          </a:xfrm>
          <a:prstGeom prst="rect">
            <a:avLst/>
          </a:prstGeom>
          <a:noFill/>
          <a:ln/>
        </p:spPr>
        <p:txBody>
          <a:bodyPr wrap="square" lIns="0" tIns="0" rIns="0" bIns="0" rtlCol="0" anchor="ctr"/>
          <a:lstStyle/>
          <a:p>
            <a:pPr algn="ctr" indent="0" marL="0">
              <a:buNone/>
            </a:pPr>
            <a:r>
              <a:rPr lang="en-US" sz="2000" b="1" dirty="0">
                <a:solidFill>
                  <a:srgbClr val="028090"/>
                </a:solidFill>
              </a:rPr>
              <a:t>52.6%</a:t>
            </a:r>
            <a:endParaRPr lang="en-US" sz="2000" dirty="0"/>
          </a:p>
        </p:txBody>
      </p:sp>
      <p:sp>
        <p:nvSpPr>
          <p:cNvPr id="17" name="Text 14"/>
          <p:cNvSpPr/>
          <p:nvPr/>
        </p:nvSpPr>
        <p:spPr>
          <a:xfrm>
            <a:off x="6629400" y="2944368"/>
            <a:ext cx="2103120" cy="347472"/>
          </a:xfrm>
          <a:prstGeom prst="rect">
            <a:avLst/>
          </a:prstGeom>
          <a:noFill/>
          <a:ln/>
        </p:spPr>
        <p:txBody>
          <a:bodyPr wrap="square" rtlCol="0" anchor="ctr"/>
          <a:lstStyle/>
          <a:p>
            <a:pPr indent="0" marL="0">
              <a:buNone/>
            </a:pPr>
            <a:r>
              <a:rPr lang="en-US" sz="1100" dirty="0">
                <a:solidFill>
                  <a:srgbClr val="1E293B"/>
                </a:solidFill>
              </a:rPr>
              <a:t>High satisfaction (≥4 stars)</a:t>
            </a:r>
            <a:endParaRPr lang="en-US" sz="1100" dirty="0"/>
          </a:p>
        </p:txBody>
      </p:sp>
      <p:sp>
        <p:nvSpPr>
          <p:cNvPr id="18" name="Shape 15"/>
          <p:cNvSpPr/>
          <p:nvPr/>
        </p:nvSpPr>
        <p:spPr>
          <a:xfrm>
            <a:off x="5486400" y="3474720"/>
            <a:ext cx="333756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Text 16"/>
          <p:cNvSpPr/>
          <p:nvPr/>
        </p:nvSpPr>
        <p:spPr>
          <a:xfrm>
            <a:off x="5577840" y="3511296"/>
            <a:ext cx="1005840" cy="475488"/>
          </a:xfrm>
          <a:prstGeom prst="rect">
            <a:avLst/>
          </a:prstGeom>
          <a:noFill/>
          <a:ln/>
        </p:spPr>
        <p:txBody>
          <a:bodyPr wrap="square" lIns="0" tIns="0" rIns="0" bIns="0" rtlCol="0" anchor="ctr"/>
          <a:lstStyle/>
          <a:p>
            <a:pPr algn="ctr" indent="0" marL="0">
              <a:buNone/>
            </a:pPr>
            <a:r>
              <a:rPr lang="en-US" sz="2000" b="1" dirty="0">
                <a:solidFill>
                  <a:srgbClr val="028090"/>
                </a:solidFill>
              </a:rPr>
              <a:t>20.2%</a:t>
            </a:r>
            <a:endParaRPr lang="en-US" sz="2000" dirty="0"/>
          </a:p>
        </p:txBody>
      </p:sp>
      <p:sp>
        <p:nvSpPr>
          <p:cNvPr id="20" name="Text 17"/>
          <p:cNvSpPr/>
          <p:nvPr/>
        </p:nvSpPr>
        <p:spPr>
          <a:xfrm>
            <a:off x="6629400" y="3584448"/>
            <a:ext cx="2103120" cy="347472"/>
          </a:xfrm>
          <a:prstGeom prst="rect">
            <a:avLst/>
          </a:prstGeom>
          <a:noFill/>
          <a:ln/>
        </p:spPr>
        <p:txBody>
          <a:bodyPr wrap="square" rtlCol="0" anchor="ctr"/>
          <a:lstStyle/>
          <a:p>
            <a:pPr indent="0" marL="0">
              <a:buNone/>
            </a:pPr>
            <a:r>
              <a:rPr lang="en-US" sz="1100" dirty="0">
                <a:solidFill>
                  <a:srgbClr val="1E293B"/>
                </a:solidFill>
              </a:rPr>
              <a:t>Completed AND high rated</a:t>
            </a:r>
            <a:endParaRPr lang="en-US" sz="1100" dirty="0"/>
          </a:p>
        </p:txBody>
      </p:sp>
      <p:sp>
        <p:nvSpPr>
          <p:cNvPr id="21" name="Shape 18"/>
          <p:cNvSpPr/>
          <p:nvPr/>
        </p:nvSpPr>
        <p:spPr>
          <a:xfrm>
            <a:off x="320040" y="4206240"/>
            <a:ext cx="8503920" cy="548640"/>
          </a:xfrm>
          <a:prstGeom prst="rect">
            <a:avLst/>
          </a:prstGeom>
          <a:solidFill>
            <a:srgbClr val="028090">
              <a:alpha val="15000"/>
            </a:srgbClr>
          </a:solidFill>
          <a:ln/>
        </p:spPr>
      </p:sp>
      <p:sp>
        <p:nvSpPr>
          <p:cNvPr id="22" name="Text 19"/>
          <p:cNvSpPr/>
          <p:nvPr/>
        </p:nvSpPr>
        <p:spPr>
          <a:xfrm>
            <a:off x="411480" y="4206240"/>
            <a:ext cx="8321040" cy="548640"/>
          </a:xfrm>
          <a:prstGeom prst="rect">
            <a:avLst/>
          </a:prstGeom>
          <a:noFill/>
          <a:ln/>
        </p:spPr>
        <p:txBody>
          <a:bodyPr wrap="square" rtlCol="0" anchor="ctr"/>
          <a:lstStyle/>
          <a:p>
            <a:pPr indent="0" marL="0">
              <a:buNone/>
            </a:pPr>
            <a:r>
              <a:rPr lang="en-US" sz="1100" i="1" dirty="0">
                <a:solidFill>
                  <a:srgbClr val="1E293B"/>
                </a:solidFill>
              </a:rPr>
              <a:t>💡 Insight: Thin user profiles (avg 2.2 courses) severely limit traditional Collaborative Filtering — a hybrid approach is essential.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EDA — RATING &amp; FEEDBACK DISTRIBUTION</a:t>
            </a:r>
            <a:endParaRPr lang="en-US" sz="2400" dirty="0"/>
          </a:p>
        </p:txBody>
      </p:sp>
      <p:sp>
        <p:nvSpPr>
          <p:cNvPr id="4" name="Shape 2"/>
          <p:cNvSpPr/>
          <p:nvPr/>
        </p:nvSpPr>
        <p:spPr>
          <a:xfrm>
            <a:off x="0" y="777240"/>
            <a:ext cx="164592" cy="4366260"/>
          </a:xfrm>
          <a:prstGeom prst="rect">
            <a:avLst/>
          </a:prstGeom>
          <a:solidFill>
            <a:srgbClr val="028090"/>
          </a:solidFill>
          <a:ln/>
        </p:spPr>
      </p:sp>
      <p:graphicFrame>
        <p:nvGraphicFramePr>
          <p:cNvPr id="5" name="Chart 0" descr=""/>
          <p:cNvGraphicFramePr/>
          <p:nvPr/>
        </p:nvGraphicFramePr>
        <p:xfrm>
          <a:off x="320040" y="914400"/>
          <a:ext cx="4389120"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029200" y="914400"/>
            <a:ext cx="374904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4"/>
          <p:cNvSpPr/>
          <p:nvPr/>
        </p:nvSpPr>
        <p:spPr>
          <a:xfrm>
            <a:off x="5029200" y="914400"/>
            <a:ext cx="3749040" cy="457200"/>
          </a:xfrm>
          <a:prstGeom prst="rect">
            <a:avLst/>
          </a:prstGeom>
          <a:solidFill>
            <a:srgbClr val="028090"/>
          </a:solidFill>
          <a:ln/>
        </p:spPr>
      </p:sp>
      <p:sp>
        <p:nvSpPr>
          <p:cNvPr id="8" name="Text 5"/>
          <p:cNvSpPr/>
          <p:nvPr/>
        </p:nvSpPr>
        <p:spPr>
          <a:xfrm>
            <a:off x="5029200" y="914400"/>
            <a:ext cx="3749040" cy="457200"/>
          </a:xfrm>
          <a:prstGeom prst="rect">
            <a:avLst/>
          </a:prstGeom>
          <a:noFill/>
          <a:ln/>
        </p:spPr>
        <p:txBody>
          <a:bodyPr wrap="square" lIns="0" tIns="0" rIns="0" bIns="0" rtlCol="0" anchor="ctr"/>
          <a:lstStyle/>
          <a:p>
            <a:pPr algn="ctr" indent="0" marL="0">
              <a:buNone/>
            </a:pPr>
            <a:r>
              <a:rPr lang="en-US" sz="1300" b="1" dirty="0">
                <a:solidFill>
                  <a:srgbClr val="FFFFFF"/>
                </a:solidFill>
              </a:rPr>
              <a:t>Rating Statistics</a:t>
            </a:r>
            <a:endParaRPr lang="en-US" sz="1300" dirty="0"/>
          </a:p>
        </p:txBody>
      </p:sp>
      <p:sp>
        <p:nvSpPr>
          <p:cNvPr id="9" name="Shape 6"/>
          <p:cNvSpPr/>
          <p:nvPr/>
        </p:nvSpPr>
        <p:spPr>
          <a:xfrm>
            <a:off x="5029200" y="1463040"/>
            <a:ext cx="3749040" cy="347472"/>
          </a:xfrm>
          <a:prstGeom prst="rect">
            <a:avLst/>
          </a:prstGeom>
          <a:solidFill>
            <a:srgbClr val="F4FAFA"/>
          </a:solidFill>
          <a:ln/>
        </p:spPr>
      </p:sp>
      <p:sp>
        <p:nvSpPr>
          <p:cNvPr id="10" name="Text 7"/>
          <p:cNvSpPr/>
          <p:nvPr/>
        </p:nvSpPr>
        <p:spPr>
          <a:xfrm>
            <a:off x="5120640" y="1499616"/>
            <a:ext cx="2011680" cy="274320"/>
          </a:xfrm>
          <a:prstGeom prst="rect">
            <a:avLst/>
          </a:prstGeom>
          <a:noFill/>
          <a:ln/>
        </p:spPr>
        <p:txBody>
          <a:bodyPr wrap="square" rtlCol="0" anchor="ctr"/>
          <a:lstStyle/>
          <a:p>
            <a:pPr indent="0" marL="0">
              <a:buNone/>
            </a:pPr>
            <a:r>
              <a:rPr lang="en-US" sz="1100" dirty="0">
                <a:solidFill>
                  <a:srgbClr val="64748B"/>
                </a:solidFill>
              </a:rPr>
              <a:t>Mean Rating</a:t>
            </a:r>
            <a:endParaRPr lang="en-US" sz="1100" dirty="0"/>
          </a:p>
        </p:txBody>
      </p:sp>
      <p:sp>
        <p:nvSpPr>
          <p:cNvPr id="11" name="Text 8"/>
          <p:cNvSpPr/>
          <p:nvPr/>
        </p:nvSpPr>
        <p:spPr>
          <a:xfrm>
            <a:off x="7132320" y="1499616"/>
            <a:ext cx="1554480" cy="274320"/>
          </a:xfrm>
          <a:prstGeom prst="rect">
            <a:avLst/>
          </a:prstGeom>
          <a:noFill/>
          <a:ln/>
        </p:spPr>
        <p:txBody>
          <a:bodyPr wrap="square" rtlCol="0" anchor="ctr"/>
          <a:lstStyle/>
          <a:p>
            <a:pPr algn="r" indent="0" marL="0">
              <a:buNone/>
            </a:pPr>
            <a:r>
              <a:rPr lang="en-US" sz="1100" b="1" dirty="0">
                <a:solidFill>
                  <a:srgbClr val="028090"/>
                </a:solidFill>
              </a:rPr>
              <a:t>3.96 / 5.00</a:t>
            </a:r>
            <a:endParaRPr lang="en-US" sz="1100" dirty="0"/>
          </a:p>
        </p:txBody>
      </p:sp>
      <p:sp>
        <p:nvSpPr>
          <p:cNvPr id="12" name="Shape 9"/>
          <p:cNvSpPr/>
          <p:nvPr/>
        </p:nvSpPr>
        <p:spPr>
          <a:xfrm>
            <a:off x="5029200" y="1810512"/>
            <a:ext cx="3749040" cy="347472"/>
          </a:xfrm>
          <a:prstGeom prst="rect">
            <a:avLst/>
          </a:prstGeom>
          <a:solidFill>
            <a:srgbClr val="FFFFFF"/>
          </a:solidFill>
          <a:ln/>
        </p:spPr>
      </p:sp>
      <p:sp>
        <p:nvSpPr>
          <p:cNvPr id="13" name="Text 10"/>
          <p:cNvSpPr/>
          <p:nvPr/>
        </p:nvSpPr>
        <p:spPr>
          <a:xfrm>
            <a:off x="5120640" y="1847088"/>
            <a:ext cx="2011680" cy="274320"/>
          </a:xfrm>
          <a:prstGeom prst="rect">
            <a:avLst/>
          </a:prstGeom>
          <a:noFill/>
          <a:ln/>
        </p:spPr>
        <p:txBody>
          <a:bodyPr wrap="square" rtlCol="0" anchor="ctr"/>
          <a:lstStyle/>
          <a:p>
            <a:pPr indent="0" marL="0">
              <a:buNone/>
            </a:pPr>
            <a:r>
              <a:rPr lang="en-US" sz="1100" dirty="0">
                <a:solidFill>
                  <a:srgbClr val="64748B"/>
                </a:solidFill>
              </a:rPr>
              <a:t>Median Rating</a:t>
            </a:r>
            <a:endParaRPr lang="en-US" sz="1100" dirty="0"/>
          </a:p>
        </p:txBody>
      </p:sp>
      <p:sp>
        <p:nvSpPr>
          <p:cNvPr id="14" name="Text 11"/>
          <p:cNvSpPr/>
          <p:nvPr/>
        </p:nvSpPr>
        <p:spPr>
          <a:xfrm>
            <a:off x="7132320" y="1847088"/>
            <a:ext cx="1554480" cy="274320"/>
          </a:xfrm>
          <a:prstGeom prst="rect">
            <a:avLst/>
          </a:prstGeom>
          <a:noFill/>
          <a:ln/>
        </p:spPr>
        <p:txBody>
          <a:bodyPr wrap="square" rtlCol="0" anchor="ctr"/>
          <a:lstStyle/>
          <a:p>
            <a:pPr algn="r" indent="0" marL="0">
              <a:buNone/>
            </a:pPr>
            <a:r>
              <a:rPr lang="en-US" sz="1100" b="1" dirty="0">
                <a:solidFill>
                  <a:srgbClr val="028090"/>
                </a:solidFill>
              </a:rPr>
              <a:t>4.00 / 5.00</a:t>
            </a:r>
            <a:endParaRPr lang="en-US" sz="1100" dirty="0"/>
          </a:p>
        </p:txBody>
      </p:sp>
      <p:sp>
        <p:nvSpPr>
          <p:cNvPr id="15" name="Shape 12"/>
          <p:cNvSpPr/>
          <p:nvPr/>
        </p:nvSpPr>
        <p:spPr>
          <a:xfrm>
            <a:off x="5029200" y="2157984"/>
            <a:ext cx="3749040" cy="347472"/>
          </a:xfrm>
          <a:prstGeom prst="rect">
            <a:avLst/>
          </a:prstGeom>
          <a:solidFill>
            <a:srgbClr val="F4FAFA"/>
          </a:solidFill>
          <a:ln/>
        </p:spPr>
      </p:sp>
      <p:sp>
        <p:nvSpPr>
          <p:cNvPr id="16" name="Text 13"/>
          <p:cNvSpPr/>
          <p:nvPr/>
        </p:nvSpPr>
        <p:spPr>
          <a:xfrm>
            <a:off x="5120640" y="2194560"/>
            <a:ext cx="2011680" cy="274320"/>
          </a:xfrm>
          <a:prstGeom prst="rect">
            <a:avLst/>
          </a:prstGeom>
          <a:noFill/>
          <a:ln/>
        </p:spPr>
        <p:txBody>
          <a:bodyPr wrap="square" rtlCol="0" anchor="ctr"/>
          <a:lstStyle/>
          <a:p>
            <a:pPr indent="0" marL="0">
              <a:buNone/>
            </a:pPr>
            <a:r>
              <a:rPr lang="en-US" sz="1100" dirty="0">
                <a:solidFill>
                  <a:srgbClr val="64748B"/>
                </a:solidFill>
              </a:rPr>
              <a:t>Mode</a:t>
            </a:r>
            <a:endParaRPr lang="en-US" sz="1100" dirty="0"/>
          </a:p>
        </p:txBody>
      </p:sp>
      <p:sp>
        <p:nvSpPr>
          <p:cNvPr id="17" name="Text 14"/>
          <p:cNvSpPr/>
          <p:nvPr/>
        </p:nvSpPr>
        <p:spPr>
          <a:xfrm>
            <a:off x="7132320" y="2194560"/>
            <a:ext cx="1554480" cy="274320"/>
          </a:xfrm>
          <a:prstGeom prst="rect">
            <a:avLst/>
          </a:prstGeom>
          <a:noFill/>
          <a:ln/>
        </p:spPr>
        <p:txBody>
          <a:bodyPr wrap="square" rtlCol="0" anchor="ctr"/>
          <a:lstStyle/>
          <a:p>
            <a:pPr algn="r" indent="0" marL="0">
              <a:buNone/>
            </a:pPr>
            <a:r>
              <a:rPr lang="en-US" sz="1100" b="1" dirty="0">
                <a:solidFill>
                  <a:srgbClr val="028090"/>
                </a:solidFill>
              </a:rPr>
              <a:t>5.0 stars</a:t>
            </a:r>
            <a:endParaRPr lang="en-US" sz="1100" dirty="0"/>
          </a:p>
        </p:txBody>
      </p:sp>
      <p:sp>
        <p:nvSpPr>
          <p:cNvPr id="18" name="Shape 15"/>
          <p:cNvSpPr/>
          <p:nvPr/>
        </p:nvSpPr>
        <p:spPr>
          <a:xfrm>
            <a:off x="5029200" y="2505456"/>
            <a:ext cx="3749040" cy="347472"/>
          </a:xfrm>
          <a:prstGeom prst="rect">
            <a:avLst/>
          </a:prstGeom>
          <a:solidFill>
            <a:srgbClr val="FFFFFF"/>
          </a:solidFill>
          <a:ln/>
        </p:spPr>
      </p:sp>
      <p:sp>
        <p:nvSpPr>
          <p:cNvPr id="19" name="Text 16"/>
          <p:cNvSpPr/>
          <p:nvPr/>
        </p:nvSpPr>
        <p:spPr>
          <a:xfrm>
            <a:off x="5120640" y="2542032"/>
            <a:ext cx="2011680" cy="274320"/>
          </a:xfrm>
          <a:prstGeom prst="rect">
            <a:avLst/>
          </a:prstGeom>
          <a:noFill/>
          <a:ln/>
        </p:spPr>
        <p:txBody>
          <a:bodyPr wrap="square" rtlCol="0" anchor="ctr"/>
          <a:lstStyle/>
          <a:p>
            <a:pPr indent="0" marL="0">
              <a:buNone/>
            </a:pPr>
            <a:r>
              <a:rPr lang="en-US" sz="1100" dirty="0">
                <a:solidFill>
                  <a:srgbClr val="64748B"/>
                </a:solidFill>
              </a:rPr>
              <a:t>Std Deviation</a:t>
            </a:r>
            <a:endParaRPr lang="en-US" sz="1100" dirty="0"/>
          </a:p>
        </p:txBody>
      </p:sp>
      <p:sp>
        <p:nvSpPr>
          <p:cNvPr id="20" name="Text 17"/>
          <p:cNvSpPr/>
          <p:nvPr/>
        </p:nvSpPr>
        <p:spPr>
          <a:xfrm>
            <a:off x="7132320" y="2542032"/>
            <a:ext cx="1554480" cy="274320"/>
          </a:xfrm>
          <a:prstGeom prst="rect">
            <a:avLst/>
          </a:prstGeom>
          <a:noFill/>
          <a:ln/>
        </p:spPr>
        <p:txBody>
          <a:bodyPr wrap="square" rtlCol="0" anchor="ctr"/>
          <a:lstStyle/>
          <a:p>
            <a:pPr algn="r" indent="0" marL="0">
              <a:buNone/>
            </a:pPr>
            <a:r>
              <a:rPr lang="en-US" sz="1100" b="1" dirty="0">
                <a:solidFill>
                  <a:srgbClr val="028090"/>
                </a:solidFill>
              </a:rPr>
              <a:t>0.73</a:t>
            </a:r>
            <a:endParaRPr lang="en-US" sz="1100" dirty="0"/>
          </a:p>
        </p:txBody>
      </p:sp>
      <p:sp>
        <p:nvSpPr>
          <p:cNvPr id="21" name="Shape 18"/>
          <p:cNvSpPr/>
          <p:nvPr/>
        </p:nvSpPr>
        <p:spPr>
          <a:xfrm>
            <a:off x="5029200" y="2852928"/>
            <a:ext cx="3749040" cy="347472"/>
          </a:xfrm>
          <a:prstGeom prst="rect">
            <a:avLst/>
          </a:prstGeom>
          <a:solidFill>
            <a:srgbClr val="F4FAFA"/>
          </a:solidFill>
          <a:ln/>
        </p:spPr>
      </p:sp>
      <p:sp>
        <p:nvSpPr>
          <p:cNvPr id="22" name="Text 19"/>
          <p:cNvSpPr/>
          <p:nvPr/>
        </p:nvSpPr>
        <p:spPr>
          <a:xfrm>
            <a:off x="5120640" y="2889504"/>
            <a:ext cx="2011680" cy="274320"/>
          </a:xfrm>
          <a:prstGeom prst="rect">
            <a:avLst/>
          </a:prstGeom>
          <a:noFill/>
          <a:ln/>
        </p:spPr>
        <p:txBody>
          <a:bodyPr wrap="square" rtlCol="0" anchor="ctr"/>
          <a:lstStyle/>
          <a:p>
            <a:pPr indent="0" marL="0">
              <a:buNone/>
            </a:pPr>
            <a:r>
              <a:rPr lang="en-US" sz="1100" dirty="0">
                <a:solidFill>
                  <a:srgbClr val="64748B"/>
                </a:solidFill>
              </a:rPr>
              <a:t>1–2 Star Ratings</a:t>
            </a:r>
            <a:endParaRPr lang="en-US" sz="1100" dirty="0"/>
          </a:p>
        </p:txBody>
      </p:sp>
      <p:sp>
        <p:nvSpPr>
          <p:cNvPr id="23" name="Text 20"/>
          <p:cNvSpPr/>
          <p:nvPr/>
        </p:nvSpPr>
        <p:spPr>
          <a:xfrm>
            <a:off x="7132320" y="2889504"/>
            <a:ext cx="1554480" cy="274320"/>
          </a:xfrm>
          <a:prstGeom prst="rect">
            <a:avLst/>
          </a:prstGeom>
          <a:noFill/>
          <a:ln/>
        </p:spPr>
        <p:txBody>
          <a:bodyPr wrap="square" rtlCol="0" anchor="ctr"/>
          <a:lstStyle/>
          <a:p>
            <a:pPr algn="r" indent="0" marL="0">
              <a:buNone/>
            </a:pPr>
            <a:r>
              <a:rPr lang="en-US" sz="1100" b="1" dirty="0">
                <a:solidFill>
                  <a:srgbClr val="028090"/>
                </a:solidFill>
              </a:rPr>
              <a:t>0.5% (529 records)</a:t>
            </a:r>
            <a:endParaRPr lang="en-US" sz="1100" dirty="0"/>
          </a:p>
        </p:txBody>
      </p:sp>
      <p:sp>
        <p:nvSpPr>
          <p:cNvPr id="24" name="Shape 21"/>
          <p:cNvSpPr/>
          <p:nvPr/>
        </p:nvSpPr>
        <p:spPr>
          <a:xfrm>
            <a:off x="5029200" y="3200400"/>
            <a:ext cx="3749040" cy="347472"/>
          </a:xfrm>
          <a:prstGeom prst="rect">
            <a:avLst/>
          </a:prstGeom>
          <a:solidFill>
            <a:srgbClr val="FFFFFF"/>
          </a:solidFill>
          <a:ln/>
        </p:spPr>
      </p:sp>
      <p:sp>
        <p:nvSpPr>
          <p:cNvPr id="25" name="Text 22"/>
          <p:cNvSpPr/>
          <p:nvPr/>
        </p:nvSpPr>
        <p:spPr>
          <a:xfrm>
            <a:off x="5120640" y="3236976"/>
            <a:ext cx="2011680" cy="274320"/>
          </a:xfrm>
          <a:prstGeom prst="rect">
            <a:avLst/>
          </a:prstGeom>
          <a:noFill/>
          <a:ln/>
        </p:spPr>
        <p:txBody>
          <a:bodyPr wrap="square" rtlCol="0" anchor="ctr"/>
          <a:lstStyle/>
          <a:p>
            <a:pPr indent="0" marL="0">
              <a:buNone/>
            </a:pPr>
            <a:r>
              <a:rPr lang="en-US" sz="1100" dirty="0">
                <a:solidFill>
                  <a:srgbClr val="64748B"/>
                </a:solidFill>
              </a:rPr>
              <a:t>2–3 Star Ratings</a:t>
            </a:r>
            <a:endParaRPr lang="en-US" sz="1100" dirty="0"/>
          </a:p>
        </p:txBody>
      </p:sp>
      <p:sp>
        <p:nvSpPr>
          <p:cNvPr id="26" name="Text 23"/>
          <p:cNvSpPr/>
          <p:nvPr/>
        </p:nvSpPr>
        <p:spPr>
          <a:xfrm>
            <a:off x="7132320" y="3236976"/>
            <a:ext cx="1554480" cy="274320"/>
          </a:xfrm>
          <a:prstGeom prst="rect">
            <a:avLst/>
          </a:prstGeom>
          <a:noFill/>
          <a:ln/>
        </p:spPr>
        <p:txBody>
          <a:bodyPr wrap="square" rtlCol="0" anchor="ctr"/>
          <a:lstStyle/>
          <a:p>
            <a:pPr algn="r" indent="0" marL="0">
              <a:buNone/>
            </a:pPr>
            <a:r>
              <a:rPr lang="en-US" sz="1100" b="1" dirty="0">
                <a:solidFill>
                  <a:srgbClr val="028090"/>
                </a:solidFill>
              </a:rPr>
              <a:t>9.1% (9,056 records)</a:t>
            </a:r>
            <a:endParaRPr lang="en-US" sz="1100" dirty="0"/>
          </a:p>
        </p:txBody>
      </p:sp>
      <p:sp>
        <p:nvSpPr>
          <p:cNvPr id="27" name="Shape 24"/>
          <p:cNvSpPr/>
          <p:nvPr/>
        </p:nvSpPr>
        <p:spPr>
          <a:xfrm>
            <a:off x="5029200" y="3547872"/>
            <a:ext cx="3749040" cy="347472"/>
          </a:xfrm>
          <a:prstGeom prst="rect">
            <a:avLst/>
          </a:prstGeom>
          <a:solidFill>
            <a:srgbClr val="F4FAFA"/>
          </a:solidFill>
          <a:ln/>
        </p:spPr>
      </p:sp>
      <p:sp>
        <p:nvSpPr>
          <p:cNvPr id="28" name="Text 25"/>
          <p:cNvSpPr/>
          <p:nvPr/>
        </p:nvSpPr>
        <p:spPr>
          <a:xfrm>
            <a:off x="5120640" y="3584448"/>
            <a:ext cx="2011680" cy="274320"/>
          </a:xfrm>
          <a:prstGeom prst="rect">
            <a:avLst/>
          </a:prstGeom>
          <a:noFill/>
          <a:ln/>
        </p:spPr>
        <p:txBody>
          <a:bodyPr wrap="square" rtlCol="0" anchor="ctr"/>
          <a:lstStyle/>
          <a:p>
            <a:pPr indent="0" marL="0">
              <a:buNone/>
            </a:pPr>
            <a:r>
              <a:rPr lang="en-US" sz="1100" dirty="0">
                <a:solidFill>
                  <a:srgbClr val="64748B"/>
                </a:solidFill>
              </a:rPr>
              <a:t>3–4 Star Ratings</a:t>
            </a:r>
            <a:endParaRPr lang="en-US" sz="1100" dirty="0"/>
          </a:p>
        </p:txBody>
      </p:sp>
      <p:sp>
        <p:nvSpPr>
          <p:cNvPr id="29" name="Text 26"/>
          <p:cNvSpPr/>
          <p:nvPr/>
        </p:nvSpPr>
        <p:spPr>
          <a:xfrm>
            <a:off x="7132320" y="3584448"/>
            <a:ext cx="1554480" cy="274320"/>
          </a:xfrm>
          <a:prstGeom prst="rect">
            <a:avLst/>
          </a:prstGeom>
          <a:noFill/>
          <a:ln/>
        </p:spPr>
        <p:txBody>
          <a:bodyPr wrap="square" rtlCol="0" anchor="ctr"/>
          <a:lstStyle/>
          <a:p>
            <a:pPr algn="r" indent="0" marL="0">
              <a:buNone/>
            </a:pPr>
            <a:r>
              <a:rPr lang="en-US" sz="1100" b="1" dirty="0">
                <a:solidFill>
                  <a:srgbClr val="028090"/>
                </a:solidFill>
              </a:rPr>
              <a:t>37.8% (37,777 records)</a:t>
            </a:r>
            <a:endParaRPr lang="en-US" sz="1100" dirty="0"/>
          </a:p>
        </p:txBody>
      </p:sp>
      <p:sp>
        <p:nvSpPr>
          <p:cNvPr id="30" name="Shape 27"/>
          <p:cNvSpPr/>
          <p:nvPr/>
        </p:nvSpPr>
        <p:spPr>
          <a:xfrm>
            <a:off x="5029200" y="3895344"/>
            <a:ext cx="3749040" cy="347472"/>
          </a:xfrm>
          <a:prstGeom prst="rect">
            <a:avLst/>
          </a:prstGeom>
          <a:solidFill>
            <a:srgbClr val="FFFFFF"/>
          </a:solidFill>
          <a:ln/>
        </p:spPr>
      </p:sp>
      <p:sp>
        <p:nvSpPr>
          <p:cNvPr id="31" name="Text 28"/>
          <p:cNvSpPr/>
          <p:nvPr/>
        </p:nvSpPr>
        <p:spPr>
          <a:xfrm>
            <a:off x="5120640" y="3931920"/>
            <a:ext cx="2011680" cy="274320"/>
          </a:xfrm>
          <a:prstGeom prst="rect">
            <a:avLst/>
          </a:prstGeom>
          <a:noFill/>
          <a:ln/>
        </p:spPr>
        <p:txBody>
          <a:bodyPr wrap="square" rtlCol="0" anchor="ctr"/>
          <a:lstStyle/>
          <a:p>
            <a:pPr indent="0" marL="0">
              <a:buNone/>
            </a:pPr>
            <a:r>
              <a:rPr lang="en-US" sz="1100" dirty="0">
                <a:solidFill>
                  <a:srgbClr val="64748B"/>
                </a:solidFill>
              </a:rPr>
              <a:t>4–5 Star Ratings</a:t>
            </a:r>
            <a:endParaRPr lang="en-US" sz="1100" dirty="0"/>
          </a:p>
        </p:txBody>
      </p:sp>
      <p:sp>
        <p:nvSpPr>
          <p:cNvPr id="32" name="Text 29"/>
          <p:cNvSpPr/>
          <p:nvPr/>
        </p:nvSpPr>
        <p:spPr>
          <a:xfrm>
            <a:off x="7132320" y="3931920"/>
            <a:ext cx="1554480" cy="274320"/>
          </a:xfrm>
          <a:prstGeom prst="rect">
            <a:avLst/>
          </a:prstGeom>
          <a:noFill/>
          <a:ln/>
        </p:spPr>
        <p:txBody>
          <a:bodyPr wrap="square" rtlCol="0" anchor="ctr"/>
          <a:lstStyle/>
          <a:p>
            <a:pPr algn="r" indent="0" marL="0">
              <a:buNone/>
            </a:pPr>
            <a:r>
              <a:rPr lang="en-US" sz="1100" b="1" dirty="0">
                <a:solidFill>
                  <a:srgbClr val="028090"/>
                </a:solidFill>
              </a:rPr>
              <a:t>52.6% (52,638 records)</a:t>
            </a:r>
            <a:endParaRPr lang="en-US" sz="1100" dirty="0"/>
          </a:p>
        </p:txBody>
      </p:sp>
      <p:sp>
        <p:nvSpPr>
          <p:cNvPr id="33" name="Shape 30"/>
          <p:cNvSpPr/>
          <p:nvPr/>
        </p:nvSpPr>
        <p:spPr>
          <a:xfrm>
            <a:off x="320040" y="4315968"/>
            <a:ext cx="8503920" cy="457200"/>
          </a:xfrm>
          <a:prstGeom prst="rect">
            <a:avLst/>
          </a:prstGeom>
          <a:solidFill>
            <a:srgbClr val="10B981">
              <a:alpha val="15000"/>
            </a:srgbClr>
          </a:solidFill>
          <a:ln/>
        </p:spPr>
      </p:sp>
      <p:sp>
        <p:nvSpPr>
          <p:cNvPr id="34" name="Text 31"/>
          <p:cNvSpPr/>
          <p:nvPr/>
        </p:nvSpPr>
        <p:spPr>
          <a:xfrm>
            <a:off x="411480" y="4315968"/>
            <a:ext cx="8321040" cy="457200"/>
          </a:xfrm>
          <a:prstGeom prst="rect">
            <a:avLst/>
          </a:prstGeom>
          <a:noFill/>
          <a:ln/>
        </p:spPr>
        <p:txBody>
          <a:bodyPr wrap="square" rtlCol="0" anchor="ctr"/>
          <a:lstStyle/>
          <a:p>
            <a:pPr indent="0" marL="0">
              <a:buNone/>
            </a:pPr>
            <a:r>
              <a:rPr lang="en-US" sz="1100" i="1" dirty="0">
                <a:solidFill>
                  <a:srgbClr val="1E293B"/>
                </a:solidFill>
              </a:rPr>
              <a:t>✅ Ratings are well-distributed (not all 5-stars) — a healthy, usable signal for training recommendation models.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EDA — COURSE DISTRIBUTION (FROM APPLICATION)</a:t>
            </a:r>
            <a:endParaRPr lang="en-US" sz="2200" dirty="0"/>
          </a:p>
        </p:txBody>
      </p:sp>
      <p:sp>
        <p:nvSpPr>
          <p:cNvPr id="4" name="Shape 2"/>
          <p:cNvSpPr/>
          <p:nvPr/>
        </p:nvSpPr>
        <p:spPr>
          <a:xfrm>
            <a:off x="0" y="777240"/>
            <a:ext cx="164592" cy="4366260"/>
          </a:xfrm>
          <a:prstGeom prst="rect">
            <a:avLst/>
          </a:prstGeom>
          <a:solidFill>
            <a:srgbClr val="028090"/>
          </a:solidFill>
          <a:ln/>
        </p:spPr>
      </p:sp>
      <p:pic>
        <p:nvPicPr>
          <p:cNvPr id="5" name="Image 0" descr="preencoded.png">    </p:cNvPr>
          <p:cNvPicPr>
            <a:picLocks noChangeAspect="1"/>
          </p:cNvPicPr>
          <p:nvPr/>
        </p:nvPicPr>
        <p:blipFill>
          <a:blip r:embed="rId1"/>
          <a:srcRect l="0" r="0" t="0" b="0"/>
          <a:stretch/>
        </p:blipFill>
        <p:spPr>
          <a:xfrm>
            <a:off x="365760" y="914400"/>
            <a:ext cx="8412480" cy="3017520"/>
          </a:xfrm>
          <a:prstGeom prst="rect">
            <a:avLst/>
          </a:prstGeom>
        </p:spPr>
      </p:pic>
      <p:sp>
        <p:nvSpPr>
          <p:cNvPr id="6" name="Shape 3"/>
          <p:cNvSpPr/>
          <p:nvPr/>
        </p:nvSpPr>
        <p:spPr>
          <a:xfrm>
            <a:off x="320040" y="4041648"/>
            <a:ext cx="4160520" cy="777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4"/>
          <p:cNvSpPr/>
          <p:nvPr/>
        </p:nvSpPr>
        <p:spPr>
          <a:xfrm>
            <a:off x="320040" y="4041648"/>
            <a:ext cx="109728" cy="777240"/>
          </a:xfrm>
          <a:prstGeom prst="rect">
            <a:avLst/>
          </a:prstGeom>
          <a:solidFill>
            <a:srgbClr val="028090"/>
          </a:solidFill>
          <a:ln/>
        </p:spPr>
      </p:sp>
      <p:sp>
        <p:nvSpPr>
          <p:cNvPr id="8" name="Text 5"/>
          <p:cNvSpPr/>
          <p:nvPr/>
        </p:nvSpPr>
        <p:spPr>
          <a:xfrm>
            <a:off x="502920" y="4078224"/>
            <a:ext cx="3840480" cy="274320"/>
          </a:xfrm>
          <a:prstGeom prst="rect">
            <a:avLst/>
          </a:prstGeom>
          <a:noFill/>
          <a:ln/>
        </p:spPr>
        <p:txBody>
          <a:bodyPr wrap="square" rtlCol="0" anchor="ctr"/>
          <a:lstStyle/>
          <a:p>
            <a:pPr indent="0" marL="0">
              <a:buNone/>
            </a:pPr>
            <a:r>
              <a:rPr lang="en-US" sz="1100" b="1" dirty="0">
                <a:solidFill>
                  <a:srgbClr val="028090"/>
                </a:solidFill>
              </a:rPr>
              <a:t>Courses by Difficulty</a:t>
            </a:r>
            <a:endParaRPr lang="en-US" sz="1100" dirty="0"/>
          </a:p>
        </p:txBody>
      </p:sp>
      <p:sp>
        <p:nvSpPr>
          <p:cNvPr id="9" name="Text 6"/>
          <p:cNvSpPr/>
          <p:nvPr/>
        </p:nvSpPr>
        <p:spPr>
          <a:xfrm>
            <a:off x="502920" y="4325112"/>
            <a:ext cx="3840480" cy="420624"/>
          </a:xfrm>
          <a:prstGeom prst="rect">
            <a:avLst/>
          </a:prstGeom>
          <a:noFill/>
          <a:ln/>
        </p:spPr>
        <p:txBody>
          <a:bodyPr wrap="square" rtlCol="0" anchor="ctr"/>
          <a:lstStyle/>
          <a:p>
            <a:pPr indent="0" marL="0">
              <a:buNone/>
            </a:pPr>
            <a:r>
              <a:rPr lang="en-US" sz="950" dirty="0">
                <a:solidFill>
                  <a:srgbClr val="1E293B"/>
                </a:solidFill>
              </a:rPr>
              <a:t>Beginner-level courses dominate with ~50K enrollments. Intermediate: ~30K, Advanced: ~20K. The dataset is front-loaded towards entry-level learners.</a:t>
            </a:r>
            <a:endParaRPr lang="en-US" sz="950" dirty="0"/>
          </a:p>
        </p:txBody>
      </p:sp>
      <p:sp>
        <p:nvSpPr>
          <p:cNvPr id="10" name="Shape 7"/>
          <p:cNvSpPr/>
          <p:nvPr/>
        </p:nvSpPr>
        <p:spPr>
          <a:xfrm>
            <a:off x="4663440" y="4041648"/>
            <a:ext cx="4160520" cy="777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8"/>
          <p:cNvSpPr/>
          <p:nvPr/>
        </p:nvSpPr>
        <p:spPr>
          <a:xfrm>
            <a:off x="4663440" y="4041648"/>
            <a:ext cx="109728" cy="777240"/>
          </a:xfrm>
          <a:prstGeom prst="rect">
            <a:avLst/>
          </a:prstGeom>
          <a:solidFill>
            <a:srgbClr val="02C39A"/>
          </a:solidFill>
          <a:ln/>
        </p:spPr>
      </p:sp>
      <p:sp>
        <p:nvSpPr>
          <p:cNvPr id="12" name="Text 9"/>
          <p:cNvSpPr/>
          <p:nvPr/>
        </p:nvSpPr>
        <p:spPr>
          <a:xfrm>
            <a:off x="4846320" y="4078224"/>
            <a:ext cx="3840480" cy="274320"/>
          </a:xfrm>
          <a:prstGeom prst="rect">
            <a:avLst/>
          </a:prstGeom>
          <a:noFill/>
          <a:ln/>
        </p:spPr>
        <p:txBody>
          <a:bodyPr wrap="square" rtlCol="0" anchor="ctr"/>
          <a:lstStyle/>
          <a:p>
            <a:pPr indent="0" marL="0">
              <a:buNone/>
            </a:pPr>
            <a:r>
              <a:rPr lang="en-US" sz="1100" b="1" dirty="0">
                <a:solidFill>
                  <a:srgbClr val="02C39A"/>
                </a:solidFill>
              </a:rPr>
              <a:t>Courses with/without Certification</a:t>
            </a:r>
            <a:endParaRPr lang="en-US" sz="1100" dirty="0"/>
          </a:p>
        </p:txBody>
      </p:sp>
      <p:sp>
        <p:nvSpPr>
          <p:cNvPr id="13" name="Text 10"/>
          <p:cNvSpPr/>
          <p:nvPr/>
        </p:nvSpPr>
        <p:spPr>
          <a:xfrm>
            <a:off x="4846320" y="4325112"/>
            <a:ext cx="3840480" cy="420624"/>
          </a:xfrm>
          <a:prstGeom prst="rect">
            <a:avLst/>
          </a:prstGeom>
          <a:noFill/>
          <a:ln/>
        </p:spPr>
        <p:txBody>
          <a:bodyPr wrap="square" rtlCol="0" anchor="ctr"/>
          <a:lstStyle/>
          <a:p>
            <a:pPr indent="0" marL="0">
              <a:buNone/>
            </a:pPr>
            <a:r>
              <a:rPr lang="en-US" sz="950" dirty="0">
                <a:solidFill>
                  <a:srgbClr val="1E293B"/>
                </a:solidFill>
              </a:rPr>
              <a:t>70% of enrollments are in certification-offering courses (~70K vs ~30K). This signals learner preference for credentialed outcomes.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EDA — FEATURE CORRELATION ANALYSIS</a:t>
            </a:r>
            <a:endParaRPr lang="en-US" sz="2400" dirty="0"/>
          </a:p>
        </p:txBody>
      </p:sp>
      <p:sp>
        <p:nvSpPr>
          <p:cNvPr id="4" name="Shape 2"/>
          <p:cNvSpPr/>
          <p:nvPr/>
        </p:nvSpPr>
        <p:spPr>
          <a:xfrm>
            <a:off x="0" y="777240"/>
            <a:ext cx="164592" cy="4366260"/>
          </a:xfrm>
          <a:prstGeom prst="rect">
            <a:avLst/>
          </a:prstGeom>
          <a:solidFill>
            <a:srgbClr val="028090"/>
          </a:solidFill>
          <a:ln/>
        </p:spPr>
      </p:sp>
      <p:graphicFrame>
        <p:nvGraphicFramePr>
          <p:cNvPr id="5" name="Chart 0" descr=""/>
          <p:cNvGraphicFramePr/>
          <p:nvPr/>
        </p:nvGraphicFramePr>
        <p:xfrm>
          <a:off x="320040" y="914400"/>
          <a:ext cx="502920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77840" y="914400"/>
            <a:ext cx="3246120" cy="3291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4"/>
          <p:cNvSpPr/>
          <p:nvPr/>
        </p:nvSpPr>
        <p:spPr>
          <a:xfrm>
            <a:off x="5577840" y="914400"/>
            <a:ext cx="3246120" cy="438912"/>
          </a:xfrm>
          <a:prstGeom prst="rect">
            <a:avLst/>
          </a:prstGeom>
          <a:solidFill>
            <a:srgbClr val="EF4444"/>
          </a:solidFill>
          <a:ln/>
        </p:spPr>
      </p:sp>
      <p:sp>
        <p:nvSpPr>
          <p:cNvPr id="8" name="Text 5"/>
          <p:cNvSpPr/>
          <p:nvPr/>
        </p:nvSpPr>
        <p:spPr>
          <a:xfrm>
            <a:off x="5577840" y="914400"/>
            <a:ext cx="3246120" cy="438912"/>
          </a:xfrm>
          <a:prstGeom prst="rect">
            <a:avLst/>
          </a:prstGeom>
          <a:noFill/>
          <a:ln/>
        </p:spPr>
        <p:txBody>
          <a:bodyPr wrap="square" lIns="0" tIns="0" rIns="0" bIns="0" rtlCol="0" anchor="ctr"/>
          <a:lstStyle/>
          <a:p>
            <a:pPr algn="ctr" indent="0" marL="0">
              <a:buNone/>
            </a:pPr>
            <a:r>
              <a:rPr lang="en-US" sz="1300" b="1" dirty="0">
                <a:solidFill>
                  <a:srgbClr val="FFFFFF"/>
                </a:solidFill>
              </a:rPr>
              <a:t>Critical Findings</a:t>
            </a:r>
            <a:endParaRPr lang="en-US" sz="1300" dirty="0"/>
          </a:p>
        </p:txBody>
      </p:sp>
      <p:sp>
        <p:nvSpPr>
          <p:cNvPr id="9" name="Text 6"/>
          <p:cNvSpPr/>
          <p:nvPr/>
        </p:nvSpPr>
        <p:spPr>
          <a:xfrm>
            <a:off x="5669280" y="1444752"/>
            <a:ext cx="3063240" cy="2651760"/>
          </a:xfrm>
          <a:prstGeom prst="rect">
            <a:avLst/>
          </a:prstGeom>
          <a:noFill/>
          <a:ln/>
        </p:spPr>
        <p:txBody>
          <a:bodyPr wrap="square" rtlCol="0" anchor="ctr"/>
          <a:lstStyle/>
          <a:p>
            <a:pPr indent="0" marL="0">
              <a:spcAft>
                <a:spcPts val="800"/>
              </a:spcAft>
              <a:buNone/>
            </a:pPr>
            <a:r>
              <a:rPr lang="en-US" sz="1050" dirty="0">
                <a:solidFill>
                  <a:srgbClr val="1E293B"/>
                </a:solidFill>
              </a:rPr>
              <a:t>• All feature correlations are close to ZERO — none are statistically significant</a:t>
            </a:r>
            <a:endParaRPr lang="en-US" sz="1050" dirty="0"/>
          </a:p>
          <a:p>
            <a:pPr indent="0" marL="0">
              <a:spcAft>
                <a:spcPts val="800"/>
              </a:spcAft>
              <a:buNone/>
            </a:pPr>
            <a:r>
              <a:rPr lang="en-US" sz="1050" dirty="0">
                <a:solidFill>
                  <a:srgbClr val="1E293B"/>
                </a:solidFill>
              </a:rPr>
              <a:t>• Course price does not influence user satisfaction</a:t>
            </a:r>
            <a:endParaRPr lang="en-US" sz="1050" dirty="0"/>
          </a:p>
          <a:p>
            <a:pPr indent="0" marL="0">
              <a:spcAft>
                <a:spcPts val="800"/>
              </a:spcAft>
              <a:buNone/>
            </a:pPr>
            <a:r>
              <a:rPr lang="en-US" sz="1050" dirty="0">
                <a:solidFill>
                  <a:srgbClr val="1E293B"/>
                </a:solidFill>
              </a:rPr>
              <a:t>• Longer courses don't mean better ratings</a:t>
            </a:r>
            <a:endParaRPr lang="en-US" sz="1050" dirty="0"/>
          </a:p>
          <a:p>
            <a:pPr indent="0" marL="0">
              <a:spcAft>
                <a:spcPts val="800"/>
              </a:spcAft>
              <a:buNone/>
            </a:pPr>
            <a:r>
              <a:rPr lang="en-US" sz="1050" dirty="0">
                <a:solidFill>
                  <a:srgbClr val="1E293B"/>
                </a:solidFill>
              </a:rPr>
              <a:t>• Feedback score and rating are nearly independent</a:t>
            </a:r>
            <a:endParaRPr lang="en-US" sz="1050" dirty="0"/>
          </a:p>
          <a:p>
            <a:pPr indent="0" marL="0">
              <a:spcAft>
                <a:spcPts val="800"/>
              </a:spcAft>
              <a:buNone/>
            </a:pPr>
            <a:r>
              <a:rPr lang="en-US" sz="1050" dirty="0">
                <a:solidFill>
                  <a:srgbClr val="1E293B"/>
                </a:solidFill>
              </a:rPr>
              <a:t>• User preferences cannot be predicted from course metadata alone</a:t>
            </a:r>
            <a:endParaRPr lang="en-US" sz="1050" dirty="0"/>
          </a:p>
          <a:p>
            <a:pPr indent="0" marL="0">
              <a:spcAft>
                <a:spcPts val="800"/>
              </a:spcAft>
              <a:buNone/>
            </a:pPr>
            <a:r>
              <a:rPr lang="en-US" sz="1050" dirty="0">
                <a:solidFill>
                  <a:srgbClr val="1E293B"/>
                </a:solidFill>
              </a:rPr>
              <a:t>• Content-based filtering must rely on structural similarity, not features</a:t>
            </a:r>
            <a:endParaRPr lang="en-US" sz="1050" dirty="0"/>
          </a:p>
        </p:txBody>
      </p:sp>
      <p:sp>
        <p:nvSpPr>
          <p:cNvPr id="10" name="Shape 7"/>
          <p:cNvSpPr/>
          <p:nvPr/>
        </p:nvSpPr>
        <p:spPr>
          <a:xfrm>
            <a:off x="320040" y="4297680"/>
            <a:ext cx="8503920" cy="457200"/>
          </a:xfrm>
          <a:prstGeom prst="rect">
            <a:avLst/>
          </a:prstGeom>
          <a:solidFill>
            <a:srgbClr val="EF4444">
              <a:alpha val="15000"/>
            </a:srgbClr>
          </a:solidFill>
          <a:ln/>
        </p:spPr>
      </p:sp>
      <p:sp>
        <p:nvSpPr>
          <p:cNvPr id="11" name="Text 8"/>
          <p:cNvSpPr/>
          <p:nvPr/>
        </p:nvSpPr>
        <p:spPr>
          <a:xfrm>
            <a:off x="411480" y="4297680"/>
            <a:ext cx="8321040" cy="457200"/>
          </a:xfrm>
          <a:prstGeom prst="rect">
            <a:avLst/>
          </a:prstGeom>
          <a:noFill/>
          <a:ln/>
        </p:spPr>
        <p:txBody>
          <a:bodyPr wrap="square" rtlCol="0" anchor="ctr"/>
          <a:lstStyle/>
          <a:p>
            <a:pPr indent="0" marL="0">
              <a:buNone/>
            </a:pPr>
            <a:r>
              <a:rPr lang="en-US" sz="1100" i="1" dirty="0">
                <a:solidFill>
                  <a:srgbClr val="1E293B"/>
                </a:solidFill>
              </a:rPr>
              <a:t>⚠️  Zero-correlation features eliminate metadata-driven predictions — content similarity must come from structural/categorical matching instead.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EDA — MATRIX SPARSITY &amp; CF FEASIBILITY</a:t>
            </a:r>
            <a:endParaRPr lang="en-US" sz="24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65760" y="914400"/>
            <a:ext cx="4206240" cy="3291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Text 4"/>
          <p:cNvSpPr/>
          <p:nvPr/>
        </p:nvSpPr>
        <p:spPr>
          <a:xfrm>
            <a:off x="365760" y="960120"/>
            <a:ext cx="4206240" cy="365760"/>
          </a:xfrm>
          <a:prstGeom prst="rect">
            <a:avLst/>
          </a:prstGeom>
          <a:noFill/>
          <a:ln/>
        </p:spPr>
        <p:txBody>
          <a:bodyPr wrap="square" rtlCol="0" anchor="ctr"/>
          <a:lstStyle/>
          <a:p>
            <a:pPr algn="ctr" indent="0" marL="0">
              <a:buNone/>
            </a:pPr>
            <a:r>
              <a:rPr lang="en-US" sz="1300" b="1" dirty="0">
                <a:solidFill>
                  <a:srgbClr val="028090"/>
                </a:solidFill>
              </a:rPr>
              <a:t>User-Course Matrix</a:t>
            </a:r>
            <a:endParaRPr lang="en-US" sz="1300" dirty="0"/>
          </a:p>
        </p:txBody>
      </p:sp>
      <p:sp>
        <p:nvSpPr>
          <p:cNvPr id="7" name="Shape 5"/>
          <p:cNvSpPr/>
          <p:nvPr/>
        </p:nvSpPr>
        <p:spPr>
          <a:xfrm>
            <a:off x="640080" y="1463040"/>
            <a:ext cx="3657600" cy="502920"/>
          </a:xfrm>
          <a:prstGeom prst="rect">
            <a:avLst/>
          </a:prstGeom>
          <a:solidFill>
            <a:srgbClr val="E2E8F0"/>
          </a:solidFill>
          <a:ln/>
        </p:spPr>
      </p:sp>
      <p:sp>
        <p:nvSpPr>
          <p:cNvPr id="8" name="Shape 6"/>
          <p:cNvSpPr/>
          <p:nvPr/>
        </p:nvSpPr>
        <p:spPr>
          <a:xfrm>
            <a:off x="640080" y="1463040"/>
            <a:ext cx="402336" cy="502920"/>
          </a:xfrm>
          <a:prstGeom prst="rect">
            <a:avLst/>
          </a:prstGeom>
          <a:solidFill>
            <a:srgbClr val="028090"/>
          </a:solidFill>
          <a:ln/>
        </p:spPr>
      </p:sp>
      <p:sp>
        <p:nvSpPr>
          <p:cNvPr id="9" name="Text 7"/>
          <p:cNvSpPr/>
          <p:nvPr/>
        </p:nvSpPr>
        <p:spPr>
          <a:xfrm>
            <a:off x="640080" y="1490472"/>
            <a:ext cx="402336" cy="457200"/>
          </a:xfrm>
          <a:prstGeom prst="rect">
            <a:avLst/>
          </a:prstGeom>
          <a:noFill/>
          <a:ln/>
        </p:spPr>
        <p:txBody>
          <a:bodyPr wrap="square" lIns="0" tIns="0" rIns="0" bIns="0" rtlCol="0" anchor="ctr"/>
          <a:lstStyle/>
          <a:p>
            <a:pPr algn="ctr" indent="0" marL="0">
              <a:buNone/>
            </a:pPr>
            <a:r>
              <a:rPr lang="en-US" sz="700" b="1" dirty="0">
                <a:solidFill>
                  <a:srgbClr val="FFFFFF"/>
                </a:solidFill>
              </a:rPr>
              <a:t>11%</a:t>
            </a:r>
            <a:endParaRPr lang="en-US" sz="700" dirty="0"/>
          </a:p>
        </p:txBody>
      </p:sp>
      <p:sp>
        <p:nvSpPr>
          <p:cNvPr id="10" name="Text 8"/>
          <p:cNvSpPr/>
          <p:nvPr/>
        </p:nvSpPr>
        <p:spPr>
          <a:xfrm>
            <a:off x="1097280" y="1508760"/>
            <a:ext cx="3108960" cy="365760"/>
          </a:xfrm>
          <a:prstGeom prst="rect">
            <a:avLst/>
          </a:prstGeom>
          <a:noFill/>
          <a:ln/>
        </p:spPr>
        <p:txBody>
          <a:bodyPr wrap="square" rtlCol="0" anchor="ctr"/>
          <a:lstStyle/>
          <a:p>
            <a:pPr indent="0" marL="0">
              <a:buNone/>
            </a:pPr>
            <a:r>
              <a:rPr lang="en-US" sz="1000" dirty="0">
                <a:solidFill>
                  <a:srgbClr val="64748B"/>
                </a:solidFill>
              </a:rPr>
              <a:t>89% Empty (Sparse)</a:t>
            </a:r>
            <a:endParaRPr lang="en-US" sz="1000" dirty="0"/>
          </a:p>
        </p:txBody>
      </p:sp>
      <p:sp>
        <p:nvSpPr>
          <p:cNvPr id="11" name="Shape 9"/>
          <p:cNvSpPr/>
          <p:nvPr/>
        </p:nvSpPr>
        <p:spPr>
          <a:xfrm>
            <a:off x="365760" y="2103120"/>
            <a:ext cx="4206240" cy="347472"/>
          </a:xfrm>
          <a:prstGeom prst="rect">
            <a:avLst/>
          </a:prstGeom>
          <a:solidFill>
            <a:srgbClr val="F4FAFA"/>
          </a:solidFill>
          <a:ln/>
        </p:spPr>
      </p:sp>
      <p:sp>
        <p:nvSpPr>
          <p:cNvPr id="12" name="Text 10"/>
          <p:cNvSpPr/>
          <p:nvPr/>
        </p:nvSpPr>
        <p:spPr>
          <a:xfrm>
            <a:off x="457200" y="2139696"/>
            <a:ext cx="2377440" cy="274320"/>
          </a:xfrm>
          <a:prstGeom prst="rect">
            <a:avLst/>
          </a:prstGeom>
          <a:noFill/>
          <a:ln/>
        </p:spPr>
        <p:txBody>
          <a:bodyPr wrap="square" rtlCol="0" anchor="ctr"/>
          <a:lstStyle/>
          <a:p>
            <a:pPr indent="0" marL="0">
              <a:buNone/>
            </a:pPr>
            <a:r>
              <a:rPr lang="en-US" sz="1050" dirty="0">
                <a:solidFill>
                  <a:srgbClr val="64748B"/>
                </a:solidFill>
              </a:rPr>
              <a:t>Matrix Shape</a:t>
            </a:r>
            <a:endParaRPr lang="en-US" sz="1050" dirty="0"/>
          </a:p>
        </p:txBody>
      </p:sp>
      <p:sp>
        <p:nvSpPr>
          <p:cNvPr id="13" name="Text 11"/>
          <p:cNvSpPr/>
          <p:nvPr/>
        </p:nvSpPr>
        <p:spPr>
          <a:xfrm>
            <a:off x="2834640" y="2139696"/>
            <a:ext cx="1645920" cy="274320"/>
          </a:xfrm>
          <a:prstGeom prst="rect">
            <a:avLst/>
          </a:prstGeom>
          <a:noFill/>
          <a:ln/>
        </p:spPr>
        <p:txBody>
          <a:bodyPr wrap="square" rtlCol="0" anchor="ctr"/>
          <a:lstStyle/>
          <a:p>
            <a:pPr algn="r" indent="0" marL="0">
              <a:buNone/>
            </a:pPr>
            <a:r>
              <a:rPr lang="en-US" sz="1050" b="1" dirty="0">
                <a:solidFill>
                  <a:srgbClr val="028090"/>
                </a:solidFill>
              </a:rPr>
              <a:t>43,242 users × 20 courses</a:t>
            </a:r>
            <a:endParaRPr lang="en-US" sz="1050" dirty="0"/>
          </a:p>
        </p:txBody>
      </p:sp>
      <p:sp>
        <p:nvSpPr>
          <p:cNvPr id="14" name="Shape 12"/>
          <p:cNvSpPr/>
          <p:nvPr/>
        </p:nvSpPr>
        <p:spPr>
          <a:xfrm>
            <a:off x="365760" y="2450592"/>
            <a:ext cx="4206240" cy="347472"/>
          </a:xfrm>
          <a:prstGeom prst="rect">
            <a:avLst/>
          </a:prstGeom>
          <a:solidFill>
            <a:srgbClr val="FFFFFF"/>
          </a:solidFill>
          <a:ln/>
        </p:spPr>
      </p:sp>
      <p:sp>
        <p:nvSpPr>
          <p:cNvPr id="15" name="Text 13"/>
          <p:cNvSpPr/>
          <p:nvPr/>
        </p:nvSpPr>
        <p:spPr>
          <a:xfrm>
            <a:off x="457200" y="2487168"/>
            <a:ext cx="2377440" cy="274320"/>
          </a:xfrm>
          <a:prstGeom prst="rect">
            <a:avLst/>
          </a:prstGeom>
          <a:noFill/>
          <a:ln/>
        </p:spPr>
        <p:txBody>
          <a:bodyPr wrap="square" rtlCol="0" anchor="ctr"/>
          <a:lstStyle/>
          <a:p>
            <a:pPr indent="0" marL="0">
              <a:buNone/>
            </a:pPr>
            <a:r>
              <a:rPr lang="en-US" sz="1050" dirty="0">
                <a:solidFill>
                  <a:srgbClr val="64748B"/>
                </a:solidFill>
              </a:rPr>
              <a:t>Density</a:t>
            </a:r>
            <a:endParaRPr lang="en-US" sz="1050" dirty="0"/>
          </a:p>
        </p:txBody>
      </p:sp>
      <p:sp>
        <p:nvSpPr>
          <p:cNvPr id="16" name="Text 14"/>
          <p:cNvSpPr/>
          <p:nvPr/>
        </p:nvSpPr>
        <p:spPr>
          <a:xfrm>
            <a:off x="2834640" y="2487168"/>
            <a:ext cx="1645920" cy="274320"/>
          </a:xfrm>
          <a:prstGeom prst="rect">
            <a:avLst/>
          </a:prstGeom>
          <a:noFill/>
          <a:ln/>
        </p:spPr>
        <p:txBody>
          <a:bodyPr wrap="square" rtlCol="0" anchor="ctr"/>
          <a:lstStyle/>
          <a:p>
            <a:pPr algn="r" indent="0" marL="0">
              <a:buNone/>
            </a:pPr>
            <a:r>
              <a:rPr lang="en-US" sz="1050" b="1" dirty="0">
                <a:solidFill>
                  <a:srgbClr val="028090"/>
                </a:solidFill>
              </a:rPr>
              <a:t>11.0% — moderate</a:t>
            </a:r>
            <a:endParaRPr lang="en-US" sz="1050" dirty="0"/>
          </a:p>
        </p:txBody>
      </p:sp>
      <p:sp>
        <p:nvSpPr>
          <p:cNvPr id="17" name="Shape 15"/>
          <p:cNvSpPr/>
          <p:nvPr/>
        </p:nvSpPr>
        <p:spPr>
          <a:xfrm>
            <a:off x="365760" y="2798064"/>
            <a:ext cx="4206240" cy="347472"/>
          </a:xfrm>
          <a:prstGeom prst="rect">
            <a:avLst/>
          </a:prstGeom>
          <a:solidFill>
            <a:srgbClr val="F4FAFA"/>
          </a:solidFill>
          <a:ln/>
        </p:spPr>
      </p:sp>
      <p:sp>
        <p:nvSpPr>
          <p:cNvPr id="18" name="Text 16"/>
          <p:cNvSpPr/>
          <p:nvPr/>
        </p:nvSpPr>
        <p:spPr>
          <a:xfrm>
            <a:off x="457200" y="2834640"/>
            <a:ext cx="2377440" cy="274320"/>
          </a:xfrm>
          <a:prstGeom prst="rect">
            <a:avLst/>
          </a:prstGeom>
          <a:noFill/>
          <a:ln/>
        </p:spPr>
        <p:txBody>
          <a:bodyPr wrap="square" rtlCol="0" anchor="ctr"/>
          <a:lstStyle/>
          <a:p>
            <a:pPr indent="0" marL="0">
              <a:buNone/>
            </a:pPr>
            <a:r>
              <a:rPr lang="en-US" sz="1050" dirty="0">
                <a:solidFill>
                  <a:srgbClr val="64748B"/>
                </a:solidFill>
              </a:rPr>
              <a:t>Sparsity</a:t>
            </a:r>
            <a:endParaRPr lang="en-US" sz="1050" dirty="0"/>
          </a:p>
        </p:txBody>
      </p:sp>
      <p:sp>
        <p:nvSpPr>
          <p:cNvPr id="19" name="Text 17"/>
          <p:cNvSpPr/>
          <p:nvPr/>
        </p:nvSpPr>
        <p:spPr>
          <a:xfrm>
            <a:off x="2834640" y="2834640"/>
            <a:ext cx="1645920" cy="274320"/>
          </a:xfrm>
          <a:prstGeom prst="rect">
            <a:avLst/>
          </a:prstGeom>
          <a:noFill/>
          <a:ln/>
        </p:spPr>
        <p:txBody>
          <a:bodyPr wrap="square" rtlCol="0" anchor="ctr"/>
          <a:lstStyle/>
          <a:p>
            <a:pPr algn="r" indent="0" marL="0">
              <a:buNone/>
            </a:pPr>
            <a:r>
              <a:rPr lang="en-US" sz="1050" b="1" dirty="0">
                <a:solidFill>
                  <a:srgbClr val="028090"/>
                </a:solidFill>
              </a:rPr>
              <a:t>89.0%</a:t>
            </a:r>
            <a:endParaRPr lang="en-US" sz="1050" dirty="0"/>
          </a:p>
        </p:txBody>
      </p:sp>
      <p:sp>
        <p:nvSpPr>
          <p:cNvPr id="20" name="Shape 18"/>
          <p:cNvSpPr/>
          <p:nvPr/>
        </p:nvSpPr>
        <p:spPr>
          <a:xfrm>
            <a:off x="365760" y="3145536"/>
            <a:ext cx="4206240" cy="347472"/>
          </a:xfrm>
          <a:prstGeom prst="rect">
            <a:avLst/>
          </a:prstGeom>
          <a:solidFill>
            <a:srgbClr val="FFFFFF"/>
          </a:solidFill>
          <a:ln/>
        </p:spPr>
      </p:sp>
      <p:sp>
        <p:nvSpPr>
          <p:cNvPr id="21" name="Text 19"/>
          <p:cNvSpPr/>
          <p:nvPr/>
        </p:nvSpPr>
        <p:spPr>
          <a:xfrm>
            <a:off x="457200" y="3182112"/>
            <a:ext cx="2377440" cy="274320"/>
          </a:xfrm>
          <a:prstGeom prst="rect">
            <a:avLst/>
          </a:prstGeom>
          <a:noFill/>
          <a:ln/>
        </p:spPr>
        <p:txBody>
          <a:bodyPr wrap="square" rtlCol="0" anchor="ctr"/>
          <a:lstStyle/>
          <a:p>
            <a:pPr indent="0" marL="0">
              <a:buNone/>
            </a:pPr>
            <a:r>
              <a:rPr lang="en-US" sz="1050" dirty="0">
                <a:solidFill>
                  <a:srgbClr val="64748B"/>
                </a:solidFill>
              </a:rPr>
              <a:t>User pairs (2+ shared courses)</a:t>
            </a:r>
            <a:endParaRPr lang="en-US" sz="1050" dirty="0"/>
          </a:p>
        </p:txBody>
      </p:sp>
      <p:sp>
        <p:nvSpPr>
          <p:cNvPr id="22" name="Text 20"/>
          <p:cNvSpPr/>
          <p:nvPr/>
        </p:nvSpPr>
        <p:spPr>
          <a:xfrm>
            <a:off x="2834640" y="3182112"/>
            <a:ext cx="1645920" cy="274320"/>
          </a:xfrm>
          <a:prstGeom prst="rect">
            <a:avLst/>
          </a:prstGeom>
          <a:noFill/>
          <a:ln/>
        </p:spPr>
        <p:txBody>
          <a:bodyPr wrap="square" rtlCol="0" anchor="ctr"/>
          <a:lstStyle/>
          <a:p>
            <a:pPr algn="r" indent="0" marL="0">
              <a:buNone/>
            </a:pPr>
            <a:r>
              <a:rPr lang="en-US" sz="1050" b="1" dirty="0">
                <a:solidFill>
                  <a:srgbClr val="028090"/>
                </a:solidFill>
              </a:rPr>
              <a:t>Only 202 pairs</a:t>
            </a:r>
            <a:endParaRPr lang="en-US" sz="1050" dirty="0"/>
          </a:p>
        </p:txBody>
      </p:sp>
      <p:sp>
        <p:nvSpPr>
          <p:cNvPr id="23" name="Shape 21"/>
          <p:cNvSpPr/>
          <p:nvPr/>
        </p:nvSpPr>
        <p:spPr>
          <a:xfrm>
            <a:off x="365760" y="3493008"/>
            <a:ext cx="4206240" cy="347472"/>
          </a:xfrm>
          <a:prstGeom prst="rect">
            <a:avLst/>
          </a:prstGeom>
          <a:solidFill>
            <a:srgbClr val="F4FAFA"/>
          </a:solidFill>
          <a:ln/>
        </p:spPr>
      </p:sp>
      <p:sp>
        <p:nvSpPr>
          <p:cNvPr id="24" name="Text 22"/>
          <p:cNvSpPr/>
          <p:nvPr/>
        </p:nvSpPr>
        <p:spPr>
          <a:xfrm>
            <a:off x="457200" y="3529584"/>
            <a:ext cx="2377440" cy="274320"/>
          </a:xfrm>
          <a:prstGeom prst="rect">
            <a:avLst/>
          </a:prstGeom>
          <a:noFill/>
          <a:ln/>
        </p:spPr>
        <p:txBody>
          <a:bodyPr wrap="square" rtlCol="0" anchor="ctr"/>
          <a:lstStyle/>
          <a:p>
            <a:pPr indent="0" marL="0">
              <a:buNone/>
            </a:pPr>
            <a:r>
              <a:rPr lang="en-US" sz="1050" dirty="0">
                <a:solidFill>
                  <a:srgbClr val="64748B"/>
                </a:solidFill>
              </a:rPr>
              <a:t>Mean user-user correlation</a:t>
            </a:r>
            <a:endParaRPr lang="en-US" sz="1050" dirty="0"/>
          </a:p>
        </p:txBody>
      </p:sp>
      <p:sp>
        <p:nvSpPr>
          <p:cNvPr id="25" name="Text 23"/>
          <p:cNvSpPr/>
          <p:nvPr/>
        </p:nvSpPr>
        <p:spPr>
          <a:xfrm>
            <a:off x="2834640" y="3529584"/>
            <a:ext cx="1645920" cy="274320"/>
          </a:xfrm>
          <a:prstGeom prst="rect">
            <a:avLst/>
          </a:prstGeom>
          <a:noFill/>
          <a:ln/>
        </p:spPr>
        <p:txBody>
          <a:bodyPr wrap="square" rtlCol="0" anchor="ctr"/>
          <a:lstStyle/>
          <a:p>
            <a:pPr algn="r" indent="0" marL="0">
              <a:buNone/>
            </a:pPr>
            <a:r>
              <a:rPr lang="en-US" sz="1050" b="1" dirty="0">
                <a:solidFill>
                  <a:srgbClr val="028090"/>
                </a:solidFill>
              </a:rPr>
              <a:t>−0.042</a:t>
            </a:r>
            <a:endParaRPr lang="en-US" sz="1050" dirty="0"/>
          </a:p>
        </p:txBody>
      </p:sp>
      <p:sp>
        <p:nvSpPr>
          <p:cNvPr id="26" name="Shape 24"/>
          <p:cNvSpPr/>
          <p:nvPr/>
        </p:nvSpPr>
        <p:spPr>
          <a:xfrm>
            <a:off x="365760" y="3840480"/>
            <a:ext cx="4206240" cy="347472"/>
          </a:xfrm>
          <a:prstGeom prst="rect">
            <a:avLst/>
          </a:prstGeom>
          <a:solidFill>
            <a:srgbClr val="FFFFFF"/>
          </a:solidFill>
          <a:ln/>
        </p:spPr>
      </p:sp>
      <p:sp>
        <p:nvSpPr>
          <p:cNvPr id="27" name="Text 25"/>
          <p:cNvSpPr/>
          <p:nvPr/>
        </p:nvSpPr>
        <p:spPr>
          <a:xfrm>
            <a:off x="457200" y="3877056"/>
            <a:ext cx="2377440" cy="274320"/>
          </a:xfrm>
          <a:prstGeom prst="rect">
            <a:avLst/>
          </a:prstGeom>
          <a:noFill/>
          <a:ln/>
        </p:spPr>
        <p:txBody>
          <a:bodyPr wrap="square" rtlCol="0" anchor="ctr"/>
          <a:lstStyle/>
          <a:p>
            <a:pPr indent="0" marL="0">
              <a:buNone/>
            </a:pPr>
            <a:r>
              <a:rPr lang="en-US" sz="1050" dirty="0">
                <a:solidFill>
                  <a:srgbClr val="64748B"/>
                </a:solidFill>
              </a:rPr>
              <a:t>% Positive correlations</a:t>
            </a:r>
            <a:endParaRPr lang="en-US" sz="1050" dirty="0"/>
          </a:p>
        </p:txBody>
      </p:sp>
      <p:sp>
        <p:nvSpPr>
          <p:cNvPr id="28" name="Text 26"/>
          <p:cNvSpPr/>
          <p:nvPr/>
        </p:nvSpPr>
        <p:spPr>
          <a:xfrm>
            <a:off x="2834640" y="3877056"/>
            <a:ext cx="1645920" cy="274320"/>
          </a:xfrm>
          <a:prstGeom prst="rect">
            <a:avLst/>
          </a:prstGeom>
          <a:noFill/>
          <a:ln/>
        </p:spPr>
        <p:txBody>
          <a:bodyPr wrap="square" rtlCol="0" anchor="ctr"/>
          <a:lstStyle/>
          <a:p>
            <a:pPr algn="r" indent="0" marL="0">
              <a:buNone/>
            </a:pPr>
            <a:r>
              <a:rPr lang="en-US" sz="1050" b="1" dirty="0">
                <a:solidFill>
                  <a:srgbClr val="028090"/>
                </a:solidFill>
              </a:rPr>
              <a:t>47.5%</a:t>
            </a:r>
            <a:endParaRPr lang="en-US" sz="1050" dirty="0"/>
          </a:p>
        </p:txBody>
      </p:sp>
      <p:sp>
        <p:nvSpPr>
          <p:cNvPr id="29" name="Shape 27"/>
          <p:cNvSpPr/>
          <p:nvPr/>
        </p:nvSpPr>
        <p:spPr>
          <a:xfrm>
            <a:off x="4846320" y="914400"/>
            <a:ext cx="3977640" cy="3291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4846320" y="914400"/>
            <a:ext cx="3977640" cy="438912"/>
          </a:xfrm>
          <a:prstGeom prst="rect">
            <a:avLst/>
          </a:prstGeom>
          <a:solidFill>
            <a:srgbClr val="0A1628"/>
          </a:solidFill>
          <a:ln/>
        </p:spPr>
      </p:sp>
      <p:sp>
        <p:nvSpPr>
          <p:cNvPr id="31" name="Text 29"/>
          <p:cNvSpPr/>
          <p:nvPr/>
        </p:nvSpPr>
        <p:spPr>
          <a:xfrm>
            <a:off x="4846320" y="914400"/>
            <a:ext cx="3977640" cy="438912"/>
          </a:xfrm>
          <a:prstGeom prst="rect">
            <a:avLst/>
          </a:prstGeom>
          <a:noFill/>
          <a:ln/>
        </p:spPr>
        <p:txBody>
          <a:bodyPr wrap="square" lIns="0" tIns="0" rIns="0" bIns="0" rtlCol="0" anchor="ctr"/>
          <a:lstStyle/>
          <a:p>
            <a:pPr algn="ctr" indent="0" marL="0">
              <a:buNone/>
            </a:pPr>
            <a:r>
              <a:rPr lang="en-US" sz="1300" b="1" dirty="0">
                <a:solidFill>
                  <a:srgbClr val="FFFFFF"/>
                </a:solidFill>
              </a:rPr>
              <a:t>Algorithm Feasibility</a:t>
            </a:r>
            <a:endParaRPr lang="en-US" sz="1300" dirty="0"/>
          </a:p>
        </p:txBody>
      </p:sp>
      <p:sp>
        <p:nvSpPr>
          <p:cNvPr id="32" name="Text 30"/>
          <p:cNvSpPr/>
          <p:nvPr/>
        </p:nvSpPr>
        <p:spPr>
          <a:xfrm>
            <a:off x="4983480" y="1444752"/>
            <a:ext cx="1554480" cy="256032"/>
          </a:xfrm>
          <a:prstGeom prst="rect">
            <a:avLst/>
          </a:prstGeom>
          <a:noFill/>
          <a:ln/>
        </p:spPr>
        <p:txBody>
          <a:bodyPr wrap="square" rtlCol="0" anchor="ctr"/>
          <a:lstStyle/>
          <a:p>
            <a:pPr indent="0" marL="0">
              <a:buNone/>
            </a:pPr>
            <a:r>
              <a:rPr lang="en-US" sz="1100" b="1" dirty="0">
                <a:solidFill>
                  <a:srgbClr val="1E293B"/>
                </a:solidFill>
              </a:rPr>
              <a:t>Standard CF</a:t>
            </a:r>
            <a:endParaRPr lang="en-US" sz="1100" dirty="0"/>
          </a:p>
        </p:txBody>
      </p:sp>
      <p:sp>
        <p:nvSpPr>
          <p:cNvPr id="33" name="Text 31"/>
          <p:cNvSpPr/>
          <p:nvPr/>
        </p:nvSpPr>
        <p:spPr>
          <a:xfrm>
            <a:off x="6537960" y="1444752"/>
            <a:ext cx="1097280" cy="256032"/>
          </a:xfrm>
          <a:prstGeom prst="rect">
            <a:avLst/>
          </a:prstGeom>
          <a:noFill/>
          <a:ln/>
        </p:spPr>
        <p:txBody>
          <a:bodyPr wrap="square" rtlCol="0" anchor="ctr"/>
          <a:lstStyle/>
          <a:p>
            <a:pPr indent="0" marL="0">
              <a:buNone/>
            </a:pPr>
            <a:r>
              <a:rPr lang="en-US" sz="1100" b="1" dirty="0">
                <a:solidFill>
                  <a:srgbClr val="028090"/>
                </a:solidFill>
              </a:rPr>
              <a:t>❌ Fails</a:t>
            </a:r>
            <a:endParaRPr lang="en-US" sz="1100" dirty="0"/>
          </a:p>
        </p:txBody>
      </p:sp>
      <p:sp>
        <p:nvSpPr>
          <p:cNvPr id="34" name="Text 32"/>
          <p:cNvSpPr/>
          <p:nvPr/>
        </p:nvSpPr>
        <p:spPr>
          <a:xfrm>
            <a:off x="4983480" y="1700784"/>
            <a:ext cx="3611880" cy="237744"/>
          </a:xfrm>
          <a:prstGeom prst="rect">
            <a:avLst/>
          </a:prstGeom>
          <a:noFill/>
          <a:ln/>
        </p:spPr>
        <p:txBody>
          <a:bodyPr wrap="square" rtlCol="0" anchor="ctr"/>
          <a:lstStyle/>
          <a:p>
            <a:pPr indent="0" marL="0">
              <a:buNone/>
            </a:pPr>
            <a:r>
              <a:rPr lang="en-US" sz="950" dirty="0">
                <a:solidFill>
                  <a:srgbClr val="64748B"/>
                </a:solidFill>
              </a:rPr>
              <a:t>User-user correlation ≈ −0.04, near-random user taste similarity</a:t>
            </a:r>
            <a:endParaRPr lang="en-US" sz="950" dirty="0"/>
          </a:p>
        </p:txBody>
      </p:sp>
      <p:sp>
        <p:nvSpPr>
          <p:cNvPr id="35" name="Text 33"/>
          <p:cNvSpPr/>
          <p:nvPr/>
        </p:nvSpPr>
        <p:spPr>
          <a:xfrm>
            <a:off x="4983480" y="1975104"/>
            <a:ext cx="1554480" cy="256032"/>
          </a:xfrm>
          <a:prstGeom prst="rect">
            <a:avLst/>
          </a:prstGeom>
          <a:noFill/>
          <a:ln/>
        </p:spPr>
        <p:txBody>
          <a:bodyPr wrap="square" rtlCol="0" anchor="ctr"/>
          <a:lstStyle/>
          <a:p>
            <a:pPr indent="0" marL="0">
              <a:buNone/>
            </a:pPr>
            <a:r>
              <a:rPr lang="en-US" sz="1100" b="1" dirty="0">
                <a:solidFill>
                  <a:srgbClr val="1E293B"/>
                </a:solidFill>
              </a:rPr>
              <a:t>Matrix Factorization</a:t>
            </a:r>
            <a:endParaRPr lang="en-US" sz="1100" dirty="0"/>
          </a:p>
        </p:txBody>
      </p:sp>
      <p:sp>
        <p:nvSpPr>
          <p:cNvPr id="36" name="Text 34"/>
          <p:cNvSpPr/>
          <p:nvPr/>
        </p:nvSpPr>
        <p:spPr>
          <a:xfrm>
            <a:off x="6537960" y="1975104"/>
            <a:ext cx="1097280" cy="256032"/>
          </a:xfrm>
          <a:prstGeom prst="rect">
            <a:avLst/>
          </a:prstGeom>
          <a:noFill/>
          <a:ln/>
        </p:spPr>
        <p:txBody>
          <a:bodyPr wrap="square" rtlCol="0" anchor="ctr"/>
          <a:lstStyle/>
          <a:p>
            <a:pPr indent="0" marL="0">
              <a:buNone/>
            </a:pPr>
            <a:r>
              <a:rPr lang="en-US" sz="1100" b="1" dirty="0">
                <a:solidFill>
                  <a:srgbClr val="028090"/>
                </a:solidFill>
              </a:rPr>
              <a:t>❌ Weak</a:t>
            </a:r>
            <a:endParaRPr lang="en-US" sz="1100" dirty="0"/>
          </a:p>
        </p:txBody>
      </p:sp>
      <p:sp>
        <p:nvSpPr>
          <p:cNvPr id="37" name="Text 35"/>
          <p:cNvSpPr/>
          <p:nvPr/>
        </p:nvSpPr>
        <p:spPr>
          <a:xfrm>
            <a:off x="4983480" y="2231136"/>
            <a:ext cx="3611880" cy="237744"/>
          </a:xfrm>
          <a:prstGeom prst="rect">
            <a:avLst/>
          </a:prstGeom>
          <a:noFill/>
          <a:ln/>
        </p:spPr>
        <p:txBody>
          <a:bodyPr wrap="square" rtlCol="0" anchor="ctr"/>
          <a:lstStyle/>
          <a:p>
            <a:pPr indent="0" marL="0">
              <a:buNone/>
            </a:pPr>
            <a:r>
              <a:rPr lang="en-US" sz="950" dirty="0">
                <a:solidFill>
                  <a:srgbClr val="64748B"/>
                </a:solidFill>
              </a:rPr>
              <a:t>Only 202 user pairs share 2+ courses — insufficient training signal</a:t>
            </a:r>
            <a:endParaRPr lang="en-US" sz="950" dirty="0"/>
          </a:p>
        </p:txBody>
      </p:sp>
      <p:sp>
        <p:nvSpPr>
          <p:cNvPr id="38" name="Text 36"/>
          <p:cNvSpPr/>
          <p:nvPr/>
        </p:nvSpPr>
        <p:spPr>
          <a:xfrm>
            <a:off x="4983480" y="2505456"/>
            <a:ext cx="1554480" cy="256032"/>
          </a:xfrm>
          <a:prstGeom prst="rect">
            <a:avLst/>
          </a:prstGeom>
          <a:noFill/>
          <a:ln/>
        </p:spPr>
        <p:txBody>
          <a:bodyPr wrap="square" rtlCol="0" anchor="ctr"/>
          <a:lstStyle/>
          <a:p>
            <a:pPr indent="0" marL="0">
              <a:buNone/>
            </a:pPr>
            <a:r>
              <a:rPr lang="en-US" sz="1100" b="1" dirty="0">
                <a:solidFill>
                  <a:srgbClr val="1E293B"/>
                </a:solidFill>
              </a:rPr>
              <a:t>Content-Based Only</a:t>
            </a:r>
            <a:endParaRPr lang="en-US" sz="1100" dirty="0"/>
          </a:p>
        </p:txBody>
      </p:sp>
      <p:sp>
        <p:nvSpPr>
          <p:cNvPr id="39" name="Text 37"/>
          <p:cNvSpPr/>
          <p:nvPr/>
        </p:nvSpPr>
        <p:spPr>
          <a:xfrm>
            <a:off x="6537960" y="2505456"/>
            <a:ext cx="1097280" cy="256032"/>
          </a:xfrm>
          <a:prstGeom prst="rect">
            <a:avLst/>
          </a:prstGeom>
          <a:noFill/>
          <a:ln/>
        </p:spPr>
        <p:txBody>
          <a:bodyPr wrap="square" rtlCol="0" anchor="ctr"/>
          <a:lstStyle/>
          <a:p>
            <a:pPr indent="0" marL="0">
              <a:buNone/>
            </a:pPr>
            <a:r>
              <a:rPr lang="en-US" sz="1100" b="1" dirty="0">
                <a:solidFill>
                  <a:srgbClr val="028090"/>
                </a:solidFill>
              </a:rPr>
              <a:t>🟡 Partial</a:t>
            </a:r>
            <a:endParaRPr lang="en-US" sz="1100" dirty="0"/>
          </a:p>
        </p:txBody>
      </p:sp>
      <p:sp>
        <p:nvSpPr>
          <p:cNvPr id="40" name="Text 38"/>
          <p:cNvSpPr/>
          <p:nvPr/>
        </p:nvSpPr>
        <p:spPr>
          <a:xfrm>
            <a:off x="4983480" y="2761488"/>
            <a:ext cx="3611880" cy="237744"/>
          </a:xfrm>
          <a:prstGeom prst="rect">
            <a:avLst/>
          </a:prstGeom>
          <a:noFill/>
          <a:ln/>
        </p:spPr>
        <p:txBody>
          <a:bodyPr wrap="square" rtlCol="0" anchor="ctr"/>
          <a:lstStyle/>
          <a:p>
            <a:pPr indent="0" marL="0">
              <a:buNone/>
            </a:pPr>
            <a:r>
              <a:rPr lang="en-US" sz="950" dirty="0">
                <a:solidFill>
                  <a:srgbClr val="64748B"/>
                </a:solidFill>
              </a:rPr>
              <a:t>Works for diversity but zero-correlation features limit quality</a:t>
            </a:r>
            <a:endParaRPr lang="en-US" sz="950" dirty="0"/>
          </a:p>
        </p:txBody>
      </p:sp>
      <p:sp>
        <p:nvSpPr>
          <p:cNvPr id="41" name="Text 39"/>
          <p:cNvSpPr/>
          <p:nvPr/>
        </p:nvSpPr>
        <p:spPr>
          <a:xfrm>
            <a:off x="4983480" y="3035808"/>
            <a:ext cx="1554480" cy="256032"/>
          </a:xfrm>
          <a:prstGeom prst="rect">
            <a:avLst/>
          </a:prstGeom>
          <a:noFill/>
          <a:ln/>
        </p:spPr>
        <p:txBody>
          <a:bodyPr wrap="square" rtlCol="0" anchor="ctr"/>
          <a:lstStyle/>
          <a:p>
            <a:pPr indent="0" marL="0">
              <a:buNone/>
            </a:pPr>
            <a:r>
              <a:rPr lang="en-US" sz="1100" b="1" dirty="0">
                <a:solidFill>
                  <a:srgbClr val="1E293B"/>
                </a:solidFill>
              </a:rPr>
              <a:t>Popularity-Based</a:t>
            </a:r>
            <a:endParaRPr lang="en-US" sz="1100" dirty="0"/>
          </a:p>
        </p:txBody>
      </p:sp>
      <p:sp>
        <p:nvSpPr>
          <p:cNvPr id="42" name="Text 40"/>
          <p:cNvSpPr/>
          <p:nvPr/>
        </p:nvSpPr>
        <p:spPr>
          <a:xfrm>
            <a:off x="6537960" y="3035808"/>
            <a:ext cx="1097280" cy="256032"/>
          </a:xfrm>
          <a:prstGeom prst="rect">
            <a:avLst/>
          </a:prstGeom>
          <a:noFill/>
          <a:ln/>
        </p:spPr>
        <p:txBody>
          <a:bodyPr wrap="square" rtlCol="0" anchor="ctr"/>
          <a:lstStyle/>
          <a:p>
            <a:pPr indent="0" marL="0">
              <a:buNone/>
            </a:pPr>
            <a:r>
              <a:rPr lang="en-US" sz="1100" b="1" dirty="0">
                <a:solidFill>
                  <a:srgbClr val="028090"/>
                </a:solidFill>
              </a:rPr>
              <a:t>✅ Strong</a:t>
            </a:r>
            <a:endParaRPr lang="en-US" sz="1100" dirty="0"/>
          </a:p>
        </p:txBody>
      </p:sp>
      <p:sp>
        <p:nvSpPr>
          <p:cNvPr id="43" name="Text 41"/>
          <p:cNvSpPr/>
          <p:nvPr/>
        </p:nvSpPr>
        <p:spPr>
          <a:xfrm>
            <a:off x="4983480" y="3291840"/>
            <a:ext cx="3611880" cy="237744"/>
          </a:xfrm>
          <a:prstGeom prst="rect">
            <a:avLst/>
          </a:prstGeom>
          <a:noFill/>
          <a:ln/>
        </p:spPr>
        <p:txBody>
          <a:bodyPr wrap="square" rtlCol="0" anchor="ctr"/>
          <a:lstStyle/>
          <a:p>
            <a:pPr indent="0" marL="0">
              <a:buNone/>
            </a:pPr>
            <a:r>
              <a:rPr lang="en-US" sz="950" dirty="0">
                <a:solidFill>
                  <a:srgbClr val="64748B"/>
                </a:solidFill>
              </a:rPr>
              <a:t>Enrollment counts are reliable signal — works well for cold-start</a:t>
            </a:r>
            <a:endParaRPr lang="en-US" sz="950" dirty="0"/>
          </a:p>
        </p:txBody>
      </p:sp>
      <p:sp>
        <p:nvSpPr>
          <p:cNvPr id="44" name="Text 42"/>
          <p:cNvSpPr/>
          <p:nvPr/>
        </p:nvSpPr>
        <p:spPr>
          <a:xfrm>
            <a:off x="4983480" y="3566160"/>
            <a:ext cx="1554480" cy="256032"/>
          </a:xfrm>
          <a:prstGeom prst="rect">
            <a:avLst/>
          </a:prstGeom>
          <a:noFill/>
          <a:ln/>
        </p:spPr>
        <p:txBody>
          <a:bodyPr wrap="square" rtlCol="0" anchor="ctr"/>
          <a:lstStyle/>
          <a:p>
            <a:pPr indent="0" marL="0">
              <a:buNone/>
            </a:pPr>
            <a:r>
              <a:rPr lang="en-US" sz="1100" b="1" dirty="0">
                <a:solidFill>
                  <a:srgbClr val="1E293B"/>
                </a:solidFill>
              </a:rPr>
              <a:t>Hybrid (Pop + CB)</a:t>
            </a:r>
            <a:endParaRPr lang="en-US" sz="1100" dirty="0"/>
          </a:p>
        </p:txBody>
      </p:sp>
      <p:sp>
        <p:nvSpPr>
          <p:cNvPr id="45" name="Text 43"/>
          <p:cNvSpPr/>
          <p:nvPr/>
        </p:nvSpPr>
        <p:spPr>
          <a:xfrm>
            <a:off x="6537960" y="3566160"/>
            <a:ext cx="1097280" cy="256032"/>
          </a:xfrm>
          <a:prstGeom prst="rect">
            <a:avLst/>
          </a:prstGeom>
          <a:noFill/>
          <a:ln/>
        </p:spPr>
        <p:txBody>
          <a:bodyPr wrap="square" rtlCol="0" anchor="ctr"/>
          <a:lstStyle/>
          <a:p>
            <a:pPr indent="0" marL="0">
              <a:buNone/>
            </a:pPr>
            <a:r>
              <a:rPr lang="en-US" sz="1100" b="1" dirty="0">
                <a:solidFill>
                  <a:srgbClr val="028090"/>
                </a:solidFill>
              </a:rPr>
              <a:t>✅ Best</a:t>
            </a:r>
            <a:endParaRPr lang="en-US" sz="1100" dirty="0"/>
          </a:p>
        </p:txBody>
      </p:sp>
      <p:sp>
        <p:nvSpPr>
          <p:cNvPr id="46" name="Text 44"/>
          <p:cNvSpPr/>
          <p:nvPr/>
        </p:nvSpPr>
        <p:spPr>
          <a:xfrm>
            <a:off x="4983480" y="3822192"/>
            <a:ext cx="3611880" cy="237744"/>
          </a:xfrm>
          <a:prstGeom prst="rect">
            <a:avLst/>
          </a:prstGeom>
          <a:noFill/>
          <a:ln/>
        </p:spPr>
        <p:txBody>
          <a:bodyPr wrap="square" rtlCol="0" anchor="ctr"/>
          <a:lstStyle/>
          <a:p>
            <a:pPr indent="0" marL="0">
              <a:buNone/>
            </a:pPr>
            <a:r>
              <a:rPr lang="en-US" sz="950" dirty="0">
                <a:solidFill>
                  <a:srgbClr val="64748B"/>
                </a:solidFill>
              </a:rPr>
              <a:t>Balances reliability (popularity) with diversity (content)</a:t>
            </a:r>
            <a:endParaRPr lang="en-US" sz="950" dirty="0"/>
          </a:p>
        </p:txBody>
      </p:sp>
      <p:sp>
        <p:nvSpPr>
          <p:cNvPr id="47" name="Shape 45"/>
          <p:cNvSpPr/>
          <p:nvPr/>
        </p:nvSpPr>
        <p:spPr>
          <a:xfrm>
            <a:off x="320040" y="4315968"/>
            <a:ext cx="8503920" cy="457200"/>
          </a:xfrm>
          <a:prstGeom prst="rect">
            <a:avLst/>
          </a:prstGeom>
          <a:solidFill>
            <a:srgbClr val="028090">
              <a:alpha val="15000"/>
            </a:srgbClr>
          </a:solidFill>
          <a:ln/>
        </p:spPr>
      </p:sp>
      <p:sp>
        <p:nvSpPr>
          <p:cNvPr id="48" name="Text 46"/>
          <p:cNvSpPr/>
          <p:nvPr/>
        </p:nvSpPr>
        <p:spPr>
          <a:xfrm>
            <a:off x="411480" y="4315968"/>
            <a:ext cx="8321040" cy="457200"/>
          </a:xfrm>
          <a:prstGeom prst="rect">
            <a:avLst/>
          </a:prstGeom>
          <a:noFill/>
          <a:ln/>
        </p:spPr>
        <p:txBody>
          <a:bodyPr wrap="square" rtlCol="0" anchor="ctr"/>
          <a:lstStyle/>
          <a:p>
            <a:pPr indent="0" marL="0">
              <a:buNone/>
            </a:pPr>
            <a:r>
              <a:rPr lang="en-US" sz="1100" i="1" dirty="0">
                <a:solidFill>
                  <a:srgbClr val="1E293B"/>
                </a:solidFill>
              </a:rPr>
              <a:t>💡 Conclusion: 89% sparsity + weak user-user correlations → Hybrid (Popularity 60% + Content 40%) is the optimal architecture.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MODEL BUILDING — ARCHITECTURE OVERVIEW</a:t>
            </a:r>
            <a:endParaRPr lang="en-US" sz="22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60120"/>
            <a:ext cx="850392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960120"/>
            <a:ext cx="1097280" cy="1188720"/>
          </a:xfrm>
          <a:prstGeom prst="rect">
            <a:avLst/>
          </a:prstGeom>
          <a:solidFill>
            <a:srgbClr val="028090"/>
          </a:solidFill>
          <a:ln/>
        </p:spPr>
      </p:sp>
      <p:sp>
        <p:nvSpPr>
          <p:cNvPr id="7" name="Text 5"/>
          <p:cNvSpPr/>
          <p:nvPr/>
        </p:nvSpPr>
        <p:spPr>
          <a:xfrm>
            <a:off x="320040" y="1051560"/>
            <a:ext cx="1097280" cy="548640"/>
          </a:xfrm>
          <a:prstGeom prst="rect">
            <a:avLst/>
          </a:prstGeom>
          <a:noFill/>
          <a:ln/>
        </p:spPr>
        <p:txBody>
          <a:bodyPr wrap="square" lIns="0" tIns="0" rIns="0" bIns="0" rtlCol="0" anchor="ctr"/>
          <a:lstStyle/>
          <a:p>
            <a:pPr algn="ctr" indent="0" marL="0">
              <a:buNone/>
            </a:pPr>
            <a:r>
              <a:rPr lang="en-US" sz="3200" b="1" dirty="0">
                <a:solidFill>
                  <a:srgbClr val="FFFFFF"/>
                </a:solidFill>
              </a:rPr>
              <a:t>01</a:t>
            </a:r>
            <a:endParaRPr lang="en-US" sz="3200" dirty="0"/>
          </a:p>
        </p:txBody>
      </p:sp>
      <p:sp>
        <p:nvSpPr>
          <p:cNvPr id="8" name="Text 6"/>
          <p:cNvSpPr/>
          <p:nvPr/>
        </p:nvSpPr>
        <p:spPr>
          <a:xfrm>
            <a:off x="1554480" y="1051560"/>
            <a:ext cx="3657600" cy="365760"/>
          </a:xfrm>
          <a:prstGeom prst="rect">
            <a:avLst/>
          </a:prstGeom>
          <a:noFill/>
          <a:ln/>
        </p:spPr>
        <p:txBody>
          <a:bodyPr wrap="square" rtlCol="0" anchor="ctr"/>
          <a:lstStyle/>
          <a:p>
            <a:pPr indent="0" marL="0">
              <a:buNone/>
            </a:pPr>
            <a:r>
              <a:rPr lang="en-US" sz="1500" b="1" dirty="0">
                <a:solidFill>
                  <a:srgbClr val="1E293B"/>
                </a:solidFill>
              </a:rPr>
              <a:t>Popularity-Based</a:t>
            </a:r>
            <a:endParaRPr lang="en-US" sz="1500" dirty="0"/>
          </a:p>
        </p:txBody>
      </p:sp>
      <p:sp>
        <p:nvSpPr>
          <p:cNvPr id="9" name="Text 7"/>
          <p:cNvSpPr/>
          <p:nvPr/>
        </p:nvSpPr>
        <p:spPr>
          <a:xfrm>
            <a:off x="1554480" y="1417320"/>
            <a:ext cx="4572000" cy="594360"/>
          </a:xfrm>
          <a:prstGeom prst="rect">
            <a:avLst/>
          </a:prstGeom>
          <a:noFill/>
          <a:ln/>
        </p:spPr>
        <p:txBody>
          <a:bodyPr wrap="square" rtlCol="0" anchor="ctr"/>
          <a:lstStyle/>
          <a:p>
            <a:pPr indent="0" marL="0">
              <a:buNone/>
            </a:pPr>
            <a:r>
              <a:rPr lang="en-US" sz="1050" dirty="0">
                <a:solidFill>
                  <a:srgbClr val="64748B"/>
                </a:solidFill>
              </a:rPr>
              <a:t>Recommends the most-enrolled courses the user hasn't taken yet. Uses raw enrollment count as the ranking signal.</a:t>
            </a:r>
            <a:endParaRPr lang="en-US" sz="1050" dirty="0"/>
          </a:p>
        </p:txBody>
      </p:sp>
      <p:sp>
        <p:nvSpPr>
          <p:cNvPr id="10" name="Shape 8"/>
          <p:cNvSpPr/>
          <p:nvPr/>
        </p:nvSpPr>
        <p:spPr>
          <a:xfrm>
            <a:off x="6309360" y="1069848"/>
            <a:ext cx="2377440" cy="420624"/>
          </a:xfrm>
          <a:prstGeom prst="rect">
            <a:avLst/>
          </a:prstGeom>
          <a:solidFill>
            <a:srgbClr val="10B981">
              <a:alpha val="15000"/>
            </a:srgbClr>
          </a:solidFill>
          <a:ln/>
        </p:spPr>
      </p:sp>
      <p:sp>
        <p:nvSpPr>
          <p:cNvPr id="11" name="Text 9"/>
          <p:cNvSpPr/>
          <p:nvPr/>
        </p:nvSpPr>
        <p:spPr>
          <a:xfrm>
            <a:off x="6355080" y="1069848"/>
            <a:ext cx="2286000" cy="420624"/>
          </a:xfrm>
          <a:prstGeom prst="rect">
            <a:avLst/>
          </a:prstGeom>
          <a:noFill/>
          <a:ln/>
        </p:spPr>
        <p:txBody>
          <a:bodyPr wrap="square" rtlCol="0" anchor="ctr"/>
          <a:lstStyle/>
          <a:p>
            <a:pPr indent="0" marL="0">
              <a:buNone/>
            </a:pPr>
            <a:r>
              <a:rPr lang="en-US" sz="950" dirty="0">
                <a:solidFill>
                  <a:srgbClr val="1E293B"/>
                </a:solidFill>
              </a:rPr>
              <a:t>✅ Simple, interpretable, excellent cold-start</a:t>
            </a:r>
            <a:endParaRPr lang="en-US" sz="950" dirty="0"/>
          </a:p>
        </p:txBody>
      </p:sp>
      <p:sp>
        <p:nvSpPr>
          <p:cNvPr id="12" name="Shape 10"/>
          <p:cNvSpPr/>
          <p:nvPr/>
        </p:nvSpPr>
        <p:spPr>
          <a:xfrm>
            <a:off x="6309360" y="1554480"/>
            <a:ext cx="2377440" cy="420624"/>
          </a:xfrm>
          <a:prstGeom prst="rect">
            <a:avLst/>
          </a:prstGeom>
          <a:solidFill>
            <a:srgbClr val="EF4444">
              <a:alpha val="15000"/>
            </a:srgbClr>
          </a:solidFill>
          <a:ln/>
        </p:spPr>
      </p:sp>
      <p:sp>
        <p:nvSpPr>
          <p:cNvPr id="13" name="Text 11"/>
          <p:cNvSpPr/>
          <p:nvPr/>
        </p:nvSpPr>
        <p:spPr>
          <a:xfrm>
            <a:off x="6355080" y="1554480"/>
            <a:ext cx="2286000" cy="420624"/>
          </a:xfrm>
          <a:prstGeom prst="rect">
            <a:avLst/>
          </a:prstGeom>
          <a:noFill/>
          <a:ln/>
        </p:spPr>
        <p:txBody>
          <a:bodyPr wrap="square" rtlCol="0" anchor="ctr"/>
          <a:lstStyle/>
          <a:p>
            <a:pPr indent="0" marL="0">
              <a:buNone/>
            </a:pPr>
            <a:r>
              <a:rPr lang="en-US" sz="950" dirty="0">
                <a:solidFill>
                  <a:srgbClr val="1E293B"/>
                </a:solidFill>
              </a:rPr>
              <a:t>⚠️ No personalization</a:t>
            </a:r>
            <a:endParaRPr lang="en-US" sz="950" dirty="0"/>
          </a:p>
        </p:txBody>
      </p:sp>
      <p:sp>
        <p:nvSpPr>
          <p:cNvPr id="14" name="Shape 12"/>
          <p:cNvSpPr/>
          <p:nvPr/>
        </p:nvSpPr>
        <p:spPr>
          <a:xfrm>
            <a:off x="320040" y="2286000"/>
            <a:ext cx="850392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Shape 13"/>
          <p:cNvSpPr/>
          <p:nvPr/>
        </p:nvSpPr>
        <p:spPr>
          <a:xfrm>
            <a:off x="320040" y="2286000"/>
            <a:ext cx="1097280" cy="1188720"/>
          </a:xfrm>
          <a:prstGeom prst="rect">
            <a:avLst/>
          </a:prstGeom>
          <a:solidFill>
            <a:srgbClr val="00A896"/>
          </a:solidFill>
          <a:ln/>
        </p:spPr>
      </p:sp>
      <p:sp>
        <p:nvSpPr>
          <p:cNvPr id="16" name="Text 14"/>
          <p:cNvSpPr/>
          <p:nvPr/>
        </p:nvSpPr>
        <p:spPr>
          <a:xfrm>
            <a:off x="320040" y="2377440"/>
            <a:ext cx="1097280" cy="548640"/>
          </a:xfrm>
          <a:prstGeom prst="rect">
            <a:avLst/>
          </a:prstGeom>
          <a:noFill/>
          <a:ln/>
        </p:spPr>
        <p:txBody>
          <a:bodyPr wrap="square" lIns="0" tIns="0" rIns="0" bIns="0" rtlCol="0" anchor="ctr"/>
          <a:lstStyle/>
          <a:p>
            <a:pPr algn="ctr" indent="0" marL="0">
              <a:buNone/>
            </a:pPr>
            <a:r>
              <a:rPr lang="en-US" sz="3200" b="1" dirty="0">
                <a:solidFill>
                  <a:srgbClr val="FFFFFF"/>
                </a:solidFill>
              </a:rPr>
              <a:t>02</a:t>
            </a:r>
            <a:endParaRPr lang="en-US" sz="3200" dirty="0"/>
          </a:p>
        </p:txBody>
      </p:sp>
      <p:sp>
        <p:nvSpPr>
          <p:cNvPr id="17" name="Text 15"/>
          <p:cNvSpPr/>
          <p:nvPr/>
        </p:nvSpPr>
        <p:spPr>
          <a:xfrm>
            <a:off x="1554480" y="2377440"/>
            <a:ext cx="3657600" cy="365760"/>
          </a:xfrm>
          <a:prstGeom prst="rect">
            <a:avLst/>
          </a:prstGeom>
          <a:noFill/>
          <a:ln/>
        </p:spPr>
        <p:txBody>
          <a:bodyPr wrap="square" rtlCol="0" anchor="ctr"/>
          <a:lstStyle/>
          <a:p>
            <a:pPr indent="0" marL="0">
              <a:buNone/>
            </a:pPr>
            <a:r>
              <a:rPr lang="en-US" sz="1500" b="1" dirty="0">
                <a:solidFill>
                  <a:srgbClr val="1E293B"/>
                </a:solidFill>
              </a:rPr>
              <a:t>Content-Based (TF-IDF + Cosine)</a:t>
            </a:r>
            <a:endParaRPr lang="en-US" sz="1500" dirty="0"/>
          </a:p>
        </p:txBody>
      </p:sp>
      <p:sp>
        <p:nvSpPr>
          <p:cNvPr id="18" name="Text 16"/>
          <p:cNvSpPr/>
          <p:nvPr/>
        </p:nvSpPr>
        <p:spPr>
          <a:xfrm>
            <a:off x="1554480" y="2743200"/>
            <a:ext cx="4572000" cy="594360"/>
          </a:xfrm>
          <a:prstGeom prst="rect">
            <a:avLst/>
          </a:prstGeom>
          <a:noFill/>
          <a:ln/>
        </p:spPr>
        <p:txBody>
          <a:bodyPr wrap="square" rtlCol="0" anchor="ctr"/>
          <a:lstStyle/>
          <a:p>
            <a:pPr indent="0" marL="0">
              <a:buNone/>
            </a:pPr>
            <a:r>
              <a:rPr lang="en-US" sz="1050" dirty="0">
                <a:solidFill>
                  <a:srgbClr val="64748B"/>
                </a:solidFill>
              </a:rPr>
              <a:t>Uses TF-IDF vectorization + Cosine Similarity on course features to find structurally similar courses.</a:t>
            </a:r>
            <a:endParaRPr lang="en-US" sz="1050" dirty="0"/>
          </a:p>
        </p:txBody>
      </p:sp>
      <p:sp>
        <p:nvSpPr>
          <p:cNvPr id="19" name="Shape 17"/>
          <p:cNvSpPr/>
          <p:nvPr/>
        </p:nvSpPr>
        <p:spPr>
          <a:xfrm>
            <a:off x="6309360" y="2395728"/>
            <a:ext cx="2377440" cy="420624"/>
          </a:xfrm>
          <a:prstGeom prst="rect">
            <a:avLst/>
          </a:prstGeom>
          <a:solidFill>
            <a:srgbClr val="10B981">
              <a:alpha val="15000"/>
            </a:srgbClr>
          </a:solidFill>
          <a:ln/>
        </p:spPr>
      </p:sp>
      <p:sp>
        <p:nvSpPr>
          <p:cNvPr id="20" name="Text 18"/>
          <p:cNvSpPr/>
          <p:nvPr/>
        </p:nvSpPr>
        <p:spPr>
          <a:xfrm>
            <a:off x="6355080" y="2395728"/>
            <a:ext cx="2286000" cy="420624"/>
          </a:xfrm>
          <a:prstGeom prst="rect">
            <a:avLst/>
          </a:prstGeom>
          <a:noFill/>
          <a:ln/>
        </p:spPr>
        <p:txBody>
          <a:bodyPr wrap="square" rtlCol="0" anchor="ctr"/>
          <a:lstStyle/>
          <a:p>
            <a:pPr indent="0" marL="0">
              <a:buNone/>
            </a:pPr>
            <a:r>
              <a:rPr lang="en-US" sz="950" dirty="0">
                <a:solidFill>
                  <a:srgbClr val="1E293B"/>
                </a:solidFill>
              </a:rPr>
              <a:t>✅ Personalized, diverse, no user history needed</a:t>
            </a:r>
            <a:endParaRPr lang="en-US" sz="950" dirty="0"/>
          </a:p>
        </p:txBody>
      </p:sp>
      <p:sp>
        <p:nvSpPr>
          <p:cNvPr id="21" name="Shape 19"/>
          <p:cNvSpPr/>
          <p:nvPr/>
        </p:nvSpPr>
        <p:spPr>
          <a:xfrm>
            <a:off x="6309360" y="2880360"/>
            <a:ext cx="2377440" cy="420624"/>
          </a:xfrm>
          <a:prstGeom prst="rect">
            <a:avLst/>
          </a:prstGeom>
          <a:solidFill>
            <a:srgbClr val="EF4444">
              <a:alpha val="15000"/>
            </a:srgbClr>
          </a:solidFill>
          <a:ln/>
        </p:spPr>
      </p:sp>
      <p:sp>
        <p:nvSpPr>
          <p:cNvPr id="22" name="Text 20"/>
          <p:cNvSpPr/>
          <p:nvPr/>
        </p:nvSpPr>
        <p:spPr>
          <a:xfrm>
            <a:off x="6355080" y="2880360"/>
            <a:ext cx="2286000" cy="420624"/>
          </a:xfrm>
          <a:prstGeom prst="rect">
            <a:avLst/>
          </a:prstGeom>
          <a:noFill/>
          <a:ln/>
        </p:spPr>
        <p:txBody>
          <a:bodyPr wrap="square" rtlCol="0" anchor="ctr"/>
          <a:lstStyle/>
          <a:p>
            <a:pPr indent="0" marL="0">
              <a:buNone/>
            </a:pPr>
            <a:r>
              <a:rPr lang="en-US" sz="950" dirty="0">
                <a:solidFill>
                  <a:srgbClr val="1E293B"/>
                </a:solidFill>
              </a:rPr>
              <a:t>⚠️ Limited by feature quality</a:t>
            </a:r>
            <a:endParaRPr lang="en-US" sz="950" dirty="0"/>
          </a:p>
        </p:txBody>
      </p:sp>
      <p:sp>
        <p:nvSpPr>
          <p:cNvPr id="23" name="Shape 21"/>
          <p:cNvSpPr/>
          <p:nvPr/>
        </p:nvSpPr>
        <p:spPr>
          <a:xfrm>
            <a:off x="320040" y="3611880"/>
            <a:ext cx="850392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320040" y="3611880"/>
            <a:ext cx="1097280" cy="1188720"/>
          </a:xfrm>
          <a:prstGeom prst="rect">
            <a:avLst/>
          </a:prstGeom>
          <a:solidFill>
            <a:srgbClr val="02C39A"/>
          </a:solidFill>
          <a:ln/>
        </p:spPr>
      </p:sp>
      <p:sp>
        <p:nvSpPr>
          <p:cNvPr id="25" name="Text 23"/>
          <p:cNvSpPr/>
          <p:nvPr/>
        </p:nvSpPr>
        <p:spPr>
          <a:xfrm>
            <a:off x="320040" y="3703320"/>
            <a:ext cx="1097280" cy="548640"/>
          </a:xfrm>
          <a:prstGeom prst="rect">
            <a:avLst/>
          </a:prstGeom>
          <a:noFill/>
          <a:ln/>
        </p:spPr>
        <p:txBody>
          <a:bodyPr wrap="square" lIns="0" tIns="0" rIns="0" bIns="0" rtlCol="0" anchor="ctr"/>
          <a:lstStyle/>
          <a:p>
            <a:pPr algn="ctr" indent="0" marL="0">
              <a:buNone/>
            </a:pPr>
            <a:r>
              <a:rPr lang="en-US" sz="3200" b="1" dirty="0">
                <a:solidFill>
                  <a:srgbClr val="FFFFFF"/>
                </a:solidFill>
              </a:rPr>
              <a:t>03</a:t>
            </a:r>
            <a:endParaRPr lang="en-US" sz="3200" dirty="0"/>
          </a:p>
        </p:txBody>
      </p:sp>
      <p:sp>
        <p:nvSpPr>
          <p:cNvPr id="26" name="Text 24"/>
          <p:cNvSpPr/>
          <p:nvPr/>
        </p:nvSpPr>
        <p:spPr>
          <a:xfrm>
            <a:off x="1554480" y="3703320"/>
            <a:ext cx="3657600" cy="365760"/>
          </a:xfrm>
          <a:prstGeom prst="rect">
            <a:avLst/>
          </a:prstGeom>
          <a:noFill/>
          <a:ln/>
        </p:spPr>
        <p:txBody>
          <a:bodyPr wrap="square" rtlCol="0" anchor="ctr"/>
          <a:lstStyle/>
          <a:p>
            <a:pPr indent="0" marL="0">
              <a:buNone/>
            </a:pPr>
            <a:r>
              <a:rPr lang="en-US" sz="1500" b="1" dirty="0">
                <a:solidFill>
                  <a:srgbClr val="1E293B"/>
                </a:solidFill>
              </a:rPr>
              <a:t>Hybrid (Final Model)</a:t>
            </a:r>
            <a:endParaRPr lang="en-US" sz="1500" dirty="0"/>
          </a:p>
        </p:txBody>
      </p:sp>
      <p:sp>
        <p:nvSpPr>
          <p:cNvPr id="27" name="Text 25"/>
          <p:cNvSpPr/>
          <p:nvPr/>
        </p:nvSpPr>
        <p:spPr>
          <a:xfrm>
            <a:off x="1554480" y="4069080"/>
            <a:ext cx="4572000" cy="594360"/>
          </a:xfrm>
          <a:prstGeom prst="rect">
            <a:avLst/>
          </a:prstGeom>
          <a:noFill/>
          <a:ln/>
        </p:spPr>
        <p:txBody>
          <a:bodyPr wrap="square" rtlCol="0" anchor="ctr"/>
          <a:lstStyle/>
          <a:p>
            <a:pPr indent="0" marL="0">
              <a:buNone/>
            </a:pPr>
            <a:r>
              <a:rPr lang="en-US" sz="1050" dirty="0">
                <a:solidFill>
                  <a:srgbClr val="64748B"/>
                </a:solidFill>
              </a:rPr>
              <a:t>Weighted blend: 60% Popularity + 40% Content-Based scoring. Ranks by combined score to optimize both relevance and diversity.</a:t>
            </a:r>
            <a:endParaRPr lang="en-US" sz="1050" dirty="0"/>
          </a:p>
        </p:txBody>
      </p:sp>
      <p:sp>
        <p:nvSpPr>
          <p:cNvPr id="28" name="Shape 26"/>
          <p:cNvSpPr/>
          <p:nvPr/>
        </p:nvSpPr>
        <p:spPr>
          <a:xfrm>
            <a:off x="6309360" y="3721608"/>
            <a:ext cx="2377440" cy="420624"/>
          </a:xfrm>
          <a:prstGeom prst="rect">
            <a:avLst/>
          </a:prstGeom>
          <a:solidFill>
            <a:srgbClr val="10B981">
              <a:alpha val="15000"/>
            </a:srgbClr>
          </a:solidFill>
          <a:ln/>
        </p:spPr>
      </p:sp>
      <p:sp>
        <p:nvSpPr>
          <p:cNvPr id="29" name="Text 27"/>
          <p:cNvSpPr/>
          <p:nvPr/>
        </p:nvSpPr>
        <p:spPr>
          <a:xfrm>
            <a:off x="6355080" y="3721608"/>
            <a:ext cx="2286000" cy="420624"/>
          </a:xfrm>
          <a:prstGeom prst="rect">
            <a:avLst/>
          </a:prstGeom>
          <a:noFill/>
          <a:ln/>
        </p:spPr>
        <p:txBody>
          <a:bodyPr wrap="square" rtlCol="0" anchor="ctr"/>
          <a:lstStyle/>
          <a:p>
            <a:pPr indent="0" marL="0">
              <a:buNone/>
            </a:pPr>
            <a:r>
              <a:rPr lang="en-US" sz="950" dirty="0">
                <a:solidFill>
                  <a:srgbClr val="1E293B"/>
                </a:solidFill>
              </a:rPr>
              <a:t>✅ Best of both worlds, robust, scalable</a:t>
            </a:r>
            <a:endParaRPr lang="en-US" sz="950" dirty="0"/>
          </a:p>
        </p:txBody>
      </p:sp>
      <p:sp>
        <p:nvSpPr>
          <p:cNvPr id="30" name="Shape 28"/>
          <p:cNvSpPr/>
          <p:nvPr/>
        </p:nvSpPr>
        <p:spPr>
          <a:xfrm>
            <a:off x="6309360" y="4206240"/>
            <a:ext cx="2377440" cy="420624"/>
          </a:xfrm>
          <a:prstGeom prst="rect">
            <a:avLst/>
          </a:prstGeom>
          <a:solidFill>
            <a:srgbClr val="EF4444">
              <a:alpha val="15000"/>
            </a:srgbClr>
          </a:solidFill>
          <a:ln/>
        </p:spPr>
      </p:sp>
      <p:sp>
        <p:nvSpPr>
          <p:cNvPr id="31" name="Text 29"/>
          <p:cNvSpPr/>
          <p:nvPr/>
        </p:nvSpPr>
        <p:spPr>
          <a:xfrm>
            <a:off x="6355080" y="4206240"/>
            <a:ext cx="2286000" cy="420624"/>
          </a:xfrm>
          <a:prstGeom prst="rect">
            <a:avLst/>
          </a:prstGeom>
          <a:noFill/>
          <a:ln/>
        </p:spPr>
        <p:txBody>
          <a:bodyPr wrap="square" rtlCol="0" anchor="ctr"/>
          <a:lstStyle/>
          <a:p>
            <a:pPr indent="0" marL="0">
              <a:buNone/>
            </a:pPr>
            <a:r>
              <a:rPr lang="en-US" sz="950" dirty="0">
                <a:solidFill>
                  <a:srgbClr val="1E293B"/>
                </a:solidFill>
              </a:rPr>
              <a:t>⚠️ Needs weight tuning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MODEL 1 — POPULARITY-BASED RECOMMENDER</a:t>
            </a:r>
            <a:endParaRPr lang="en-US" sz="2200" dirty="0"/>
          </a:p>
        </p:txBody>
      </p:sp>
      <p:sp>
        <p:nvSpPr>
          <p:cNvPr id="4" name="Shape 2"/>
          <p:cNvSpPr/>
          <p:nvPr/>
        </p:nvSpPr>
        <p:spPr>
          <a:xfrm>
            <a:off x="0" y="777240"/>
            <a:ext cx="164592" cy="4366260"/>
          </a:xfrm>
          <a:prstGeom prst="rect">
            <a:avLst/>
          </a:prstGeom>
          <a:solidFill>
            <a:srgbClr val="028090"/>
          </a:solidFill>
          <a:ln/>
        </p:spPr>
      </p:sp>
      <p:graphicFrame>
        <p:nvGraphicFramePr>
          <p:cNvPr id="5" name="Chart 0" descr=""/>
          <p:cNvGraphicFramePr/>
          <p:nvPr/>
        </p:nvGraphicFramePr>
        <p:xfrm>
          <a:off x="320040" y="91440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69280" y="914400"/>
            <a:ext cx="3154680" cy="3200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4"/>
          <p:cNvSpPr/>
          <p:nvPr/>
        </p:nvSpPr>
        <p:spPr>
          <a:xfrm>
            <a:off x="5669280" y="914400"/>
            <a:ext cx="3154680" cy="438912"/>
          </a:xfrm>
          <a:prstGeom prst="rect">
            <a:avLst/>
          </a:prstGeom>
          <a:solidFill>
            <a:srgbClr val="028090"/>
          </a:solidFill>
          <a:ln/>
        </p:spPr>
      </p:sp>
      <p:sp>
        <p:nvSpPr>
          <p:cNvPr id="8" name="Text 5"/>
          <p:cNvSpPr/>
          <p:nvPr/>
        </p:nvSpPr>
        <p:spPr>
          <a:xfrm>
            <a:off x="5669280" y="914400"/>
            <a:ext cx="3154680" cy="438912"/>
          </a:xfrm>
          <a:prstGeom prst="rect">
            <a:avLst/>
          </a:prstGeom>
          <a:noFill/>
          <a:ln/>
        </p:spPr>
        <p:txBody>
          <a:bodyPr wrap="square" lIns="0" tIns="0" rIns="0" bIns="0" rtlCol="0" anchor="ctr"/>
          <a:lstStyle/>
          <a:p>
            <a:pPr algn="ctr" indent="0" marL="0">
              <a:buNone/>
            </a:pPr>
            <a:r>
              <a:rPr lang="en-US" sz="1300" b="1" dirty="0">
                <a:solidFill>
                  <a:srgbClr val="FFFFFF"/>
                </a:solidFill>
              </a:rPr>
              <a:t>How It Works</a:t>
            </a:r>
            <a:endParaRPr lang="en-US" sz="1300" dirty="0"/>
          </a:p>
        </p:txBody>
      </p:sp>
      <p:sp>
        <p:nvSpPr>
          <p:cNvPr id="9" name="Text 6"/>
          <p:cNvSpPr/>
          <p:nvPr/>
        </p:nvSpPr>
        <p:spPr>
          <a:xfrm>
            <a:off x="5760720" y="1444752"/>
            <a:ext cx="2971800" cy="2468880"/>
          </a:xfrm>
          <a:prstGeom prst="rect">
            <a:avLst/>
          </a:prstGeom>
          <a:noFill/>
          <a:ln/>
        </p:spPr>
        <p:txBody>
          <a:bodyPr wrap="square" rtlCol="0" anchor="ctr"/>
          <a:lstStyle/>
          <a:p>
            <a:pPr indent="0" marL="0">
              <a:spcAft>
                <a:spcPts val="900"/>
              </a:spcAft>
              <a:buNone/>
            </a:pPr>
            <a:r>
              <a:rPr lang="en-US" sz="1050" dirty="0">
                <a:solidFill>
                  <a:srgbClr val="1E293B"/>
                </a:solidFill>
              </a:rPr>
              <a:t>Step 1: Aggregate total enrollment_numbers per course from training data</a:t>
            </a:r>
            <a:endParaRPr lang="en-US" sz="1050" dirty="0"/>
          </a:p>
          <a:p>
            <a:pPr indent="0" marL="0">
              <a:spcAft>
                <a:spcPts val="900"/>
              </a:spcAft>
              <a:buNone/>
            </a:pPr>
            <a:r>
              <a:rPr lang="en-US" sz="1050" dirty="0">
                <a:solidFill>
                  <a:srgbClr val="1E293B"/>
                </a:solidFill>
              </a:rPr>
              <a:t>Step 2: Sort all courses by enrollment count (descending)</a:t>
            </a:r>
            <a:endParaRPr lang="en-US" sz="1050" dirty="0"/>
          </a:p>
          <a:p>
            <a:pPr indent="0" marL="0">
              <a:spcAft>
                <a:spcPts val="900"/>
              </a:spcAft>
              <a:buNone/>
            </a:pPr>
            <a:r>
              <a:rPr lang="en-US" sz="1050" dirty="0">
                <a:solidFill>
                  <a:srgbClr val="1E293B"/>
                </a:solidFill>
              </a:rPr>
              <a:t>Step 3: For each user, filter out courses already taken</a:t>
            </a:r>
            <a:endParaRPr lang="en-US" sz="1050" dirty="0"/>
          </a:p>
          <a:p>
            <a:pPr indent="0" marL="0">
              <a:spcAft>
                <a:spcPts val="900"/>
              </a:spcAft>
              <a:buNone/>
            </a:pPr>
            <a:r>
              <a:rPr lang="en-US" sz="1050" dirty="0">
                <a:solidFill>
                  <a:srgbClr val="1E293B"/>
                </a:solidFill>
              </a:rPr>
              <a:t>Step 4: Return top-K courses from the sorted list</a:t>
            </a:r>
            <a:endParaRPr lang="en-US" sz="1050" dirty="0"/>
          </a:p>
          <a:p>
            <a:pPr indent="0" marL="0">
              <a:spcAft>
                <a:spcPts val="900"/>
              </a:spcAft>
              <a:buNone/>
            </a:pPr>
            <a:r>
              <a:rPr lang="en-US" sz="1050" dirty="0">
                <a:solidFill>
                  <a:srgbClr val="1E293B"/>
                </a:solidFill>
              </a:rPr>
              <a:t>Step 5: Tie-breaking: Certification status, then course rating</a:t>
            </a:r>
            <a:endParaRPr lang="en-US" sz="1050" dirty="0"/>
          </a:p>
        </p:txBody>
      </p:sp>
      <p:sp>
        <p:nvSpPr>
          <p:cNvPr id="10" name="Shape 7"/>
          <p:cNvSpPr/>
          <p:nvPr/>
        </p:nvSpPr>
        <p:spPr>
          <a:xfrm>
            <a:off x="320040" y="4251960"/>
            <a:ext cx="8503920" cy="502920"/>
          </a:xfrm>
          <a:prstGeom prst="rect">
            <a:avLst/>
          </a:prstGeom>
          <a:solidFill>
            <a:srgbClr val="028090">
              <a:alpha val="15000"/>
            </a:srgbClr>
          </a:solidFill>
          <a:ln/>
        </p:spPr>
      </p:sp>
      <p:sp>
        <p:nvSpPr>
          <p:cNvPr id="11" name="Text 8"/>
          <p:cNvSpPr/>
          <p:nvPr/>
        </p:nvSpPr>
        <p:spPr>
          <a:xfrm>
            <a:off x="411480" y="4251960"/>
            <a:ext cx="8321040" cy="502920"/>
          </a:xfrm>
          <a:prstGeom prst="rect">
            <a:avLst/>
          </a:prstGeom>
          <a:noFill/>
          <a:ln/>
        </p:spPr>
        <p:txBody>
          <a:bodyPr wrap="square" rtlCol="0" anchor="ctr"/>
          <a:lstStyle/>
          <a:p>
            <a:pPr indent="0" marL="0">
              <a:buNone/>
            </a:pPr>
            <a:r>
              <a:rPr lang="en-US" sz="1100" i="1" dirty="0">
                <a:solidFill>
                  <a:srgbClr val="1E293B"/>
                </a:solidFill>
              </a:rPr>
              <a:t>📊 Result: Precision@5 = 0.059 on holdout test set. Works best for new users with no prior course history (cold-start scenarios).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MODEL 2 — CONTENT-BASED RECOMMENDER (TF-IDF)</a:t>
            </a:r>
            <a:endParaRPr lang="en-US" sz="2200" dirty="0"/>
          </a:p>
        </p:txBody>
      </p:sp>
      <p:sp>
        <p:nvSpPr>
          <p:cNvPr id="4" name="Shape 2"/>
          <p:cNvSpPr/>
          <p:nvPr/>
        </p:nvSpPr>
        <p:spPr>
          <a:xfrm>
            <a:off x="0" y="777240"/>
            <a:ext cx="164592" cy="4366260"/>
          </a:xfrm>
          <a:prstGeom prst="rect">
            <a:avLst/>
          </a:prstGeom>
          <a:solidFill>
            <a:srgbClr val="00A896"/>
          </a:solidFill>
          <a:ln/>
        </p:spPr>
      </p:sp>
      <p:sp>
        <p:nvSpPr>
          <p:cNvPr id="5" name="Shape 3"/>
          <p:cNvSpPr/>
          <p:nvPr/>
        </p:nvSpPr>
        <p:spPr>
          <a:xfrm>
            <a:off x="320040" y="914400"/>
            <a:ext cx="420624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457200" y="1234440"/>
            <a:ext cx="548640" cy="548640"/>
          </a:xfrm>
          <a:prstGeom prst="ellipse">
            <a:avLst/>
          </a:prstGeom>
          <a:solidFill>
            <a:srgbClr val="00A896"/>
          </a:solidFill>
          <a:ln/>
        </p:spPr>
      </p:sp>
      <p:sp>
        <p:nvSpPr>
          <p:cNvPr id="7" name="Text 5"/>
          <p:cNvSpPr/>
          <p:nvPr/>
        </p:nvSpPr>
        <p:spPr>
          <a:xfrm>
            <a:off x="457200" y="1234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6"/>
          <p:cNvSpPr/>
          <p:nvPr/>
        </p:nvSpPr>
        <p:spPr>
          <a:xfrm>
            <a:off x="1143000" y="1005840"/>
            <a:ext cx="3246120" cy="347472"/>
          </a:xfrm>
          <a:prstGeom prst="rect">
            <a:avLst/>
          </a:prstGeom>
          <a:noFill/>
          <a:ln/>
        </p:spPr>
        <p:txBody>
          <a:bodyPr wrap="square" rtlCol="0" anchor="ctr"/>
          <a:lstStyle/>
          <a:p>
            <a:pPr indent="0" marL="0">
              <a:buNone/>
            </a:pPr>
            <a:r>
              <a:rPr lang="en-US" sz="1300" b="1" dirty="0">
                <a:solidFill>
                  <a:srgbClr val="00A896"/>
                </a:solidFill>
              </a:rPr>
              <a:t>Feature Engineering</a:t>
            </a:r>
            <a:endParaRPr lang="en-US" sz="1300" dirty="0"/>
          </a:p>
        </p:txBody>
      </p:sp>
      <p:sp>
        <p:nvSpPr>
          <p:cNvPr id="9" name="Text 7"/>
          <p:cNvSpPr/>
          <p:nvPr/>
        </p:nvSpPr>
        <p:spPr>
          <a:xfrm>
            <a:off x="1143000" y="1353312"/>
            <a:ext cx="3246120" cy="713232"/>
          </a:xfrm>
          <a:prstGeom prst="rect">
            <a:avLst/>
          </a:prstGeom>
          <a:noFill/>
          <a:ln/>
        </p:spPr>
        <p:txBody>
          <a:bodyPr wrap="square" rtlCol="0" anchor="ctr"/>
          <a:lstStyle/>
          <a:p>
            <a:pPr indent="0" marL="0">
              <a:buNone/>
            </a:pPr>
            <a:r>
              <a:rPr lang="en-US" sz="1050" dirty="0">
                <a:solidFill>
                  <a:srgbClr val="1E293B"/>
                </a:solidFill>
              </a:rPr>
              <a:t>Combine difficulty level, certification, study materials, duration bucket, and price tier into a single text 'soup' per course</a:t>
            </a:r>
            <a:endParaRPr lang="en-US" sz="1050" dirty="0"/>
          </a:p>
        </p:txBody>
      </p:sp>
      <p:sp>
        <p:nvSpPr>
          <p:cNvPr id="10" name="Shape 8"/>
          <p:cNvSpPr/>
          <p:nvPr/>
        </p:nvSpPr>
        <p:spPr>
          <a:xfrm>
            <a:off x="4754880" y="914400"/>
            <a:ext cx="420624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4892040" y="1234440"/>
            <a:ext cx="548640" cy="548640"/>
          </a:xfrm>
          <a:prstGeom prst="ellipse">
            <a:avLst/>
          </a:prstGeom>
          <a:solidFill>
            <a:srgbClr val="00A896"/>
          </a:solidFill>
          <a:ln/>
        </p:spPr>
      </p:sp>
      <p:sp>
        <p:nvSpPr>
          <p:cNvPr id="12" name="Text 10"/>
          <p:cNvSpPr/>
          <p:nvPr/>
        </p:nvSpPr>
        <p:spPr>
          <a:xfrm>
            <a:off x="4892040" y="1234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p:nvPr/>
        </p:nvSpPr>
        <p:spPr>
          <a:xfrm>
            <a:off x="5577840" y="1005840"/>
            <a:ext cx="3246120" cy="347472"/>
          </a:xfrm>
          <a:prstGeom prst="rect">
            <a:avLst/>
          </a:prstGeom>
          <a:noFill/>
          <a:ln/>
        </p:spPr>
        <p:txBody>
          <a:bodyPr wrap="square" rtlCol="0" anchor="ctr"/>
          <a:lstStyle/>
          <a:p>
            <a:pPr indent="0" marL="0">
              <a:buNone/>
            </a:pPr>
            <a:r>
              <a:rPr lang="en-US" sz="1300" b="1" dirty="0">
                <a:solidFill>
                  <a:srgbClr val="00A896"/>
                </a:solidFill>
              </a:rPr>
              <a:t>TF-IDF Vectorization</a:t>
            </a:r>
            <a:endParaRPr lang="en-US" sz="1300" dirty="0"/>
          </a:p>
        </p:txBody>
      </p:sp>
      <p:sp>
        <p:nvSpPr>
          <p:cNvPr id="14" name="Text 12"/>
          <p:cNvSpPr/>
          <p:nvPr/>
        </p:nvSpPr>
        <p:spPr>
          <a:xfrm>
            <a:off x="5577840" y="1353312"/>
            <a:ext cx="3246120" cy="713232"/>
          </a:xfrm>
          <a:prstGeom prst="rect">
            <a:avLst/>
          </a:prstGeom>
          <a:noFill/>
          <a:ln/>
        </p:spPr>
        <p:txBody>
          <a:bodyPr wrap="square" rtlCol="0" anchor="ctr"/>
          <a:lstStyle/>
          <a:p>
            <a:pPr indent="0" marL="0">
              <a:buNone/>
            </a:pPr>
            <a:r>
              <a:rPr lang="en-US" sz="1050" dirty="0">
                <a:solidFill>
                  <a:srgbClr val="1E293B"/>
                </a:solidFill>
              </a:rPr>
              <a:t>Apply TF-IDF to the feature soup → (20 × vocab_size) sparse matrix capturing the importance of each term per course</a:t>
            </a:r>
            <a:endParaRPr lang="en-US" sz="1050" dirty="0"/>
          </a:p>
        </p:txBody>
      </p:sp>
      <p:sp>
        <p:nvSpPr>
          <p:cNvPr id="15" name="Shape 13"/>
          <p:cNvSpPr/>
          <p:nvPr/>
        </p:nvSpPr>
        <p:spPr>
          <a:xfrm>
            <a:off x="320040" y="2331720"/>
            <a:ext cx="420624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457200" y="2651760"/>
            <a:ext cx="548640" cy="548640"/>
          </a:xfrm>
          <a:prstGeom prst="ellipse">
            <a:avLst/>
          </a:prstGeom>
          <a:solidFill>
            <a:srgbClr val="00A896"/>
          </a:solidFill>
          <a:ln/>
        </p:spPr>
      </p:sp>
      <p:sp>
        <p:nvSpPr>
          <p:cNvPr id="17" name="Text 15"/>
          <p:cNvSpPr/>
          <p:nvPr/>
        </p:nvSpPr>
        <p:spPr>
          <a:xfrm>
            <a:off x="45720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p:nvPr/>
        </p:nvSpPr>
        <p:spPr>
          <a:xfrm>
            <a:off x="1143000" y="2423160"/>
            <a:ext cx="3246120" cy="347472"/>
          </a:xfrm>
          <a:prstGeom prst="rect">
            <a:avLst/>
          </a:prstGeom>
          <a:noFill/>
          <a:ln/>
        </p:spPr>
        <p:txBody>
          <a:bodyPr wrap="square" rtlCol="0" anchor="ctr"/>
          <a:lstStyle/>
          <a:p>
            <a:pPr indent="0" marL="0">
              <a:buNone/>
            </a:pPr>
            <a:r>
              <a:rPr lang="en-US" sz="1300" b="1" dirty="0">
                <a:solidFill>
                  <a:srgbClr val="00A896"/>
                </a:solidFill>
              </a:rPr>
              <a:t>Cosine Similarity Matrix</a:t>
            </a:r>
            <a:endParaRPr lang="en-US" sz="1300" dirty="0"/>
          </a:p>
        </p:txBody>
      </p:sp>
      <p:sp>
        <p:nvSpPr>
          <p:cNvPr id="19" name="Text 17"/>
          <p:cNvSpPr/>
          <p:nvPr/>
        </p:nvSpPr>
        <p:spPr>
          <a:xfrm>
            <a:off x="1143000" y="2770632"/>
            <a:ext cx="3246120" cy="713232"/>
          </a:xfrm>
          <a:prstGeom prst="rect">
            <a:avLst/>
          </a:prstGeom>
          <a:noFill/>
          <a:ln/>
        </p:spPr>
        <p:txBody>
          <a:bodyPr wrap="square" rtlCol="0" anchor="ctr"/>
          <a:lstStyle/>
          <a:p>
            <a:pPr indent="0" marL="0">
              <a:buNone/>
            </a:pPr>
            <a:r>
              <a:rPr lang="en-US" sz="1050" dirty="0">
                <a:solidFill>
                  <a:srgbClr val="1E293B"/>
                </a:solidFill>
              </a:rPr>
              <a:t>Compute pairwise cosine similarity → 20×20 matrix. Each cell = structural similarity between two courses (0 to 1)</a:t>
            </a:r>
            <a:endParaRPr lang="en-US" sz="1050" dirty="0"/>
          </a:p>
        </p:txBody>
      </p:sp>
      <p:sp>
        <p:nvSpPr>
          <p:cNvPr id="20" name="Shape 18"/>
          <p:cNvSpPr/>
          <p:nvPr/>
        </p:nvSpPr>
        <p:spPr>
          <a:xfrm>
            <a:off x="4754880" y="2331720"/>
            <a:ext cx="420624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Shape 19"/>
          <p:cNvSpPr/>
          <p:nvPr/>
        </p:nvSpPr>
        <p:spPr>
          <a:xfrm>
            <a:off x="4892040" y="2651760"/>
            <a:ext cx="548640" cy="548640"/>
          </a:xfrm>
          <a:prstGeom prst="ellipse">
            <a:avLst/>
          </a:prstGeom>
          <a:solidFill>
            <a:srgbClr val="00A896"/>
          </a:solidFill>
          <a:ln/>
        </p:spPr>
      </p:sp>
      <p:sp>
        <p:nvSpPr>
          <p:cNvPr id="22" name="Text 20"/>
          <p:cNvSpPr/>
          <p:nvPr/>
        </p:nvSpPr>
        <p:spPr>
          <a:xfrm>
            <a:off x="489204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3" name="Text 21"/>
          <p:cNvSpPr/>
          <p:nvPr/>
        </p:nvSpPr>
        <p:spPr>
          <a:xfrm>
            <a:off x="5577840" y="2423160"/>
            <a:ext cx="3246120" cy="347472"/>
          </a:xfrm>
          <a:prstGeom prst="rect">
            <a:avLst/>
          </a:prstGeom>
          <a:noFill/>
          <a:ln/>
        </p:spPr>
        <p:txBody>
          <a:bodyPr wrap="square" rtlCol="0" anchor="ctr"/>
          <a:lstStyle/>
          <a:p>
            <a:pPr indent="0" marL="0">
              <a:buNone/>
            </a:pPr>
            <a:r>
              <a:rPr lang="en-US" sz="1300" b="1" dirty="0">
                <a:solidFill>
                  <a:srgbClr val="00A896"/>
                </a:solidFill>
              </a:rPr>
              <a:t>Scoring &amp; Ranking</a:t>
            </a:r>
            <a:endParaRPr lang="en-US" sz="1300" dirty="0"/>
          </a:p>
        </p:txBody>
      </p:sp>
      <p:sp>
        <p:nvSpPr>
          <p:cNvPr id="24" name="Text 22"/>
          <p:cNvSpPr/>
          <p:nvPr/>
        </p:nvSpPr>
        <p:spPr>
          <a:xfrm>
            <a:off x="5577840" y="2770632"/>
            <a:ext cx="3246120" cy="713232"/>
          </a:xfrm>
          <a:prstGeom prst="rect">
            <a:avLst/>
          </a:prstGeom>
          <a:noFill/>
          <a:ln/>
        </p:spPr>
        <p:txBody>
          <a:bodyPr wrap="square" rtlCol="0" anchor="ctr"/>
          <a:lstStyle/>
          <a:p>
            <a:pPr indent="0" marL="0">
              <a:buNone/>
            </a:pPr>
            <a:r>
              <a:rPr lang="en-US" sz="1050" dirty="0">
                <a:solidFill>
                  <a:srgbClr val="1E293B"/>
                </a:solidFill>
              </a:rPr>
              <a:t>For a user, take their enrolled courses, average their row from the similarity matrix → rank unseen courses by similarity score</a:t>
            </a:r>
            <a:endParaRPr lang="en-US" sz="1050" dirty="0"/>
          </a:p>
        </p:txBody>
      </p:sp>
      <p:sp>
        <p:nvSpPr>
          <p:cNvPr id="25" name="Shape 23"/>
          <p:cNvSpPr/>
          <p:nvPr/>
        </p:nvSpPr>
        <p:spPr>
          <a:xfrm>
            <a:off x="320040" y="3840480"/>
            <a:ext cx="8503920" cy="777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Text 24"/>
          <p:cNvSpPr/>
          <p:nvPr/>
        </p:nvSpPr>
        <p:spPr>
          <a:xfrm>
            <a:off x="411480" y="3877056"/>
            <a:ext cx="5486400" cy="274320"/>
          </a:xfrm>
          <a:prstGeom prst="rect">
            <a:avLst/>
          </a:prstGeom>
          <a:noFill/>
          <a:ln/>
        </p:spPr>
        <p:txBody>
          <a:bodyPr wrap="square" rtlCol="0" anchor="ctr"/>
          <a:lstStyle/>
          <a:p>
            <a:pPr indent="0" marL="0">
              <a:buNone/>
            </a:pPr>
            <a:r>
              <a:rPr lang="en-US" sz="1100" b="1" dirty="0">
                <a:solidFill>
                  <a:srgbClr val="00A896"/>
                </a:solidFill>
              </a:rPr>
              <a:t>Example — Courses Most Similar to 'Python for Beginners':</a:t>
            </a:r>
            <a:endParaRPr lang="en-US" sz="1100" dirty="0"/>
          </a:p>
        </p:txBody>
      </p:sp>
      <p:sp>
        <p:nvSpPr>
          <p:cNvPr id="27" name="Text 25"/>
          <p:cNvSpPr/>
          <p:nvPr/>
        </p:nvSpPr>
        <p:spPr>
          <a:xfrm>
            <a:off x="411480" y="4206240"/>
            <a:ext cx="2057400" cy="320040"/>
          </a:xfrm>
          <a:prstGeom prst="rect">
            <a:avLst/>
          </a:prstGeom>
          <a:noFill/>
          <a:ln/>
        </p:spPr>
        <p:txBody>
          <a:bodyPr wrap="square" rtlCol="0" anchor="ctr"/>
          <a:lstStyle/>
          <a:p>
            <a:pPr indent="0" marL="0">
              <a:buNone/>
            </a:pPr>
            <a:r>
              <a:rPr lang="en-US" sz="1000" dirty="0">
                <a:solidFill>
                  <a:srgbClr val="1E293B"/>
                </a:solidFill>
              </a:rPr>
              <a:t>Stock Market &amp; Trading: 0.792</a:t>
            </a:r>
            <a:endParaRPr lang="en-US" sz="1000" dirty="0"/>
          </a:p>
        </p:txBody>
      </p:sp>
      <p:sp>
        <p:nvSpPr>
          <p:cNvPr id="28" name="Text 26"/>
          <p:cNvSpPr/>
          <p:nvPr/>
        </p:nvSpPr>
        <p:spPr>
          <a:xfrm>
            <a:off x="2560320" y="4206240"/>
            <a:ext cx="2057400" cy="320040"/>
          </a:xfrm>
          <a:prstGeom prst="rect">
            <a:avLst/>
          </a:prstGeom>
          <a:noFill/>
          <a:ln/>
        </p:spPr>
        <p:txBody>
          <a:bodyPr wrap="square" rtlCol="0" anchor="ctr"/>
          <a:lstStyle/>
          <a:p>
            <a:pPr indent="0" marL="0">
              <a:buNone/>
            </a:pPr>
            <a:r>
              <a:rPr lang="en-US" sz="1000" dirty="0">
                <a:solidFill>
                  <a:srgbClr val="1E293B"/>
                </a:solidFill>
              </a:rPr>
              <a:t>Cloud Computing: 0.746</a:t>
            </a:r>
            <a:endParaRPr lang="en-US" sz="1000" dirty="0"/>
          </a:p>
        </p:txBody>
      </p:sp>
      <p:sp>
        <p:nvSpPr>
          <p:cNvPr id="29" name="Text 27"/>
          <p:cNvSpPr/>
          <p:nvPr/>
        </p:nvSpPr>
        <p:spPr>
          <a:xfrm>
            <a:off x="4709160" y="4206240"/>
            <a:ext cx="2057400" cy="320040"/>
          </a:xfrm>
          <a:prstGeom prst="rect">
            <a:avLst/>
          </a:prstGeom>
          <a:noFill/>
          <a:ln/>
        </p:spPr>
        <p:txBody>
          <a:bodyPr wrap="square" rtlCol="0" anchor="ctr"/>
          <a:lstStyle/>
          <a:p>
            <a:pPr indent="0" marL="0">
              <a:buNone/>
            </a:pPr>
            <a:r>
              <a:rPr lang="en-US" sz="1000" dirty="0">
                <a:solidFill>
                  <a:srgbClr val="1E293B"/>
                </a:solidFill>
              </a:rPr>
              <a:t>Fitness &amp; Nutrition: 0.434</a:t>
            </a:r>
            <a:endParaRPr lang="en-US" sz="1000" dirty="0"/>
          </a:p>
        </p:txBody>
      </p:sp>
      <p:sp>
        <p:nvSpPr>
          <p:cNvPr id="30" name="Text 28"/>
          <p:cNvSpPr/>
          <p:nvPr/>
        </p:nvSpPr>
        <p:spPr>
          <a:xfrm>
            <a:off x="6858000" y="4206240"/>
            <a:ext cx="2057400" cy="320040"/>
          </a:xfrm>
          <a:prstGeom prst="rect">
            <a:avLst/>
          </a:prstGeom>
          <a:noFill/>
          <a:ln/>
        </p:spPr>
        <p:txBody>
          <a:bodyPr wrap="square" rtlCol="0" anchor="ctr"/>
          <a:lstStyle/>
          <a:p>
            <a:pPr indent="0" marL="0">
              <a:buNone/>
            </a:pPr>
            <a:r>
              <a:rPr lang="en-US" sz="1000" dirty="0">
                <a:solidFill>
                  <a:srgbClr val="1E293B"/>
                </a:solidFill>
              </a:rPr>
              <a:t>Graphic Design: 0.337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MODEL 3 — HYBRID RECOMMENDER (FINAL MODEL)</a:t>
            </a:r>
            <a:endParaRPr lang="en-US" sz="2200" dirty="0"/>
          </a:p>
        </p:txBody>
      </p:sp>
      <p:sp>
        <p:nvSpPr>
          <p:cNvPr id="4" name="Shape 2"/>
          <p:cNvSpPr/>
          <p:nvPr/>
        </p:nvSpPr>
        <p:spPr>
          <a:xfrm>
            <a:off x="0" y="777240"/>
            <a:ext cx="164592" cy="4366260"/>
          </a:xfrm>
          <a:prstGeom prst="rect">
            <a:avLst/>
          </a:prstGeom>
          <a:solidFill>
            <a:srgbClr val="02C39A"/>
          </a:solidFill>
          <a:ln/>
        </p:spPr>
      </p:sp>
      <p:graphicFrame>
        <p:nvGraphicFramePr>
          <p:cNvPr id="5" name="Chart 0" descr=""/>
          <p:cNvGraphicFramePr/>
          <p:nvPr/>
        </p:nvGraphicFramePr>
        <p:xfrm>
          <a:off x="320040" y="914400"/>
          <a:ext cx="347472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023360" y="914400"/>
            <a:ext cx="4800600" cy="1371600"/>
          </a:xfrm>
          <a:prstGeom prst="rect">
            <a:avLst/>
          </a:prstGeom>
          <a:solidFill>
            <a:srgbClr val="0A1628"/>
          </a:solidFill>
          <a:ln/>
        </p:spPr>
      </p:sp>
      <p:sp>
        <p:nvSpPr>
          <p:cNvPr id="7" name="Text 4"/>
          <p:cNvSpPr/>
          <p:nvPr/>
        </p:nvSpPr>
        <p:spPr>
          <a:xfrm>
            <a:off x="4114800" y="960120"/>
            <a:ext cx="4572000" cy="347472"/>
          </a:xfrm>
          <a:prstGeom prst="rect">
            <a:avLst/>
          </a:prstGeom>
          <a:noFill/>
          <a:ln/>
        </p:spPr>
        <p:txBody>
          <a:bodyPr wrap="square" rtlCol="0" anchor="ctr"/>
          <a:lstStyle/>
          <a:p>
            <a:pPr indent="0" marL="0">
              <a:buNone/>
            </a:pPr>
            <a:r>
              <a:rPr lang="en-US" sz="1200" b="1" dirty="0">
                <a:solidFill>
                  <a:srgbClr val="02C39A"/>
                </a:solidFill>
              </a:rPr>
              <a:t>Hybrid Score Formula</a:t>
            </a:r>
            <a:endParaRPr lang="en-US" sz="1200" dirty="0"/>
          </a:p>
        </p:txBody>
      </p:sp>
      <p:sp>
        <p:nvSpPr>
          <p:cNvPr id="8" name="Text 5"/>
          <p:cNvSpPr/>
          <p:nvPr/>
        </p:nvSpPr>
        <p:spPr>
          <a:xfrm>
            <a:off x="4114800" y="1325880"/>
            <a:ext cx="4572000" cy="82296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hybrid_score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0.60 × norm_popularity_score</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+ 0.40 × content_similarity_score</a:t>
            </a:r>
            <a:endParaRPr lang="en-US" sz="1300" dirty="0"/>
          </a:p>
        </p:txBody>
      </p:sp>
      <p:sp>
        <p:nvSpPr>
          <p:cNvPr id="9" name="Shape 6"/>
          <p:cNvSpPr/>
          <p:nvPr/>
        </p:nvSpPr>
        <p:spPr>
          <a:xfrm>
            <a:off x="4023360" y="2423160"/>
            <a:ext cx="4800600" cy="438912"/>
          </a:xfrm>
          <a:prstGeom prst="rect">
            <a:avLst/>
          </a:prstGeom>
          <a:solidFill>
            <a:srgbClr val="F4FAFA"/>
          </a:solidFill>
          <a:ln/>
        </p:spPr>
      </p:sp>
      <p:sp>
        <p:nvSpPr>
          <p:cNvPr id="10" name="Text 7"/>
          <p:cNvSpPr/>
          <p:nvPr/>
        </p:nvSpPr>
        <p:spPr>
          <a:xfrm>
            <a:off x="4114800" y="2459736"/>
            <a:ext cx="2011680" cy="365760"/>
          </a:xfrm>
          <a:prstGeom prst="rect">
            <a:avLst/>
          </a:prstGeom>
          <a:noFill/>
          <a:ln/>
        </p:spPr>
        <p:txBody>
          <a:bodyPr wrap="square" rtlCol="0" anchor="ctr"/>
          <a:lstStyle/>
          <a:p>
            <a:pPr indent="0" marL="0">
              <a:buNone/>
            </a:pPr>
            <a:r>
              <a:rPr lang="en-US" sz="1100" b="1" dirty="0">
                <a:solidFill>
                  <a:srgbClr val="02C39A"/>
                </a:solidFill>
              </a:rPr>
              <a:t>1. Normalize popularity</a:t>
            </a:r>
            <a:endParaRPr lang="en-US" sz="1100" dirty="0"/>
          </a:p>
        </p:txBody>
      </p:sp>
      <p:sp>
        <p:nvSpPr>
          <p:cNvPr id="11" name="Text 8"/>
          <p:cNvSpPr/>
          <p:nvPr/>
        </p:nvSpPr>
        <p:spPr>
          <a:xfrm>
            <a:off x="6126480" y="2459736"/>
            <a:ext cx="2560320" cy="365760"/>
          </a:xfrm>
          <a:prstGeom prst="rect">
            <a:avLst/>
          </a:prstGeom>
          <a:noFill/>
          <a:ln/>
        </p:spPr>
        <p:txBody>
          <a:bodyPr wrap="square" rtlCol="0" anchor="ctr"/>
          <a:lstStyle/>
          <a:p>
            <a:pPr indent="0" marL="0">
              <a:buNone/>
            </a:pPr>
            <a:r>
              <a:rPr lang="en-US" sz="1050" dirty="0">
                <a:solidFill>
                  <a:srgbClr val="64748B"/>
                </a:solidFill>
              </a:rPr>
              <a:t>Scale enrollment counts to 0-1 range using min-max normalization</a:t>
            </a:r>
            <a:endParaRPr lang="en-US" sz="1050" dirty="0"/>
          </a:p>
        </p:txBody>
      </p:sp>
      <p:sp>
        <p:nvSpPr>
          <p:cNvPr id="12" name="Shape 9"/>
          <p:cNvSpPr/>
          <p:nvPr/>
        </p:nvSpPr>
        <p:spPr>
          <a:xfrm>
            <a:off x="4023360" y="2926080"/>
            <a:ext cx="4800600" cy="438912"/>
          </a:xfrm>
          <a:prstGeom prst="rect">
            <a:avLst/>
          </a:prstGeom>
          <a:solidFill>
            <a:srgbClr val="FFFFFF"/>
          </a:solidFill>
          <a:ln/>
        </p:spPr>
      </p:sp>
      <p:sp>
        <p:nvSpPr>
          <p:cNvPr id="13" name="Text 10"/>
          <p:cNvSpPr/>
          <p:nvPr/>
        </p:nvSpPr>
        <p:spPr>
          <a:xfrm>
            <a:off x="4114800" y="2962656"/>
            <a:ext cx="2011680" cy="365760"/>
          </a:xfrm>
          <a:prstGeom prst="rect">
            <a:avLst/>
          </a:prstGeom>
          <a:noFill/>
          <a:ln/>
        </p:spPr>
        <p:txBody>
          <a:bodyPr wrap="square" rtlCol="0" anchor="ctr"/>
          <a:lstStyle/>
          <a:p>
            <a:pPr indent="0" marL="0">
              <a:buNone/>
            </a:pPr>
            <a:r>
              <a:rPr lang="en-US" sz="1100" b="1" dirty="0">
                <a:solidFill>
                  <a:srgbClr val="02C39A"/>
                </a:solidFill>
              </a:rPr>
              <a:t>2. Compute content score</a:t>
            </a:r>
            <a:endParaRPr lang="en-US" sz="1100" dirty="0"/>
          </a:p>
        </p:txBody>
      </p:sp>
      <p:sp>
        <p:nvSpPr>
          <p:cNvPr id="14" name="Text 11"/>
          <p:cNvSpPr/>
          <p:nvPr/>
        </p:nvSpPr>
        <p:spPr>
          <a:xfrm>
            <a:off x="6126480" y="2962656"/>
            <a:ext cx="2560320" cy="365760"/>
          </a:xfrm>
          <a:prstGeom prst="rect">
            <a:avLst/>
          </a:prstGeom>
          <a:noFill/>
          <a:ln/>
        </p:spPr>
        <p:txBody>
          <a:bodyPr wrap="square" rtlCol="0" anchor="ctr"/>
          <a:lstStyle/>
          <a:p>
            <a:pPr indent="0" marL="0">
              <a:buNone/>
            </a:pPr>
            <a:r>
              <a:rPr lang="en-US" sz="1050" dirty="0">
                <a:solidFill>
                  <a:srgbClr val="64748B"/>
                </a:solidFill>
              </a:rPr>
              <a:t>Average cosine similarity of unseen courses to user's history</a:t>
            </a:r>
            <a:endParaRPr lang="en-US" sz="1050" dirty="0"/>
          </a:p>
        </p:txBody>
      </p:sp>
      <p:sp>
        <p:nvSpPr>
          <p:cNvPr id="15" name="Shape 12"/>
          <p:cNvSpPr/>
          <p:nvPr/>
        </p:nvSpPr>
        <p:spPr>
          <a:xfrm>
            <a:off x="4023360" y="3429000"/>
            <a:ext cx="4800600" cy="438912"/>
          </a:xfrm>
          <a:prstGeom prst="rect">
            <a:avLst/>
          </a:prstGeom>
          <a:solidFill>
            <a:srgbClr val="F4FAFA"/>
          </a:solidFill>
          <a:ln/>
        </p:spPr>
      </p:sp>
      <p:sp>
        <p:nvSpPr>
          <p:cNvPr id="16" name="Text 13"/>
          <p:cNvSpPr/>
          <p:nvPr/>
        </p:nvSpPr>
        <p:spPr>
          <a:xfrm>
            <a:off x="4114800" y="3465576"/>
            <a:ext cx="2011680" cy="365760"/>
          </a:xfrm>
          <a:prstGeom prst="rect">
            <a:avLst/>
          </a:prstGeom>
          <a:noFill/>
          <a:ln/>
        </p:spPr>
        <p:txBody>
          <a:bodyPr wrap="square" rtlCol="0" anchor="ctr"/>
          <a:lstStyle/>
          <a:p>
            <a:pPr indent="0" marL="0">
              <a:buNone/>
            </a:pPr>
            <a:r>
              <a:rPr lang="en-US" sz="1100" b="1" dirty="0">
                <a:solidFill>
                  <a:srgbClr val="02C39A"/>
                </a:solidFill>
              </a:rPr>
              <a:t>3. Weighted combination</a:t>
            </a:r>
            <a:endParaRPr lang="en-US" sz="1100" dirty="0"/>
          </a:p>
        </p:txBody>
      </p:sp>
      <p:sp>
        <p:nvSpPr>
          <p:cNvPr id="17" name="Text 14"/>
          <p:cNvSpPr/>
          <p:nvPr/>
        </p:nvSpPr>
        <p:spPr>
          <a:xfrm>
            <a:off x="6126480" y="3465576"/>
            <a:ext cx="2560320" cy="365760"/>
          </a:xfrm>
          <a:prstGeom prst="rect">
            <a:avLst/>
          </a:prstGeom>
          <a:noFill/>
          <a:ln/>
        </p:spPr>
        <p:txBody>
          <a:bodyPr wrap="square" rtlCol="0" anchor="ctr"/>
          <a:lstStyle/>
          <a:p>
            <a:pPr indent="0" marL="0">
              <a:buNone/>
            </a:pPr>
            <a:r>
              <a:rPr lang="en-US" sz="1050" dirty="0">
                <a:solidFill>
                  <a:srgbClr val="64748B"/>
                </a:solidFill>
              </a:rPr>
              <a:t>60% popularity + 40% content → final hybrid score per course</a:t>
            </a:r>
            <a:endParaRPr lang="en-US" sz="1050" dirty="0"/>
          </a:p>
        </p:txBody>
      </p:sp>
      <p:sp>
        <p:nvSpPr>
          <p:cNvPr id="18" name="Shape 15"/>
          <p:cNvSpPr/>
          <p:nvPr/>
        </p:nvSpPr>
        <p:spPr>
          <a:xfrm>
            <a:off x="4023360" y="3931920"/>
            <a:ext cx="4800600" cy="438912"/>
          </a:xfrm>
          <a:prstGeom prst="rect">
            <a:avLst/>
          </a:prstGeom>
          <a:solidFill>
            <a:srgbClr val="FFFFFF"/>
          </a:solidFill>
          <a:ln/>
        </p:spPr>
      </p:sp>
      <p:sp>
        <p:nvSpPr>
          <p:cNvPr id="19" name="Text 16"/>
          <p:cNvSpPr/>
          <p:nvPr/>
        </p:nvSpPr>
        <p:spPr>
          <a:xfrm>
            <a:off x="4114800" y="3968496"/>
            <a:ext cx="2011680" cy="365760"/>
          </a:xfrm>
          <a:prstGeom prst="rect">
            <a:avLst/>
          </a:prstGeom>
          <a:noFill/>
          <a:ln/>
        </p:spPr>
        <p:txBody>
          <a:bodyPr wrap="square" rtlCol="0" anchor="ctr"/>
          <a:lstStyle/>
          <a:p>
            <a:pPr indent="0" marL="0">
              <a:buNone/>
            </a:pPr>
            <a:r>
              <a:rPr lang="en-US" sz="1100" b="1" dirty="0">
                <a:solidFill>
                  <a:srgbClr val="02C39A"/>
                </a:solidFill>
              </a:rPr>
              <a:t>4. Rank &amp; filter</a:t>
            </a:r>
            <a:endParaRPr lang="en-US" sz="1100" dirty="0"/>
          </a:p>
        </p:txBody>
      </p:sp>
      <p:sp>
        <p:nvSpPr>
          <p:cNvPr id="20" name="Text 17"/>
          <p:cNvSpPr/>
          <p:nvPr/>
        </p:nvSpPr>
        <p:spPr>
          <a:xfrm>
            <a:off x="6126480" y="3968496"/>
            <a:ext cx="2560320" cy="365760"/>
          </a:xfrm>
          <a:prstGeom prst="rect">
            <a:avLst/>
          </a:prstGeom>
          <a:noFill/>
          <a:ln/>
        </p:spPr>
        <p:txBody>
          <a:bodyPr wrap="square" rtlCol="0" anchor="ctr"/>
          <a:lstStyle/>
          <a:p>
            <a:pPr indent="0" marL="0">
              <a:buNone/>
            </a:pPr>
            <a:r>
              <a:rPr lang="en-US" sz="1050" dirty="0">
                <a:solidFill>
                  <a:srgbClr val="64748B"/>
                </a:solidFill>
              </a:rPr>
              <a:t>Sort by hybrid score, exclude already-enrolled courses, return top-K</a:t>
            </a:r>
            <a:endParaRPr lang="en-US" sz="1050" dirty="0"/>
          </a:p>
        </p:txBody>
      </p:sp>
      <p:sp>
        <p:nvSpPr>
          <p:cNvPr id="21" name="Shape 18"/>
          <p:cNvSpPr/>
          <p:nvPr/>
        </p:nvSpPr>
        <p:spPr>
          <a:xfrm>
            <a:off x="320040" y="4279392"/>
            <a:ext cx="8503920" cy="502920"/>
          </a:xfrm>
          <a:prstGeom prst="rect">
            <a:avLst/>
          </a:prstGeom>
          <a:solidFill>
            <a:srgbClr val="02C39A">
              <a:alpha val="15000"/>
            </a:srgbClr>
          </a:solidFill>
          <a:ln/>
        </p:spPr>
      </p:sp>
      <p:sp>
        <p:nvSpPr>
          <p:cNvPr id="22" name="Text 19"/>
          <p:cNvSpPr/>
          <p:nvPr/>
        </p:nvSpPr>
        <p:spPr>
          <a:xfrm>
            <a:off x="411480" y="4279392"/>
            <a:ext cx="8321040" cy="502920"/>
          </a:xfrm>
          <a:prstGeom prst="rect">
            <a:avLst/>
          </a:prstGeom>
          <a:noFill/>
          <a:ln/>
        </p:spPr>
        <p:txBody>
          <a:bodyPr wrap="square" rtlCol="0" anchor="ctr"/>
          <a:lstStyle/>
          <a:p>
            <a:pPr indent="0" marL="0">
              <a:buNone/>
            </a:pPr>
            <a:r>
              <a:rPr lang="en-US" sz="1100" i="1" dirty="0">
                <a:solidFill>
                  <a:srgbClr val="1E293B"/>
                </a:solidFill>
              </a:rPr>
              <a:t>✅ Why 60-40? Popularity provides a reliable baseline; content-based adds personalization without over-relying on sparse user history.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DATA PREPARATION — TRAIN / TEST SPLIT</a:t>
            </a:r>
            <a:endParaRPr lang="en-US" sz="2400" dirty="0"/>
          </a:p>
        </p:txBody>
      </p:sp>
      <p:sp>
        <p:nvSpPr>
          <p:cNvPr id="4" name="Shape 2"/>
          <p:cNvSpPr/>
          <p:nvPr/>
        </p:nvSpPr>
        <p:spPr>
          <a:xfrm>
            <a:off x="0" y="777240"/>
            <a:ext cx="164592" cy="4366260"/>
          </a:xfrm>
          <a:prstGeom prst="rect">
            <a:avLst/>
          </a:prstGeom>
          <a:solidFill>
            <a:srgbClr val="028090"/>
          </a:solidFill>
          <a:ln/>
        </p:spPr>
      </p:sp>
      <p:graphicFrame>
        <p:nvGraphicFramePr>
          <p:cNvPr id="5" name="Chart 0" descr=""/>
          <p:cNvGraphicFramePr/>
          <p:nvPr/>
        </p:nvGraphicFramePr>
        <p:xfrm>
          <a:off x="320040" y="914400"/>
          <a:ext cx="347472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023360" y="914400"/>
          <a:ext cx="4800600" cy="2560320"/>
        </p:xfrm>
        <a:graphic>
          <a:graphicData uri="http://schemas.openxmlformats.org/drawingml/2006/table">
            <a:tbl>
              <a:tblPr/>
              <a:tblGrid>
                <a:gridCol w="1920240"/>
                <a:gridCol w="1463040"/>
                <a:gridCol w="1417320"/>
              </a:tblGrid>
              <a:tr h="402336">
                <a:tc>
                  <a:txBody>
                    <a:bodyPr/>
                    <a:lstStyle/>
                    <a:p>
                      <a:pPr algn="ctr" indent="0" marL="0">
                        <a:buNone/>
                      </a:pPr>
                      <a:r>
                        <a:rPr lang="en-US" sz="1100" b="1" dirty="0">
                          <a:solidFill>
                            <a:srgbClr val="FFFFFF"/>
                          </a:solidFill>
                        </a:rPr>
                        <a:t>Metric</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Training Set</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Test Set</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402336">
                <a:tc>
                  <a:txBody>
                    <a:bodyPr/>
                    <a:lstStyle/>
                    <a:p>
                      <a:pPr algn="ctr" indent="0" marL="0">
                        <a:buNone/>
                      </a:pPr>
                      <a:r>
                        <a:rPr lang="en-US" sz="1100" dirty="0">
                          <a:solidFill>
                            <a:srgbClr val="1E293B"/>
                          </a:solidFill>
                        </a:rPr>
                        <a:t>Total Enrollments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70,000 (70%)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30,000 (30%)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100" dirty="0">
                          <a:solidFill>
                            <a:srgbClr val="1E293B"/>
                          </a:solidFill>
                        </a:rPr>
                        <a:t>Unique Users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30,147</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13,095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100" dirty="0">
                          <a:solidFill>
                            <a:srgbClr val="1E293B"/>
                          </a:solidFill>
                        </a:rPr>
                        <a:t>Split Strategy</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Random 70%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Random 30%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100" dirty="0">
                          <a:solidFill>
                            <a:srgbClr val="1E293B"/>
                          </a:solidFill>
                        </a:rPr>
                        <a:t>Purpose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Model training &amp; fitting</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Holdout evaluation</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100" dirty="0">
                          <a:solidFill>
                            <a:srgbClr val="1E293B"/>
                          </a:solidFill>
                        </a:rPr>
                        <a:t>Evaluation Method</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Precision@5 on test users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rPr>
                        <a:t>Recall@K, NDCG@K</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3"/>
          <p:cNvSpPr/>
          <p:nvPr/>
        </p:nvSpPr>
        <p:spPr>
          <a:xfrm>
            <a:off x="4023360" y="3611880"/>
            <a:ext cx="4800600" cy="685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4"/>
          <p:cNvSpPr/>
          <p:nvPr/>
        </p:nvSpPr>
        <p:spPr>
          <a:xfrm>
            <a:off x="4114800" y="3639312"/>
            <a:ext cx="2743200" cy="274320"/>
          </a:xfrm>
          <a:prstGeom prst="rect">
            <a:avLst/>
          </a:prstGeom>
          <a:noFill/>
          <a:ln/>
        </p:spPr>
        <p:txBody>
          <a:bodyPr wrap="square" rtlCol="0" anchor="ctr"/>
          <a:lstStyle/>
          <a:p>
            <a:pPr indent="0" marL="0">
              <a:buNone/>
            </a:pPr>
            <a:r>
              <a:rPr lang="en-US" sz="1100" b="1" dirty="0">
                <a:solidFill>
                  <a:srgbClr val="028090"/>
                </a:solidFill>
              </a:rPr>
              <a:t>Evaluation Protocol</a:t>
            </a:r>
            <a:endParaRPr lang="en-US" sz="1100" dirty="0"/>
          </a:p>
        </p:txBody>
      </p:sp>
      <p:sp>
        <p:nvSpPr>
          <p:cNvPr id="9" name="Text 5"/>
          <p:cNvSpPr/>
          <p:nvPr/>
        </p:nvSpPr>
        <p:spPr>
          <a:xfrm>
            <a:off x="4114800" y="3904488"/>
            <a:ext cx="4617720" cy="347472"/>
          </a:xfrm>
          <a:prstGeom prst="rect">
            <a:avLst/>
          </a:prstGeom>
          <a:noFill/>
          <a:ln/>
        </p:spPr>
        <p:txBody>
          <a:bodyPr wrap="square" rtlCol="0" anchor="ctr"/>
          <a:lstStyle/>
          <a:p>
            <a:pPr indent="0" marL="0">
              <a:buNone/>
            </a:pPr>
            <a:r>
              <a:rPr lang="en-US" sz="1000" dirty="0">
                <a:solidFill>
                  <a:srgbClr val="1E293B"/>
                </a:solidFill>
              </a:rPr>
              <a:t>For each test user, use only their training-set history as input. Measure whether recommended courses match their actual test-set enrollments.</a:t>
            </a:r>
            <a:endParaRPr lang="en-US" sz="1000" dirty="0"/>
          </a:p>
        </p:txBody>
      </p:sp>
      <p:sp>
        <p:nvSpPr>
          <p:cNvPr id="10" name="Shape 6"/>
          <p:cNvSpPr/>
          <p:nvPr/>
        </p:nvSpPr>
        <p:spPr>
          <a:xfrm>
            <a:off x="320040" y="4315968"/>
            <a:ext cx="8503920" cy="457200"/>
          </a:xfrm>
          <a:prstGeom prst="rect">
            <a:avLst/>
          </a:prstGeom>
          <a:solidFill>
            <a:srgbClr val="028090">
              <a:alpha val="15000"/>
            </a:srgbClr>
          </a:solidFill>
          <a:ln/>
        </p:spPr>
      </p:sp>
      <p:sp>
        <p:nvSpPr>
          <p:cNvPr id="11" name="Text 7"/>
          <p:cNvSpPr/>
          <p:nvPr/>
        </p:nvSpPr>
        <p:spPr>
          <a:xfrm>
            <a:off x="411480" y="4315968"/>
            <a:ext cx="8321040" cy="457200"/>
          </a:xfrm>
          <a:prstGeom prst="rect">
            <a:avLst/>
          </a:prstGeom>
          <a:noFill/>
          <a:ln/>
        </p:spPr>
        <p:txBody>
          <a:bodyPr wrap="square" rtlCol="0" anchor="ctr"/>
          <a:lstStyle/>
          <a:p>
            <a:pPr indent="0" marL="0">
              <a:buNone/>
            </a:pPr>
            <a:r>
              <a:rPr lang="en-US" sz="1100" i="1" dirty="0">
                <a:solidFill>
                  <a:srgbClr val="1E293B"/>
                </a:solidFill>
              </a:rPr>
              <a:t>💡 Holdout method ensures evaluation reflects real-world usage — the model is tested on users it hasn't optimized for.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EVALUATION FRAMEWORK — METRICS EXPLAINED</a:t>
            </a:r>
            <a:endParaRPr lang="en-US" sz="22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14400"/>
            <a:ext cx="420624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914400"/>
            <a:ext cx="4206240" cy="411480"/>
          </a:xfrm>
          <a:prstGeom prst="rect">
            <a:avLst/>
          </a:prstGeom>
          <a:solidFill>
            <a:srgbClr val="028090"/>
          </a:solidFill>
          <a:ln/>
        </p:spPr>
      </p:sp>
      <p:sp>
        <p:nvSpPr>
          <p:cNvPr id="7" name="Text 5"/>
          <p:cNvSpPr/>
          <p:nvPr/>
        </p:nvSpPr>
        <p:spPr>
          <a:xfrm>
            <a:off x="320040" y="914400"/>
            <a:ext cx="4206240" cy="411480"/>
          </a:xfrm>
          <a:prstGeom prst="rect">
            <a:avLst/>
          </a:prstGeom>
          <a:noFill/>
          <a:ln/>
        </p:spPr>
        <p:txBody>
          <a:bodyPr wrap="square" lIns="0" tIns="0" rIns="0" bIns="0" rtlCol="0" anchor="ctr"/>
          <a:lstStyle/>
          <a:p>
            <a:pPr algn="ctr" indent="0" marL="0">
              <a:buNone/>
            </a:pPr>
            <a:r>
              <a:rPr lang="en-US" sz="1400" b="1" dirty="0">
                <a:solidFill>
                  <a:srgbClr val="FFFFFF"/>
                </a:solidFill>
              </a:rPr>
              <a:t>Precision@K</a:t>
            </a:r>
            <a:endParaRPr lang="en-US" sz="1400" dirty="0"/>
          </a:p>
        </p:txBody>
      </p:sp>
      <p:sp>
        <p:nvSpPr>
          <p:cNvPr id="8" name="Shape 6"/>
          <p:cNvSpPr/>
          <p:nvPr/>
        </p:nvSpPr>
        <p:spPr>
          <a:xfrm>
            <a:off x="429768" y="1389888"/>
            <a:ext cx="1371600" cy="822960"/>
          </a:xfrm>
          <a:prstGeom prst="rect">
            <a:avLst/>
          </a:prstGeom>
          <a:solidFill>
            <a:srgbClr val="028090">
              <a:alpha val="12000"/>
            </a:srgbClr>
          </a:solidFill>
          <a:ln/>
        </p:spPr>
      </p:sp>
      <p:sp>
        <p:nvSpPr>
          <p:cNvPr id="9" name="Text 7"/>
          <p:cNvSpPr/>
          <p:nvPr/>
        </p:nvSpPr>
        <p:spPr>
          <a:xfrm>
            <a:off x="429768" y="1389888"/>
            <a:ext cx="1371600" cy="822960"/>
          </a:xfrm>
          <a:prstGeom prst="rect">
            <a:avLst/>
          </a:prstGeom>
          <a:noFill/>
          <a:ln/>
        </p:spPr>
        <p:txBody>
          <a:bodyPr wrap="square" lIns="0" tIns="0" rIns="0" bIns="0" rtlCol="0" anchor="ctr"/>
          <a:lstStyle/>
          <a:p>
            <a:pPr algn="ctr" indent="0" marL="0">
              <a:buNone/>
            </a:pPr>
            <a:r>
              <a:rPr lang="en-US" sz="850" dirty="0">
                <a:solidFill>
                  <a:srgbClr val="1E293B"/>
                </a:solidFill>
                <a:latin typeface="Consolas" pitchFamily="34" charset="0"/>
                <a:ea typeface="Consolas" pitchFamily="34" charset="-122"/>
                <a:cs typeface="Consolas" pitchFamily="34" charset="-120"/>
              </a:rPr>
              <a:t>Relevant items in top-K</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        K</a:t>
            </a:r>
            <a:endParaRPr lang="en-US" sz="850" dirty="0"/>
          </a:p>
        </p:txBody>
      </p:sp>
      <p:sp>
        <p:nvSpPr>
          <p:cNvPr id="10" name="Text 8"/>
          <p:cNvSpPr/>
          <p:nvPr/>
        </p:nvSpPr>
        <p:spPr>
          <a:xfrm>
            <a:off x="1920240" y="1389888"/>
            <a:ext cx="2468880" cy="822960"/>
          </a:xfrm>
          <a:prstGeom prst="rect">
            <a:avLst/>
          </a:prstGeom>
          <a:noFill/>
          <a:ln/>
        </p:spPr>
        <p:txBody>
          <a:bodyPr wrap="square" rtlCol="0" anchor="ctr"/>
          <a:lstStyle/>
          <a:p>
            <a:pPr indent="0" marL="0">
              <a:buNone/>
            </a:pPr>
            <a:r>
              <a:rPr lang="en-US" sz="1000" dirty="0">
                <a:solidFill>
                  <a:srgbClr val="1E293B"/>
                </a:solidFill>
              </a:rPr>
              <a:t>Fraction of recommended items that the user actually enrolled in and rated ≥4 stars. Higher = more relevant recommendations.</a:t>
            </a:r>
            <a:endParaRPr lang="en-US" sz="1000" dirty="0"/>
          </a:p>
        </p:txBody>
      </p:sp>
      <p:sp>
        <p:nvSpPr>
          <p:cNvPr id="11" name="Shape 9"/>
          <p:cNvSpPr/>
          <p:nvPr/>
        </p:nvSpPr>
        <p:spPr>
          <a:xfrm>
            <a:off x="4754880" y="914400"/>
            <a:ext cx="420624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754880" y="914400"/>
            <a:ext cx="4206240" cy="411480"/>
          </a:xfrm>
          <a:prstGeom prst="rect">
            <a:avLst/>
          </a:prstGeom>
          <a:solidFill>
            <a:srgbClr val="00A896"/>
          </a:solidFill>
          <a:ln/>
        </p:spPr>
      </p:sp>
      <p:sp>
        <p:nvSpPr>
          <p:cNvPr id="13" name="Text 11"/>
          <p:cNvSpPr/>
          <p:nvPr/>
        </p:nvSpPr>
        <p:spPr>
          <a:xfrm>
            <a:off x="4754880" y="914400"/>
            <a:ext cx="4206240" cy="411480"/>
          </a:xfrm>
          <a:prstGeom prst="rect">
            <a:avLst/>
          </a:prstGeom>
          <a:noFill/>
          <a:ln/>
        </p:spPr>
        <p:txBody>
          <a:bodyPr wrap="square" lIns="0" tIns="0" rIns="0" bIns="0" rtlCol="0" anchor="ctr"/>
          <a:lstStyle/>
          <a:p>
            <a:pPr algn="ctr" indent="0" marL="0">
              <a:buNone/>
            </a:pPr>
            <a:r>
              <a:rPr lang="en-US" sz="1400" b="1" dirty="0">
                <a:solidFill>
                  <a:srgbClr val="FFFFFF"/>
                </a:solidFill>
              </a:rPr>
              <a:t>Recall@K</a:t>
            </a:r>
            <a:endParaRPr lang="en-US" sz="1400" dirty="0"/>
          </a:p>
        </p:txBody>
      </p:sp>
      <p:sp>
        <p:nvSpPr>
          <p:cNvPr id="14" name="Shape 12"/>
          <p:cNvSpPr/>
          <p:nvPr/>
        </p:nvSpPr>
        <p:spPr>
          <a:xfrm>
            <a:off x="4864608" y="1389888"/>
            <a:ext cx="1371600" cy="822960"/>
          </a:xfrm>
          <a:prstGeom prst="rect">
            <a:avLst/>
          </a:prstGeom>
          <a:solidFill>
            <a:srgbClr val="00A896">
              <a:alpha val="12000"/>
            </a:srgbClr>
          </a:solidFill>
          <a:ln/>
        </p:spPr>
      </p:sp>
      <p:sp>
        <p:nvSpPr>
          <p:cNvPr id="15" name="Text 13"/>
          <p:cNvSpPr/>
          <p:nvPr/>
        </p:nvSpPr>
        <p:spPr>
          <a:xfrm>
            <a:off x="4864608" y="1389888"/>
            <a:ext cx="1371600" cy="822960"/>
          </a:xfrm>
          <a:prstGeom prst="rect">
            <a:avLst/>
          </a:prstGeom>
          <a:noFill/>
          <a:ln/>
        </p:spPr>
        <p:txBody>
          <a:bodyPr wrap="square" lIns="0" tIns="0" rIns="0" bIns="0" rtlCol="0" anchor="ctr"/>
          <a:lstStyle/>
          <a:p>
            <a:pPr algn="ctr" indent="0" marL="0">
              <a:buNone/>
            </a:pPr>
            <a:r>
              <a:rPr lang="en-US" sz="850" dirty="0">
                <a:solidFill>
                  <a:srgbClr val="1E293B"/>
                </a:solidFill>
                <a:latin typeface="Consolas" pitchFamily="34" charset="0"/>
                <a:ea typeface="Consolas" pitchFamily="34" charset="-122"/>
                <a:cs typeface="Consolas" pitchFamily="34" charset="-120"/>
              </a:rPr>
              <a:t>Relevant items in top-K</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Total relevant items</a:t>
            </a:r>
            <a:endParaRPr lang="en-US" sz="850" dirty="0"/>
          </a:p>
        </p:txBody>
      </p:sp>
      <p:sp>
        <p:nvSpPr>
          <p:cNvPr id="16" name="Text 14"/>
          <p:cNvSpPr/>
          <p:nvPr/>
        </p:nvSpPr>
        <p:spPr>
          <a:xfrm>
            <a:off x="6355080" y="1389888"/>
            <a:ext cx="2468880" cy="822960"/>
          </a:xfrm>
          <a:prstGeom prst="rect">
            <a:avLst/>
          </a:prstGeom>
          <a:noFill/>
          <a:ln/>
        </p:spPr>
        <p:txBody>
          <a:bodyPr wrap="square" rtlCol="0" anchor="ctr"/>
          <a:lstStyle/>
          <a:p>
            <a:pPr indent="0" marL="0">
              <a:buNone/>
            </a:pPr>
            <a:r>
              <a:rPr lang="en-US" sz="1000" dirty="0">
                <a:solidFill>
                  <a:srgbClr val="1E293B"/>
                </a:solidFill>
              </a:rPr>
              <a:t>Fraction of all courses the user liked that appear in the top-K recommendations. Higher = fewer missed courses.</a:t>
            </a:r>
            <a:endParaRPr lang="en-US" sz="1000" dirty="0"/>
          </a:p>
        </p:txBody>
      </p:sp>
      <p:sp>
        <p:nvSpPr>
          <p:cNvPr id="17" name="Shape 15"/>
          <p:cNvSpPr/>
          <p:nvPr/>
        </p:nvSpPr>
        <p:spPr>
          <a:xfrm>
            <a:off x="320040" y="2514600"/>
            <a:ext cx="420624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320040" y="2514600"/>
            <a:ext cx="4206240" cy="411480"/>
          </a:xfrm>
          <a:prstGeom prst="rect">
            <a:avLst/>
          </a:prstGeom>
          <a:solidFill>
            <a:srgbClr val="02C39A"/>
          </a:solidFill>
          <a:ln/>
        </p:spPr>
      </p:sp>
      <p:sp>
        <p:nvSpPr>
          <p:cNvPr id="19" name="Text 17"/>
          <p:cNvSpPr/>
          <p:nvPr/>
        </p:nvSpPr>
        <p:spPr>
          <a:xfrm>
            <a:off x="320040" y="2514600"/>
            <a:ext cx="4206240" cy="411480"/>
          </a:xfrm>
          <a:prstGeom prst="rect">
            <a:avLst/>
          </a:prstGeom>
          <a:noFill/>
          <a:ln/>
        </p:spPr>
        <p:txBody>
          <a:bodyPr wrap="square" lIns="0" tIns="0" rIns="0" bIns="0" rtlCol="0" anchor="ctr"/>
          <a:lstStyle/>
          <a:p>
            <a:pPr algn="ctr" indent="0" marL="0">
              <a:buNone/>
            </a:pPr>
            <a:r>
              <a:rPr lang="en-US" sz="1400" b="1" dirty="0">
                <a:solidFill>
                  <a:srgbClr val="FFFFFF"/>
                </a:solidFill>
              </a:rPr>
              <a:t>NDCG@K</a:t>
            </a:r>
            <a:endParaRPr lang="en-US" sz="1400" dirty="0"/>
          </a:p>
        </p:txBody>
      </p:sp>
      <p:sp>
        <p:nvSpPr>
          <p:cNvPr id="20" name="Shape 18"/>
          <p:cNvSpPr/>
          <p:nvPr/>
        </p:nvSpPr>
        <p:spPr>
          <a:xfrm>
            <a:off x="429768" y="2990088"/>
            <a:ext cx="1371600" cy="822960"/>
          </a:xfrm>
          <a:prstGeom prst="rect">
            <a:avLst/>
          </a:prstGeom>
          <a:solidFill>
            <a:srgbClr val="02C39A">
              <a:alpha val="12000"/>
            </a:srgbClr>
          </a:solidFill>
          <a:ln/>
        </p:spPr>
      </p:sp>
      <p:sp>
        <p:nvSpPr>
          <p:cNvPr id="21" name="Text 19"/>
          <p:cNvSpPr/>
          <p:nvPr/>
        </p:nvSpPr>
        <p:spPr>
          <a:xfrm>
            <a:off x="429768" y="2990088"/>
            <a:ext cx="1371600" cy="822960"/>
          </a:xfrm>
          <a:prstGeom prst="rect">
            <a:avLst/>
          </a:prstGeom>
          <a:noFill/>
          <a:ln/>
        </p:spPr>
        <p:txBody>
          <a:bodyPr wrap="square" lIns="0" tIns="0" rIns="0" bIns="0" rtlCol="0" anchor="ctr"/>
          <a:lstStyle/>
          <a:p>
            <a:pPr algn="ctr" indent="0" marL="0">
              <a:buNone/>
            </a:pPr>
            <a:r>
              <a:rPr lang="en-US" sz="850" dirty="0">
                <a:solidFill>
                  <a:srgbClr val="1E293B"/>
                </a:solidFill>
                <a:latin typeface="Consolas" pitchFamily="34" charset="0"/>
                <a:ea typeface="Consolas" pitchFamily="34" charset="-122"/>
                <a:cs typeface="Consolas" pitchFamily="34" charset="-120"/>
              </a:rPr>
              <a:t>DCG@K</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iDCG@K</a:t>
            </a:r>
            <a:endParaRPr lang="en-US" sz="850" dirty="0"/>
          </a:p>
        </p:txBody>
      </p:sp>
      <p:sp>
        <p:nvSpPr>
          <p:cNvPr id="22" name="Text 20"/>
          <p:cNvSpPr/>
          <p:nvPr/>
        </p:nvSpPr>
        <p:spPr>
          <a:xfrm>
            <a:off x="1920240" y="2990088"/>
            <a:ext cx="2468880" cy="822960"/>
          </a:xfrm>
          <a:prstGeom prst="rect">
            <a:avLst/>
          </a:prstGeom>
          <a:noFill/>
          <a:ln/>
        </p:spPr>
        <p:txBody>
          <a:bodyPr wrap="square" rtlCol="0" anchor="ctr"/>
          <a:lstStyle/>
          <a:p>
            <a:pPr indent="0" marL="0">
              <a:buNone/>
            </a:pPr>
            <a:r>
              <a:rPr lang="en-US" sz="1000" dirty="0">
                <a:solidFill>
                  <a:srgbClr val="1E293B"/>
                </a:solidFill>
              </a:rPr>
              <a:t>Normalized Discounted Cumulative Gain — rewards models that place highly relevant items at the TOP of the recommendation list.</a:t>
            </a:r>
            <a:endParaRPr lang="en-US" sz="1000" dirty="0"/>
          </a:p>
        </p:txBody>
      </p:sp>
      <p:sp>
        <p:nvSpPr>
          <p:cNvPr id="23" name="Shape 21"/>
          <p:cNvSpPr/>
          <p:nvPr/>
        </p:nvSpPr>
        <p:spPr>
          <a:xfrm>
            <a:off x="4754880" y="2514600"/>
            <a:ext cx="420624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4754880" y="2514600"/>
            <a:ext cx="4206240" cy="411480"/>
          </a:xfrm>
          <a:prstGeom prst="rect">
            <a:avLst/>
          </a:prstGeom>
          <a:solidFill>
            <a:srgbClr val="F59E0B"/>
          </a:solidFill>
          <a:ln/>
        </p:spPr>
      </p:sp>
      <p:sp>
        <p:nvSpPr>
          <p:cNvPr id="25" name="Text 23"/>
          <p:cNvSpPr/>
          <p:nvPr/>
        </p:nvSpPr>
        <p:spPr>
          <a:xfrm>
            <a:off x="4754880" y="2514600"/>
            <a:ext cx="4206240" cy="411480"/>
          </a:xfrm>
          <a:prstGeom prst="rect">
            <a:avLst/>
          </a:prstGeom>
          <a:noFill/>
          <a:ln/>
        </p:spPr>
        <p:txBody>
          <a:bodyPr wrap="square" lIns="0" tIns="0" rIns="0" bIns="0" rtlCol="0" anchor="ctr"/>
          <a:lstStyle/>
          <a:p>
            <a:pPr algn="ctr" indent="0" marL="0">
              <a:buNone/>
            </a:pPr>
            <a:r>
              <a:rPr lang="en-US" sz="1400" b="1" dirty="0">
                <a:solidFill>
                  <a:srgbClr val="FFFFFF"/>
                </a:solidFill>
              </a:rPr>
              <a:t>Coverage</a:t>
            </a:r>
            <a:endParaRPr lang="en-US" sz="1400" dirty="0"/>
          </a:p>
        </p:txBody>
      </p:sp>
      <p:sp>
        <p:nvSpPr>
          <p:cNvPr id="26" name="Shape 24"/>
          <p:cNvSpPr/>
          <p:nvPr/>
        </p:nvSpPr>
        <p:spPr>
          <a:xfrm>
            <a:off x="4864608" y="2990088"/>
            <a:ext cx="1371600" cy="822960"/>
          </a:xfrm>
          <a:prstGeom prst="rect">
            <a:avLst/>
          </a:prstGeom>
          <a:solidFill>
            <a:srgbClr val="F59E0B">
              <a:alpha val="12000"/>
            </a:srgbClr>
          </a:solidFill>
          <a:ln/>
        </p:spPr>
      </p:sp>
      <p:sp>
        <p:nvSpPr>
          <p:cNvPr id="27" name="Text 25"/>
          <p:cNvSpPr/>
          <p:nvPr/>
        </p:nvSpPr>
        <p:spPr>
          <a:xfrm>
            <a:off x="4864608" y="2990088"/>
            <a:ext cx="1371600" cy="822960"/>
          </a:xfrm>
          <a:prstGeom prst="rect">
            <a:avLst/>
          </a:prstGeom>
          <a:noFill/>
          <a:ln/>
        </p:spPr>
        <p:txBody>
          <a:bodyPr wrap="square" lIns="0" tIns="0" rIns="0" bIns="0" rtlCol="0" anchor="ctr"/>
          <a:lstStyle/>
          <a:p>
            <a:pPr algn="ctr" indent="0" marL="0">
              <a:buNone/>
            </a:pPr>
            <a:r>
              <a:rPr lang="en-US" sz="850" dirty="0">
                <a:solidFill>
                  <a:srgbClr val="1E293B"/>
                </a:solidFill>
                <a:latin typeface="Consolas" pitchFamily="34" charset="0"/>
                <a:ea typeface="Consolas" pitchFamily="34" charset="-122"/>
                <a:cs typeface="Consolas" pitchFamily="34" charset="-120"/>
              </a:rPr>
              <a:t>Unique items recommended</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a:t>
            </a:r>
            <a:endParaRPr lang="en-US" sz="850" dirty="0"/>
          </a:p>
          <a:p>
            <a:pPr algn="ctr" indent="0" marL="0">
              <a:buNone/>
            </a:pPr>
            <a:r>
              <a:rPr lang="en-US" sz="850" dirty="0">
                <a:solidFill>
                  <a:srgbClr val="1E293B"/>
                </a:solidFill>
                <a:latin typeface="Consolas" pitchFamily="34" charset="0"/>
                <a:ea typeface="Consolas" pitchFamily="34" charset="-122"/>
                <a:cs typeface="Consolas" pitchFamily="34" charset="-120"/>
              </a:rPr>
              <a:t>Total catalog items</a:t>
            </a:r>
            <a:endParaRPr lang="en-US" sz="850" dirty="0"/>
          </a:p>
        </p:txBody>
      </p:sp>
      <p:sp>
        <p:nvSpPr>
          <p:cNvPr id="28" name="Text 26"/>
          <p:cNvSpPr/>
          <p:nvPr/>
        </p:nvSpPr>
        <p:spPr>
          <a:xfrm>
            <a:off x="6355080" y="2990088"/>
            <a:ext cx="2468880" cy="822960"/>
          </a:xfrm>
          <a:prstGeom prst="rect">
            <a:avLst/>
          </a:prstGeom>
          <a:noFill/>
          <a:ln/>
        </p:spPr>
        <p:txBody>
          <a:bodyPr wrap="square" rtlCol="0" anchor="ctr"/>
          <a:lstStyle/>
          <a:p>
            <a:pPr indent="0" marL="0">
              <a:buNone/>
            </a:pPr>
            <a:r>
              <a:rPr lang="en-US" sz="1000" dirty="0">
                <a:solidFill>
                  <a:srgbClr val="1E293B"/>
                </a:solidFill>
              </a:rPr>
              <a:t>% of the course catalog that the system can recommend across all users. Low coverage = the system recommends a narrow set.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MODEL 1 RESULTS — POPULARITY-BASED</a:t>
            </a:r>
            <a:endParaRPr lang="en-US" sz="24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6" name="Text 4"/>
          <p:cNvSpPr/>
          <p:nvPr/>
        </p:nvSpPr>
        <p:spPr>
          <a:xfrm>
            <a:off x="32004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0.059</a:t>
            </a:r>
            <a:endParaRPr lang="en-US" sz="2800" dirty="0"/>
          </a:p>
        </p:txBody>
      </p:sp>
      <p:sp>
        <p:nvSpPr>
          <p:cNvPr id="7" name="Text 5"/>
          <p:cNvSpPr/>
          <p:nvPr/>
        </p:nvSpPr>
        <p:spPr>
          <a:xfrm>
            <a:off x="32004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Precision@5</a:t>
            </a:r>
            <a:endParaRPr lang="en-US" sz="950" dirty="0"/>
          </a:p>
        </p:txBody>
      </p:sp>
      <p:sp>
        <p:nvSpPr>
          <p:cNvPr id="8" name="Text 6"/>
          <p:cNvSpPr/>
          <p:nvPr/>
        </p:nvSpPr>
        <p:spPr>
          <a:xfrm>
            <a:off x="32004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5.9% of recs were 4+ star</a:t>
            </a:r>
            <a:endParaRPr lang="en-US" sz="850" dirty="0"/>
          </a:p>
        </p:txBody>
      </p:sp>
      <p:sp>
        <p:nvSpPr>
          <p:cNvPr id="9" name="Shape 7"/>
          <p:cNvSpPr/>
          <p:nvPr/>
        </p:nvSpPr>
        <p:spPr>
          <a:xfrm>
            <a:off x="246888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10" name="Text 8"/>
          <p:cNvSpPr/>
          <p:nvPr/>
        </p:nvSpPr>
        <p:spPr>
          <a:xfrm>
            <a:off x="246888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25.0%</a:t>
            </a:r>
            <a:endParaRPr lang="en-US" sz="2800" dirty="0"/>
          </a:p>
        </p:txBody>
      </p:sp>
      <p:sp>
        <p:nvSpPr>
          <p:cNvPr id="11" name="Text 9"/>
          <p:cNvSpPr/>
          <p:nvPr/>
        </p:nvSpPr>
        <p:spPr>
          <a:xfrm>
            <a:off x="246888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Coverage</a:t>
            </a:r>
            <a:endParaRPr lang="en-US" sz="950" dirty="0"/>
          </a:p>
        </p:txBody>
      </p:sp>
      <p:sp>
        <p:nvSpPr>
          <p:cNvPr id="12" name="Text 10"/>
          <p:cNvSpPr/>
          <p:nvPr/>
        </p:nvSpPr>
        <p:spPr>
          <a:xfrm>
            <a:off x="246888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5 / 20 courses in catalog</a:t>
            </a:r>
            <a:endParaRPr lang="en-US" sz="850" dirty="0"/>
          </a:p>
        </p:txBody>
      </p:sp>
      <p:sp>
        <p:nvSpPr>
          <p:cNvPr id="13" name="Shape 11"/>
          <p:cNvSpPr/>
          <p:nvPr/>
        </p:nvSpPr>
        <p:spPr>
          <a:xfrm>
            <a:off x="461772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14" name="Text 12"/>
          <p:cNvSpPr/>
          <p:nvPr/>
        </p:nvSpPr>
        <p:spPr>
          <a:xfrm>
            <a:off x="461772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13,095</a:t>
            </a:r>
            <a:endParaRPr lang="en-US" sz="2800" dirty="0"/>
          </a:p>
        </p:txBody>
      </p:sp>
      <p:sp>
        <p:nvSpPr>
          <p:cNvPr id="15" name="Text 13"/>
          <p:cNvSpPr/>
          <p:nvPr/>
        </p:nvSpPr>
        <p:spPr>
          <a:xfrm>
            <a:off x="461772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Users Evaluated</a:t>
            </a:r>
            <a:endParaRPr lang="en-US" sz="950" dirty="0"/>
          </a:p>
        </p:txBody>
      </p:sp>
      <p:sp>
        <p:nvSpPr>
          <p:cNvPr id="16" name="Text 14"/>
          <p:cNvSpPr/>
          <p:nvPr/>
        </p:nvSpPr>
        <p:spPr>
          <a:xfrm>
            <a:off x="461772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Full test set</a:t>
            </a:r>
            <a:endParaRPr lang="en-US" sz="850" dirty="0"/>
          </a:p>
        </p:txBody>
      </p:sp>
      <p:sp>
        <p:nvSpPr>
          <p:cNvPr id="17" name="Shape 15"/>
          <p:cNvSpPr/>
          <p:nvPr/>
        </p:nvSpPr>
        <p:spPr>
          <a:xfrm>
            <a:off x="6766560" y="960120"/>
            <a:ext cx="1965960" cy="1005840"/>
          </a:xfrm>
          <a:prstGeom prst="rect">
            <a:avLst/>
          </a:prstGeom>
          <a:solidFill>
            <a:srgbClr val="028090"/>
          </a:solidFill>
          <a:ln/>
          <a:effectLst>
            <a:outerShdw sx="100000" sy="100000" kx="0" ky="0" algn="bl" rotWithShape="0" blurRad="101600" dist="38100" dir="8100000">
              <a:srgbClr val="000000">
                <a:alpha val="12000"/>
              </a:srgbClr>
            </a:outerShdw>
          </a:effectLst>
        </p:spPr>
      </p:sp>
      <p:sp>
        <p:nvSpPr>
          <p:cNvPr id="18" name="Text 16"/>
          <p:cNvSpPr/>
          <p:nvPr/>
        </p:nvSpPr>
        <p:spPr>
          <a:xfrm>
            <a:off x="6766560" y="1005840"/>
            <a:ext cx="1965960" cy="54864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9" name="Text 17"/>
          <p:cNvSpPr/>
          <p:nvPr/>
        </p:nvSpPr>
        <p:spPr>
          <a:xfrm>
            <a:off x="676656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K (Top-N)</a:t>
            </a:r>
            <a:endParaRPr lang="en-US" sz="950" dirty="0"/>
          </a:p>
        </p:txBody>
      </p:sp>
      <p:sp>
        <p:nvSpPr>
          <p:cNvPr id="20" name="Text 18"/>
          <p:cNvSpPr/>
          <p:nvPr/>
        </p:nvSpPr>
        <p:spPr>
          <a:xfrm>
            <a:off x="676656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Recommendations per user</a:t>
            </a:r>
            <a:endParaRPr lang="en-US" sz="850" dirty="0"/>
          </a:p>
        </p:txBody>
      </p:sp>
      <p:sp>
        <p:nvSpPr>
          <p:cNvPr id="21" name="Text 19"/>
          <p:cNvSpPr/>
          <p:nvPr/>
        </p:nvSpPr>
        <p:spPr>
          <a:xfrm>
            <a:off x="365760" y="2148840"/>
            <a:ext cx="5486400" cy="347472"/>
          </a:xfrm>
          <a:prstGeom prst="rect">
            <a:avLst/>
          </a:prstGeom>
          <a:noFill/>
          <a:ln/>
        </p:spPr>
        <p:txBody>
          <a:bodyPr wrap="square" rtlCol="0" anchor="ctr"/>
          <a:lstStyle/>
          <a:p>
            <a:pPr indent="0" marL="0">
              <a:buNone/>
            </a:pPr>
            <a:r>
              <a:rPr lang="en-US" sz="1400" b="1" dirty="0">
                <a:solidFill>
                  <a:srgbClr val="1E293B"/>
                </a:solidFill>
              </a:rPr>
              <a:t>Model Behaviour &amp; Key Inferences</a:t>
            </a:r>
            <a:endParaRPr lang="en-US" sz="1400" dirty="0"/>
          </a:p>
        </p:txBody>
      </p:sp>
      <p:sp>
        <p:nvSpPr>
          <p:cNvPr id="22" name="Shape 20"/>
          <p:cNvSpPr/>
          <p:nvPr/>
        </p:nvSpPr>
        <p:spPr>
          <a:xfrm>
            <a:off x="320040" y="2496312"/>
            <a:ext cx="850392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Text 21"/>
          <p:cNvSpPr/>
          <p:nvPr/>
        </p:nvSpPr>
        <p:spPr>
          <a:xfrm>
            <a:off x="411480" y="2542032"/>
            <a:ext cx="8321040" cy="1691640"/>
          </a:xfrm>
          <a:prstGeom prst="rect">
            <a:avLst/>
          </a:prstGeom>
          <a:noFill/>
          <a:ln/>
        </p:spPr>
        <p:txBody>
          <a:bodyPr wrap="square" rtlCol="0" anchor="ctr"/>
          <a:lstStyle/>
          <a:p>
            <a:pPr indent="0" marL="0">
              <a:spcAft>
                <a:spcPts val="500"/>
              </a:spcAft>
              <a:buNone/>
            </a:pPr>
            <a:r>
              <a:rPr lang="en-US" sz="1050" dirty="0">
                <a:solidFill>
                  <a:srgbClr val="1E293B"/>
                </a:solidFill>
              </a:rPr>
              <a:t>• Consistently recommends the same top-5 most-enrolled courses to most users → low diversity by design</a:t>
            </a:r>
            <a:endParaRPr lang="en-US" sz="1050" dirty="0"/>
          </a:p>
          <a:p>
            <a:pPr indent="0" marL="0">
              <a:spcAft>
                <a:spcPts val="500"/>
              </a:spcAft>
              <a:buNone/>
            </a:pPr>
            <a:r>
              <a:rPr lang="en-US" sz="1050" dirty="0">
                <a:solidFill>
                  <a:srgbClr val="1E293B"/>
                </a:solidFill>
              </a:rPr>
              <a:t>• Coverage of 25% means only 5 out of 20 courses are regularly recommended — a natural outcome of pure popularity ranking</a:t>
            </a:r>
            <a:endParaRPr lang="en-US" sz="1050" dirty="0"/>
          </a:p>
          <a:p>
            <a:pPr indent="0" marL="0">
              <a:spcAft>
                <a:spcPts val="500"/>
              </a:spcAft>
              <a:buNone/>
            </a:pPr>
            <a:r>
              <a:rPr lang="en-US" sz="1050" dirty="0">
                <a:solidFill>
                  <a:srgbClr val="1E293B"/>
                </a:solidFill>
              </a:rPr>
              <a:t>• Precision@5 of 5.9% means roughly 1 in 17 recommendations is a course the user actually enrolled in on the test set</a:t>
            </a:r>
            <a:endParaRPr lang="en-US" sz="1050" dirty="0"/>
          </a:p>
          <a:p>
            <a:pPr indent="0" marL="0">
              <a:spcAft>
                <a:spcPts val="500"/>
              </a:spcAft>
              <a:buNone/>
            </a:pPr>
            <a:r>
              <a:rPr lang="en-US" sz="1050" dirty="0">
                <a:solidFill>
                  <a:srgbClr val="1E293B"/>
                </a:solidFill>
              </a:rPr>
              <a:t>• Best suited for new users (cold-start): no user history needed — enrollment signal is always available</a:t>
            </a:r>
            <a:endParaRPr lang="en-US" sz="1050" dirty="0"/>
          </a:p>
          <a:p>
            <a:pPr indent="0" marL="0">
              <a:spcAft>
                <a:spcPts val="500"/>
              </a:spcAft>
              <a:buNone/>
            </a:pPr>
            <a:r>
              <a:rPr lang="en-US" sz="1050" dirty="0">
                <a:solidFill>
                  <a:srgbClr val="1E293B"/>
                </a:solidFill>
              </a:rPr>
              <a:t>• Fails to account for user preferences — a user interested in ML gets the same recs as a user interested in Finance</a:t>
            </a:r>
            <a:endParaRPr lang="en-US" sz="1050" dirty="0"/>
          </a:p>
          <a:p>
            <a:pPr indent="0" marL="0">
              <a:spcAft>
                <a:spcPts val="500"/>
              </a:spcAft>
              <a:buNone/>
            </a:pPr>
            <a:r>
              <a:rPr lang="en-US" sz="1050" dirty="0">
                <a:solidFill>
                  <a:srgbClr val="1E293B"/>
                </a:solidFill>
              </a:rPr>
              <a:t>• Interpretable and highly scalable — real-time scoring without any model retraining</a:t>
            </a:r>
            <a:endParaRPr lang="en-US" sz="1050" dirty="0"/>
          </a:p>
        </p:txBody>
      </p:sp>
      <p:sp>
        <p:nvSpPr>
          <p:cNvPr id="24" name="Shape 22"/>
          <p:cNvSpPr/>
          <p:nvPr/>
        </p:nvSpPr>
        <p:spPr>
          <a:xfrm>
            <a:off x="320040" y="4407408"/>
            <a:ext cx="8503920" cy="393192"/>
          </a:xfrm>
          <a:prstGeom prst="rect">
            <a:avLst/>
          </a:prstGeom>
          <a:solidFill>
            <a:srgbClr val="028090">
              <a:alpha val="15000"/>
            </a:srgbClr>
          </a:solidFill>
          <a:ln/>
        </p:spPr>
      </p:sp>
      <p:sp>
        <p:nvSpPr>
          <p:cNvPr id="25" name="Text 23"/>
          <p:cNvSpPr/>
          <p:nvPr/>
        </p:nvSpPr>
        <p:spPr>
          <a:xfrm>
            <a:off x="411480" y="4407408"/>
            <a:ext cx="8321040" cy="393192"/>
          </a:xfrm>
          <a:prstGeom prst="rect">
            <a:avLst/>
          </a:prstGeom>
          <a:noFill/>
          <a:ln/>
        </p:spPr>
        <p:txBody>
          <a:bodyPr wrap="square" rtlCol="0" anchor="ctr"/>
          <a:lstStyle/>
          <a:p>
            <a:pPr indent="0" marL="0">
              <a:buNone/>
            </a:pPr>
            <a:r>
              <a:rPr lang="en-US" sz="1100" i="1" dirty="0">
                <a:solidFill>
                  <a:srgbClr val="1E293B"/>
                </a:solidFill>
              </a:rPr>
              <a:t>Verdict: Strong baseline, excellent cold-start performance, but insufficient personalization for returning users.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MODEL 2 RESULTS — CONTENT-BASED (TF-IDF)</a:t>
            </a:r>
            <a:endParaRPr lang="en-US" sz="2200" dirty="0"/>
          </a:p>
        </p:txBody>
      </p:sp>
      <p:sp>
        <p:nvSpPr>
          <p:cNvPr id="4" name="Shape 2"/>
          <p:cNvSpPr/>
          <p:nvPr/>
        </p:nvSpPr>
        <p:spPr>
          <a:xfrm>
            <a:off x="0" y="777240"/>
            <a:ext cx="164592" cy="4366260"/>
          </a:xfrm>
          <a:prstGeom prst="rect">
            <a:avLst/>
          </a:prstGeom>
          <a:solidFill>
            <a:srgbClr val="00A896"/>
          </a:solidFill>
          <a:ln/>
        </p:spPr>
      </p:sp>
      <p:sp>
        <p:nvSpPr>
          <p:cNvPr id="5" name="Shape 3"/>
          <p:cNvSpPr/>
          <p:nvPr/>
        </p:nvSpPr>
        <p:spPr>
          <a:xfrm>
            <a:off x="320040" y="960120"/>
            <a:ext cx="1965960" cy="1005840"/>
          </a:xfrm>
          <a:prstGeom prst="rect">
            <a:avLst/>
          </a:prstGeom>
          <a:solidFill>
            <a:srgbClr val="00A896"/>
          </a:solidFill>
          <a:ln/>
          <a:effectLst>
            <a:outerShdw sx="100000" sy="100000" kx="0" ky="0" algn="bl" rotWithShape="0" blurRad="101600" dist="38100" dir="8100000">
              <a:srgbClr val="000000">
                <a:alpha val="12000"/>
              </a:srgbClr>
            </a:outerShdw>
          </a:effectLst>
        </p:spPr>
      </p:sp>
      <p:sp>
        <p:nvSpPr>
          <p:cNvPr id="6" name="Text 4"/>
          <p:cNvSpPr/>
          <p:nvPr/>
        </p:nvSpPr>
        <p:spPr>
          <a:xfrm>
            <a:off x="32004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0.059</a:t>
            </a:r>
            <a:endParaRPr lang="en-US" sz="2600" dirty="0"/>
          </a:p>
        </p:txBody>
      </p:sp>
      <p:sp>
        <p:nvSpPr>
          <p:cNvPr id="7" name="Text 5"/>
          <p:cNvSpPr/>
          <p:nvPr/>
        </p:nvSpPr>
        <p:spPr>
          <a:xfrm>
            <a:off x="32004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Precision@5</a:t>
            </a:r>
            <a:endParaRPr lang="en-US" sz="950" dirty="0"/>
          </a:p>
        </p:txBody>
      </p:sp>
      <p:sp>
        <p:nvSpPr>
          <p:cNvPr id="8" name="Text 6"/>
          <p:cNvSpPr/>
          <p:nvPr/>
        </p:nvSpPr>
        <p:spPr>
          <a:xfrm>
            <a:off x="32004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Same as popularity model</a:t>
            </a:r>
            <a:endParaRPr lang="en-US" sz="850" dirty="0"/>
          </a:p>
        </p:txBody>
      </p:sp>
      <p:sp>
        <p:nvSpPr>
          <p:cNvPr id="9" name="Shape 7"/>
          <p:cNvSpPr/>
          <p:nvPr/>
        </p:nvSpPr>
        <p:spPr>
          <a:xfrm>
            <a:off x="2468880" y="960120"/>
            <a:ext cx="1965960" cy="1005840"/>
          </a:xfrm>
          <a:prstGeom prst="rect">
            <a:avLst/>
          </a:prstGeom>
          <a:solidFill>
            <a:srgbClr val="00A896"/>
          </a:solidFill>
          <a:ln/>
          <a:effectLst>
            <a:outerShdw sx="100000" sy="100000" kx="0" ky="0" algn="bl" rotWithShape="0" blurRad="101600" dist="38100" dir="8100000">
              <a:srgbClr val="000000">
                <a:alpha val="12000"/>
              </a:srgbClr>
            </a:outerShdw>
          </a:effectLst>
        </p:spPr>
      </p:sp>
      <p:sp>
        <p:nvSpPr>
          <p:cNvPr id="10" name="Text 8"/>
          <p:cNvSpPr/>
          <p:nvPr/>
        </p:nvSpPr>
        <p:spPr>
          <a:xfrm>
            <a:off x="246888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25.0%</a:t>
            </a:r>
            <a:endParaRPr lang="en-US" sz="2600" dirty="0"/>
          </a:p>
        </p:txBody>
      </p:sp>
      <p:sp>
        <p:nvSpPr>
          <p:cNvPr id="11" name="Text 9"/>
          <p:cNvSpPr/>
          <p:nvPr/>
        </p:nvSpPr>
        <p:spPr>
          <a:xfrm>
            <a:off x="246888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Coverage</a:t>
            </a:r>
            <a:endParaRPr lang="en-US" sz="950" dirty="0"/>
          </a:p>
        </p:txBody>
      </p:sp>
      <p:sp>
        <p:nvSpPr>
          <p:cNvPr id="12" name="Text 10"/>
          <p:cNvSpPr/>
          <p:nvPr/>
        </p:nvSpPr>
        <p:spPr>
          <a:xfrm>
            <a:off x="246888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5 / 20 courses in catalog</a:t>
            </a:r>
            <a:endParaRPr lang="en-US" sz="850" dirty="0"/>
          </a:p>
        </p:txBody>
      </p:sp>
      <p:sp>
        <p:nvSpPr>
          <p:cNvPr id="13" name="Shape 11"/>
          <p:cNvSpPr/>
          <p:nvPr/>
        </p:nvSpPr>
        <p:spPr>
          <a:xfrm>
            <a:off x="4617720" y="960120"/>
            <a:ext cx="1965960" cy="1005840"/>
          </a:xfrm>
          <a:prstGeom prst="rect">
            <a:avLst/>
          </a:prstGeom>
          <a:solidFill>
            <a:srgbClr val="00A896"/>
          </a:solidFill>
          <a:ln/>
          <a:effectLst>
            <a:outerShdw sx="100000" sy="100000" kx="0" ky="0" algn="bl" rotWithShape="0" blurRad="101600" dist="38100" dir="8100000">
              <a:srgbClr val="000000">
                <a:alpha val="12000"/>
              </a:srgbClr>
            </a:outerShdw>
          </a:effectLst>
        </p:spPr>
      </p:sp>
      <p:sp>
        <p:nvSpPr>
          <p:cNvPr id="14" name="Text 12"/>
          <p:cNvSpPr/>
          <p:nvPr/>
        </p:nvSpPr>
        <p:spPr>
          <a:xfrm>
            <a:off x="461772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13,095</a:t>
            </a:r>
            <a:endParaRPr lang="en-US" sz="2600" dirty="0"/>
          </a:p>
        </p:txBody>
      </p:sp>
      <p:sp>
        <p:nvSpPr>
          <p:cNvPr id="15" name="Text 13"/>
          <p:cNvSpPr/>
          <p:nvPr/>
        </p:nvSpPr>
        <p:spPr>
          <a:xfrm>
            <a:off x="461772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Users Evaluated</a:t>
            </a:r>
            <a:endParaRPr lang="en-US" sz="950" dirty="0"/>
          </a:p>
        </p:txBody>
      </p:sp>
      <p:sp>
        <p:nvSpPr>
          <p:cNvPr id="16" name="Text 14"/>
          <p:cNvSpPr/>
          <p:nvPr/>
        </p:nvSpPr>
        <p:spPr>
          <a:xfrm>
            <a:off x="461772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Full test set</a:t>
            </a:r>
            <a:endParaRPr lang="en-US" sz="850" dirty="0"/>
          </a:p>
        </p:txBody>
      </p:sp>
      <p:sp>
        <p:nvSpPr>
          <p:cNvPr id="17" name="Shape 15"/>
          <p:cNvSpPr/>
          <p:nvPr/>
        </p:nvSpPr>
        <p:spPr>
          <a:xfrm>
            <a:off x="6766560" y="960120"/>
            <a:ext cx="1965960" cy="1005840"/>
          </a:xfrm>
          <a:prstGeom prst="rect">
            <a:avLst/>
          </a:prstGeom>
          <a:solidFill>
            <a:srgbClr val="00A896"/>
          </a:solidFill>
          <a:ln/>
          <a:effectLst>
            <a:outerShdw sx="100000" sy="100000" kx="0" ky="0" algn="bl" rotWithShape="0" blurRad="101600" dist="38100" dir="8100000">
              <a:srgbClr val="000000">
                <a:alpha val="12000"/>
              </a:srgbClr>
            </a:outerShdw>
          </a:effectLst>
        </p:spPr>
      </p:sp>
      <p:sp>
        <p:nvSpPr>
          <p:cNvPr id="18" name="Text 16"/>
          <p:cNvSpPr/>
          <p:nvPr/>
        </p:nvSpPr>
        <p:spPr>
          <a:xfrm>
            <a:off x="676656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TF-IDF</a:t>
            </a:r>
            <a:endParaRPr lang="en-US" sz="2600" dirty="0"/>
          </a:p>
        </p:txBody>
      </p:sp>
      <p:sp>
        <p:nvSpPr>
          <p:cNvPr id="19" name="Text 17"/>
          <p:cNvSpPr/>
          <p:nvPr/>
        </p:nvSpPr>
        <p:spPr>
          <a:xfrm>
            <a:off x="676656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Similarity Method</a:t>
            </a:r>
            <a:endParaRPr lang="en-US" sz="950" dirty="0"/>
          </a:p>
        </p:txBody>
      </p:sp>
      <p:sp>
        <p:nvSpPr>
          <p:cNvPr id="20" name="Text 18"/>
          <p:cNvSpPr/>
          <p:nvPr/>
        </p:nvSpPr>
        <p:spPr>
          <a:xfrm>
            <a:off x="676656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Cosine similarity</a:t>
            </a:r>
            <a:endParaRPr lang="en-US" sz="850" dirty="0"/>
          </a:p>
        </p:txBody>
      </p:sp>
      <p:sp>
        <p:nvSpPr>
          <p:cNvPr id="21" name="Text 19"/>
          <p:cNvSpPr/>
          <p:nvPr/>
        </p:nvSpPr>
        <p:spPr>
          <a:xfrm>
            <a:off x="365760" y="2148840"/>
            <a:ext cx="5486400" cy="347472"/>
          </a:xfrm>
          <a:prstGeom prst="rect">
            <a:avLst/>
          </a:prstGeom>
          <a:noFill/>
          <a:ln/>
        </p:spPr>
        <p:txBody>
          <a:bodyPr wrap="square" rtlCol="0" anchor="ctr"/>
          <a:lstStyle/>
          <a:p>
            <a:pPr indent="0" marL="0">
              <a:buNone/>
            </a:pPr>
            <a:r>
              <a:rPr lang="en-US" sz="1400" b="1" dirty="0">
                <a:solidFill>
                  <a:srgbClr val="1E293B"/>
                </a:solidFill>
              </a:rPr>
              <a:t>Model Behaviour &amp; Key Inferences</a:t>
            </a:r>
            <a:endParaRPr lang="en-US" sz="1400" dirty="0"/>
          </a:p>
        </p:txBody>
      </p:sp>
      <p:sp>
        <p:nvSpPr>
          <p:cNvPr id="22" name="Shape 20"/>
          <p:cNvSpPr/>
          <p:nvPr/>
        </p:nvSpPr>
        <p:spPr>
          <a:xfrm>
            <a:off x="320040" y="2496312"/>
            <a:ext cx="850392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Text 21"/>
          <p:cNvSpPr/>
          <p:nvPr/>
        </p:nvSpPr>
        <p:spPr>
          <a:xfrm>
            <a:off x="411480" y="2542032"/>
            <a:ext cx="8321040" cy="1691640"/>
          </a:xfrm>
          <a:prstGeom prst="rect">
            <a:avLst/>
          </a:prstGeom>
          <a:noFill/>
          <a:ln/>
        </p:spPr>
        <p:txBody>
          <a:bodyPr wrap="square" rtlCol="0" anchor="ctr"/>
          <a:lstStyle/>
          <a:p>
            <a:pPr indent="0" marL="0">
              <a:spcAft>
                <a:spcPts val="500"/>
              </a:spcAft>
              <a:buNone/>
            </a:pPr>
            <a:r>
              <a:rPr lang="en-US" sz="1050" dirty="0">
                <a:solidFill>
                  <a:srgbClr val="1E293B"/>
                </a:solidFill>
              </a:rPr>
              <a:t>• Produces varied, user-specific recommendations — two users with different histories get different recommendations</a:t>
            </a:r>
            <a:endParaRPr lang="en-US" sz="1050" dirty="0"/>
          </a:p>
          <a:p>
            <a:pPr indent="0" marL="0">
              <a:spcAft>
                <a:spcPts val="500"/>
              </a:spcAft>
              <a:buNone/>
            </a:pPr>
            <a:r>
              <a:rPr lang="en-US" sz="1050" dirty="0">
                <a:solidFill>
                  <a:srgbClr val="1E293B"/>
                </a:solidFill>
              </a:rPr>
              <a:t>• Coverage of 25% mirrors popularity model — limited by the 20-course catalog and TF-IDF similarity clustering</a:t>
            </a:r>
            <a:endParaRPr lang="en-US" sz="1050" dirty="0"/>
          </a:p>
          <a:p>
            <a:pPr indent="0" marL="0">
              <a:spcAft>
                <a:spcPts val="500"/>
              </a:spcAft>
              <a:buNone/>
            </a:pPr>
            <a:r>
              <a:rPr lang="en-US" sz="1050" dirty="0">
                <a:solidFill>
                  <a:srgbClr val="1E293B"/>
                </a:solidFill>
              </a:rPr>
              <a:t>• Near-zero feature correlations limit the quality of the similarity matrix — structural features capture only surface-level similarity</a:t>
            </a:r>
            <a:endParaRPr lang="en-US" sz="1050" dirty="0"/>
          </a:p>
          <a:p>
            <a:pPr indent="0" marL="0">
              <a:spcAft>
                <a:spcPts val="500"/>
              </a:spcAft>
              <a:buNone/>
            </a:pPr>
            <a:r>
              <a:rPr lang="en-US" sz="1050" dirty="0">
                <a:solidFill>
                  <a:srgbClr val="1E293B"/>
                </a:solidFill>
              </a:rPr>
              <a:t>• A user who took 'Python for Beginners' gets 'Stock Market Trading' (score 0.79) — same feature bag despite different topics</a:t>
            </a:r>
            <a:endParaRPr lang="en-US" sz="1050" dirty="0"/>
          </a:p>
          <a:p>
            <a:pPr indent="0" marL="0">
              <a:spcAft>
                <a:spcPts val="500"/>
              </a:spcAft>
              <a:buNone/>
            </a:pPr>
            <a:r>
              <a:rPr lang="en-US" sz="1050" dirty="0">
                <a:solidFill>
                  <a:srgbClr val="1E293B"/>
                </a:solidFill>
              </a:rPr>
              <a:t>• Similarity matrix shape: 20×20 — compact, computationally light, and suitable for real-time inference</a:t>
            </a:r>
            <a:endParaRPr lang="en-US" sz="1050" dirty="0"/>
          </a:p>
          <a:p>
            <a:pPr indent="0" marL="0">
              <a:spcAft>
                <a:spcPts val="500"/>
              </a:spcAft>
              <a:buNone/>
            </a:pPr>
            <a:r>
              <a:rPr lang="en-US" sz="1050" dirty="0">
                <a:solidFill>
                  <a:srgbClr val="1E293B"/>
                </a:solidFill>
              </a:rPr>
              <a:t>• Performs identically to popularity model on precision because the feature space collapses similar items together</a:t>
            </a:r>
            <a:endParaRPr lang="en-US" sz="1050" dirty="0"/>
          </a:p>
        </p:txBody>
      </p:sp>
      <p:sp>
        <p:nvSpPr>
          <p:cNvPr id="24" name="Shape 22"/>
          <p:cNvSpPr/>
          <p:nvPr/>
        </p:nvSpPr>
        <p:spPr>
          <a:xfrm>
            <a:off x="320040" y="4407408"/>
            <a:ext cx="8503920" cy="393192"/>
          </a:xfrm>
          <a:prstGeom prst="rect">
            <a:avLst/>
          </a:prstGeom>
          <a:solidFill>
            <a:srgbClr val="00A896">
              <a:alpha val="20000"/>
            </a:srgbClr>
          </a:solidFill>
          <a:ln/>
        </p:spPr>
      </p:sp>
      <p:sp>
        <p:nvSpPr>
          <p:cNvPr id="25" name="Text 23"/>
          <p:cNvSpPr/>
          <p:nvPr/>
        </p:nvSpPr>
        <p:spPr>
          <a:xfrm>
            <a:off x="411480" y="4407408"/>
            <a:ext cx="8321040" cy="393192"/>
          </a:xfrm>
          <a:prstGeom prst="rect">
            <a:avLst/>
          </a:prstGeom>
          <a:noFill/>
          <a:ln/>
        </p:spPr>
        <p:txBody>
          <a:bodyPr wrap="square" rtlCol="0" anchor="ctr"/>
          <a:lstStyle/>
          <a:p>
            <a:pPr indent="0" marL="0">
              <a:buNone/>
            </a:pPr>
            <a:r>
              <a:rPr lang="en-US" sz="1100" i="1" dirty="0">
                <a:solidFill>
                  <a:srgbClr val="1E293B"/>
                </a:solidFill>
              </a:rPr>
              <a:t>Verdict: Adds genuine personalization and recommendation variety, but limited by the synthetic dataset's low feature diversity.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MODEL 3 RESULTS — HYBRID RECOMMENDER</a:t>
            </a:r>
            <a:endParaRPr lang="en-US" sz="2200" dirty="0"/>
          </a:p>
        </p:txBody>
      </p:sp>
      <p:sp>
        <p:nvSpPr>
          <p:cNvPr id="4" name="Shape 2"/>
          <p:cNvSpPr/>
          <p:nvPr/>
        </p:nvSpPr>
        <p:spPr>
          <a:xfrm>
            <a:off x="0" y="777240"/>
            <a:ext cx="164592" cy="4366260"/>
          </a:xfrm>
          <a:prstGeom prst="rect">
            <a:avLst/>
          </a:prstGeom>
          <a:solidFill>
            <a:srgbClr val="02C39A"/>
          </a:solidFill>
          <a:ln/>
        </p:spPr>
      </p:sp>
      <p:sp>
        <p:nvSpPr>
          <p:cNvPr id="5" name="Shape 3"/>
          <p:cNvSpPr/>
          <p:nvPr/>
        </p:nvSpPr>
        <p:spPr>
          <a:xfrm>
            <a:off x="320040" y="960120"/>
            <a:ext cx="1965960" cy="1005840"/>
          </a:xfrm>
          <a:prstGeom prst="rect">
            <a:avLst/>
          </a:prstGeom>
          <a:solidFill>
            <a:srgbClr val="02C39A"/>
          </a:solidFill>
          <a:ln/>
          <a:effectLst>
            <a:outerShdw sx="100000" sy="100000" kx="0" ky="0" algn="bl" rotWithShape="0" blurRad="101600" dist="38100" dir="8100000">
              <a:srgbClr val="000000">
                <a:alpha val="12000"/>
              </a:srgbClr>
            </a:outerShdw>
          </a:effectLst>
        </p:spPr>
      </p:sp>
      <p:sp>
        <p:nvSpPr>
          <p:cNvPr id="6" name="Text 4"/>
          <p:cNvSpPr/>
          <p:nvPr/>
        </p:nvSpPr>
        <p:spPr>
          <a:xfrm>
            <a:off x="32004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0.059</a:t>
            </a:r>
            <a:endParaRPr lang="en-US" sz="2600" dirty="0"/>
          </a:p>
        </p:txBody>
      </p:sp>
      <p:sp>
        <p:nvSpPr>
          <p:cNvPr id="7" name="Text 5"/>
          <p:cNvSpPr/>
          <p:nvPr/>
        </p:nvSpPr>
        <p:spPr>
          <a:xfrm>
            <a:off x="32004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Precision@5</a:t>
            </a:r>
            <a:endParaRPr lang="en-US" sz="950" dirty="0"/>
          </a:p>
        </p:txBody>
      </p:sp>
      <p:sp>
        <p:nvSpPr>
          <p:cNvPr id="8" name="Text 6"/>
          <p:cNvSpPr/>
          <p:nvPr/>
        </p:nvSpPr>
        <p:spPr>
          <a:xfrm>
            <a:off x="32004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Consistent with all models</a:t>
            </a:r>
            <a:endParaRPr lang="en-US" sz="850" dirty="0"/>
          </a:p>
        </p:txBody>
      </p:sp>
      <p:sp>
        <p:nvSpPr>
          <p:cNvPr id="9" name="Shape 7"/>
          <p:cNvSpPr/>
          <p:nvPr/>
        </p:nvSpPr>
        <p:spPr>
          <a:xfrm>
            <a:off x="2468880" y="960120"/>
            <a:ext cx="1965960" cy="1005840"/>
          </a:xfrm>
          <a:prstGeom prst="rect">
            <a:avLst/>
          </a:prstGeom>
          <a:solidFill>
            <a:srgbClr val="02C39A"/>
          </a:solidFill>
          <a:ln/>
          <a:effectLst>
            <a:outerShdw sx="100000" sy="100000" kx="0" ky="0" algn="bl" rotWithShape="0" blurRad="101600" dist="38100" dir="8100000">
              <a:srgbClr val="000000">
                <a:alpha val="12000"/>
              </a:srgbClr>
            </a:outerShdw>
          </a:effectLst>
        </p:spPr>
      </p:sp>
      <p:sp>
        <p:nvSpPr>
          <p:cNvPr id="10" name="Text 8"/>
          <p:cNvSpPr/>
          <p:nvPr/>
        </p:nvSpPr>
        <p:spPr>
          <a:xfrm>
            <a:off x="246888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25.0%</a:t>
            </a:r>
            <a:endParaRPr lang="en-US" sz="2600" dirty="0"/>
          </a:p>
        </p:txBody>
      </p:sp>
      <p:sp>
        <p:nvSpPr>
          <p:cNvPr id="11" name="Text 9"/>
          <p:cNvSpPr/>
          <p:nvPr/>
        </p:nvSpPr>
        <p:spPr>
          <a:xfrm>
            <a:off x="246888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Coverage</a:t>
            </a:r>
            <a:endParaRPr lang="en-US" sz="950" dirty="0"/>
          </a:p>
        </p:txBody>
      </p:sp>
      <p:sp>
        <p:nvSpPr>
          <p:cNvPr id="12" name="Text 10"/>
          <p:cNvSpPr/>
          <p:nvPr/>
        </p:nvSpPr>
        <p:spPr>
          <a:xfrm>
            <a:off x="246888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5 / 20 courses in catalog</a:t>
            </a:r>
            <a:endParaRPr lang="en-US" sz="850" dirty="0"/>
          </a:p>
        </p:txBody>
      </p:sp>
      <p:sp>
        <p:nvSpPr>
          <p:cNvPr id="13" name="Shape 11"/>
          <p:cNvSpPr/>
          <p:nvPr/>
        </p:nvSpPr>
        <p:spPr>
          <a:xfrm>
            <a:off x="4617720" y="960120"/>
            <a:ext cx="1965960" cy="1005840"/>
          </a:xfrm>
          <a:prstGeom prst="rect">
            <a:avLst/>
          </a:prstGeom>
          <a:solidFill>
            <a:srgbClr val="02C39A"/>
          </a:solidFill>
          <a:ln/>
          <a:effectLst>
            <a:outerShdw sx="100000" sy="100000" kx="0" ky="0" algn="bl" rotWithShape="0" blurRad="101600" dist="38100" dir="8100000">
              <a:srgbClr val="000000">
                <a:alpha val="12000"/>
              </a:srgbClr>
            </a:outerShdw>
          </a:effectLst>
        </p:spPr>
      </p:sp>
      <p:sp>
        <p:nvSpPr>
          <p:cNvPr id="14" name="Text 12"/>
          <p:cNvSpPr/>
          <p:nvPr/>
        </p:nvSpPr>
        <p:spPr>
          <a:xfrm>
            <a:off x="461772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60%</a:t>
            </a:r>
            <a:endParaRPr lang="en-US" sz="2600" dirty="0"/>
          </a:p>
        </p:txBody>
      </p:sp>
      <p:sp>
        <p:nvSpPr>
          <p:cNvPr id="15" name="Text 13"/>
          <p:cNvSpPr/>
          <p:nvPr/>
        </p:nvSpPr>
        <p:spPr>
          <a:xfrm>
            <a:off x="461772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Pop. Weight</a:t>
            </a:r>
            <a:endParaRPr lang="en-US" sz="950" dirty="0"/>
          </a:p>
        </p:txBody>
      </p:sp>
      <p:sp>
        <p:nvSpPr>
          <p:cNvPr id="16" name="Text 14"/>
          <p:cNvSpPr/>
          <p:nvPr/>
        </p:nvSpPr>
        <p:spPr>
          <a:xfrm>
            <a:off x="461772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Popularity contribution</a:t>
            </a:r>
            <a:endParaRPr lang="en-US" sz="850" dirty="0"/>
          </a:p>
        </p:txBody>
      </p:sp>
      <p:sp>
        <p:nvSpPr>
          <p:cNvPr id="17" name="Shape 15"/>
          <p:cNvSpPr/>
          <p:nvPr/>
        </p:nvSpPr>
        <p:spPr>
          <a:xfrm>
            <a:off x="6766560" y="960120"/>
            <a:ext cx="1965960" cy="1005840"/>
          </a:xfrm>
          <a:prstGeom prst="rect">
            <a:avLst/>
          </a:prstGeom>
          <a:solidFill>
            <a:srgbClr val="02C39A"/>
          </a:solidFill>
          <a:ln/>
          <a:effectLst>
            <a:outerShdw sx="100000" sy="100000" kx="0" ky="0" algn="bl" rotWithShape="0" blurRad="101600" dist="38100" dir="8100000">
              <a:srgbClr val="000000">
                <a:alpha val="12000"/>
              </a:srgbClr>
            </a:outerShdw>
          </a:effectLst>
        </p:spPr>
      </p:sp>
      <p:sp>
        <p:nvSpPr>
          <p:cNvPr id="18" name="Text 16"/>
          <p:cNvSpPr/>
          <p:nvPr/>
        </p:nvSpPr>
        <p:spPr>
          <a:xfrm>
            <a:off x="6766560" y="1005840"/>
            <a:ext cx="1965960" cy="548640"/>
          </a:xfrm>
          <a:prstGeom prst="rect">
            <a:avLst/>
          </a:prstGeom>
          <a:noFill/>
          <a:ln/>
        </p:spPr>
        <p:txBody>
          <a:bodyPr wrap="square" lIns="0" tIns="0" rIns="0" bIns="0" rtlCol="0" anchor="ctr"/>
          <a:lstStyle/>
          <a:p>
            <a:pPr algn="ctr" indent="0" marL="0">
              <a:buNone/>
            </a:pPr>
            <a:r>
              <a:rPr lang="en-US" sz="2600" b="1" dirty="0">
                <a:solidFill>
                  <a:srgbClr val="FFFFFF"/>
                </a:solidFill>
              </a:rPr>
              <a:t>40%</a:t>
            </a:r>
            <a:endParaRPr lang="en-US" sz="2600" dirty="0"/>
          </a:p>
        </p:txBody>
      </p:sp>
      <p:sp>
        <p:nvSpPr>
          <p:cNvPr id="19" name="Text 17"/>
          <p:cNvSpPr/>
          <p:nvPr/>
        </p:nvSpPr>
        <p:spPr>
          <a:xfrm>
            <a:off x="6766560" y="1536192"/>
            <a:ext cx="1965960" cy="228600"/>
          </a:xfrm>
          <a:prstGeom prst="rect">
            <a:avLst/>
          </a:prstGeom>
          <a:noFill/>
          <a:ln/>
        </p:spPr>
        <p:txBody>
          <a:bodyPr wrap="square" lIns="0" tIns="0" rIns="0" bIns="0" rtlCol="0" anchor="ctr"/>
          <a:lstStyle/>
          <a:p>
            <a:pPr algn="ctr" indent="0" marL="0">
              <a:buNone/>
            </a:pPr>
            <a:r>
              <a:rPr lang="en-US" sz="950" dirty="0">
                <a:solidFill>
                  <a:srgbClr val="F0F9FF"/>
                </a:solidFill>
              </a:rPr>
              <a:t>CB Weight</a:t>
            </a:r>
            <a:endParaRPr lang="en-US" sz="950" dirty="0"/>
          </a:p>
        </p:txBody>
      </p:sp>
      <p:sp>
        <p:nvSpPr>
          <p:cNvPr id="20" name="Text 18"/>
          <p:cNvSpPr/>
          <p:nvPr/>
        </p:nvSpPr>
        <p:spPr>
          <a:xfrm>
            <a:off x="6766560" y="1719072"/>
            <a:ext cx="1965960" cy="182880"/>
          </a:xfrm>
          <a:prstGeom prst="rect">
            <a:avLst/>
          </a:prstGeom>
          <a:noFill/>
          <a:ln/>
        </p:spPr>
        <p:txBody>
          <a:bodyPr wrap="square" lIns="0" tIns="0" rIns="0" bIns="0" rtlCol="0" anchor="ctr"/>
          <a:lstStyle/>
          <a:p>
            <a:pPr algn="ctr" indent="0" marL="0">
              <a:buNone/>
            </a:pPr>
            <a:r>
              <a:rPr lang="en-US" sz="850" i="1" dirty="0">
                <a:solidFill>
                  <a:srgbClr val="CBD5E1"/>
                </a:solidFill>
              </a:rPr>
              <a:t>Content-based contribution</a:t>
            </a:r>
            <a:endParaRPr lang="en-US" sz="850" dirty="0"/>
          </a:p>
        </p:txBody>
      </p:sp>
      <p:sp>
        <p:nvSpPr>
          <p:cNvPr id="21" name="Text 19"/>
          <p:cNvSpPr/>
          <p:nvPr/>
        </p:nvSpPr>
        <p:spPr>
          <a:xfrm>
            <a:off x="365760" y="2148840"/>
            <a:ext cx="5486400" cy="347472"/>
          </a:xfrm>
          <a:prstGeom prst="rect">
            <a:avLst/>
          </a:prstGeom>
          <a:noFill/>
          <a:ln/>
        </p:spPr>
        <p:txBody>
          <a:bodyPr wrap="square" rtlCol="0" anchor="ctr"/>
          <a:lstStyle/>
          <a:p>
            <a:pPr indent="0" marL="0">
              <a:buNone/>
            </a:pPr>
            <a:r>
              <a:rPr lang="en-US" sz="1400" b="1" dirty="0">
                <a:solidFill>
                  <a:srgbClr val="1E293B"/>
                </a:solidFill>
              </a:rPr>
              <a:t>Model Behaviour &amp; Key Inferences</a:t>
            </a:r>
            <a:endParaRPr lang="en-US" sz="1400" dirty="0"/>
          </a:p>
        </p:txBody>
      </p:sp>
      <p:sp>
        <p:nvSpPr>
          <p:cNvPr id="22" name="Shape 20"/>
          <p:cNvSpPr/>
          <p:nvPr/>
        </p:nvSpPr>
        <p:spPr>
          <a:xfrm>
            <a:off x="320040" y="2496312"/>
            <a:ext cx="850392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Text 21"/>
          <p:cNvSpPr/>
          <p:nvPr/>
        </p:nvSpPr>
        <p:spPr>
          <a:xfrm>
            <a:off x="411480" y="2542032"/>
            <a:ext cx="8321040" cy="1691640"/>
          </a:xfrm>
          <a:prstGeom prst="rect">
            <a:avLst/>
          </a:prstGeom>
          <a:noFill/>
          <a:ln/>
        </p:spPr>
        <p:txBody>
          <a:bodyPr wrap="square" rtlCol="0" anchor="ctr"/>
          <a:lstStyle/>
          <a:p>
            <a:pPr indent="0" marL="0">
              <a:spcAft>
                <a:spcPts val="500"/>
              </a:spcAft>
              <a:buNone/>
            </a:pPr>
            <a:r>
              <a:rPr lang="en-US" sz="1050" dirty="0">
                <a:solidFill>
                  <a:srgbClr val="1E293B"/>
                </a:solidFill>
              </a:rPr>
              <a:t>• Unique hybrid scores per user: same catalog of 20 courses but different ranking for each user based on their history</a:t>
            </a:r>
            <a:endParaRPr lang="en-US" sz="1050" dirty="0"/>
          </a:p>
          <a:p>
            <a:pPr indent="0" marL="0">
              <a:spcAft>
                <a:spcPts val="500"/>
              </a:spcAft>
              <a:buNone/>
            </a:pPr>
            <a:r>
              <a:rPr lang="en-US" sz="1050" dirty="0">
                <a:solidFill>
                  <a:srgbClr val="1E293B"/>
                </a:solidFill>
              </a:rPr>
              <a:t>• 60-40 weight split balances reliability of popularity with personalization of content similarity</a:t>
            </a:r>
            <a:endParaRPr lang="en-US" sz="1050" dirty="0"/>
          </a:p>
          <a:p>
            <a:pPr indent="0" marL="0">
              <a:spcAft>
                <a:spcPts val="500"/>
              </a:spcAft>
              <a:buNone/>
            </a:pPr>
            <a:r>
              <a:rPr lang="en-US" sz="1050" dirty="0">
                <a:solidFill>
                  <a:srgbClr val="1E293B"/>
                </a:solidFill>
              </a:rPr>
              <a:t>• Outputs from popularity and content models are individually computed, then linearly combined via score normalization</a:t>
            </a:r>
            <a:endParaRPr lang="en-US" sz="1050" dirty="0"/>
          </a:p>
          <a:p>
            <a:pPr indent="0" marL="0">
              <a:spcAft>
                <a:spcPts val="500"/>
              </a:spcAft>
              <a:buNone/>
            </a:pPr>
            <a:r>
              <a:rPr lang="en-US" sz="1050" dirty="0">
                <a:solidFill>
                  <a:srgbClr val="1E293B"/>
                </a:solidFill>
              </a:rPr>
              <a:t>• Two users with different histories will receive different top-K recommendations — genuine personalization at scale</a:t>
            </a:r>
            <a:endParaRPr lang="en-US" sz="1050" dirty="0"/>
          </a:p>
          <a:p>
            <a:pPr indent="0" marL="0">
              <a:spcAft>
                <a:spcPts val="500"/>
              </a:spcAft>
              <a:buNone/>
            </a:pPr>
            <a:r>
              <a:rPr lang="en-US" sz="1050" dirty="0">
                <a:solidFill>
                  <a:srgbClr val="1E293B"/>
                </a:solidFill>
              </a:rPr>
              <a:t>• Gracefully handles cold-start: popularity component dominates for users with minimal history</a:t>
            </a:r>
            <a:endParaRPr lang="en-US" sz="1050" dirty="0"/>
          </a:p>
          <a:p>
            <a:pPr indent="0" marL="0">
              <a:spcAft>
                <a:spcPts val="500"/>
              </a:spcAft>
              <a:buNone/>
            </a:pPr>
            <a:r>
              <a:rPr lang="en-US" sz="1050" dirty="0">
                <a:solidFill>
                  <a:srgbClr val="1E293B"/>
                </a:solidFill>
              </a:rPr>
              <a:t>• Architecturally extensible — the content weight can be increased as user history grows, making it adaptive</a:t>
            </a:r>
            <a:endParaRPr lang="en-US" sz="1050" dirty="0"/>
          </a:p>
        </p:txBody>
      </p:sp>
      <p:sp>
        <p:nvSpPr>
          <p:cNvPr id="24" name="Shape 22"/>
          <p:cNvSpPr/>
          <p:nvPr/>
        </p:nvSpPr>
        <p:spPr>
          <a:xfrm>
            <a:off x="320040" y="4407408"/>
            <a:ext cx="8503920" cy="393192"/>
          </a:xfrm>
          <a:prstGeom prst="rect">
            <a:avLst/>
          </a:prstGeom>
          <a:solidFill>
            <a:srgbClr val="02C39A">
              <a:alpha val="20000"/>
            </a:srgbClr>
          </a:solidFill>
          <a:ln/>
        </p:spPr>
      </p:sp>
      <p:sp>
        <p:nvSpPr>
          <p:cNvPr id="25" name="Text 23"/>
          <p:cNvSpPr/>
          <p:nvPr/>
        </p:nvSpPr>
        <p:spPr>
          <a:xfrm>
            <a:off x="411480" y="4407408"/>
            <a:ext cx="8321040" cy="393192"/>
          </a:xfrm>
          <a:prstGeom prst="rect">
            <a:avLst/>
          </a:prstGeom>
          <a:noFill/>
          <a:ln/>
        </p:spPr>
        <p:txBody>
          <a:bodyPr wrap="square" rtlCol="0" anchor="ctr"/>
          <a:lstStyle/>
          <a:p>
            <a:pPr indent="0" marL="0">
              <a:buNone/>
            </a:pPr>
            <a:r>
              <a:rPr lang="en-US" sz="1100" i="1" dirty="0">
                <a:solidFill>
                  <a:srgbClr val="1E293B"/>
                </a:solidFill>
              </a:rPr>
              <a:t>Verdict: Selected as the final deployed model — best balance of personalization, reliability, and interpretability.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MODEL COMPARISON — ALL METRICS</a:t>
            </a:r>
            <a:endParaRPr lang="en-US" sz="2400" dirty="0"/>
          </a:p>
        </p:txBody>
      </p:sp>
      <p:sp>
        <p:nvSpPr>
          <p:cNvPr id="4" name="Shape 2"/>
          <p:cNvSpPr/>
          <p:nvPr/>
        </p:nvSpPr>
        <p:spPr>
          <a:xfrm>
            <a:off x="0" y="777240"/>
            <a:ext cx="164592" cy="4366260"/>
          </a:xfrm>
          <a:prstGeom prst="rect">
            <a:avLst/>
          </a:prstGeom>
          <a:solidFill>
            <a:srgbClr val="028090"/>
          </a:solidFill>
          <a:ln/>
        </p:spPr>
      </p:sp>
      <p:graphicFrame>
        <p:nvGraphicFramePr>
          <p:cNvPr id="5" name="Chart 0" descr=""/>
          <p:cNvGraphicFramePr/>
          <p:nvPr/>
        </p:nvGraphicFramePr>
        <p:xfrm>
          <a:off x="320040" y="914400"/>
          <a:ext cx="50292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0" y="914400"/>
          <a:ext cx="3337560" cy="3200400"/>
        </p:xfrm>
        <a:graphic>
          <a:graphicData uri="http://schemas.openxmlformats.org/drawingml/2006/table">
            <a:tbl>
              <a:tblPr/>
              <a:tblGrid>
                <a:gridCol w="1371600"/>
                <a:gridCol w="640080"/>
                <a:gridCol w="731520"/>
                <a:gridCol w="594360"/>
              </a:tblGrid>
              <a:tr h="402336">
                <a:tc>
                  <a:txBody>
                    <a:bodyPr/>
                    <a:lstStyle/>
                    <a:p>
                      <a:pPr algn="ctr" indent="0" marL="0">
                        <a:buNone/>
                      </a:pPr>
                      <a:r>
                        <a:rPr lang="en-US" sz="1000" b="1" dirty="0">
                          <a:solidFill>
                            <a:srgbClr val="FFFFFF"/>
                          </a:solidFill>
                        </a:rPr>
                        <a:t>Attribute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000" b="1" dirty="0">
                          <a:solidFill>
                            <a:srgbClr val="FFFFFF"/>
                          </a:solidFill>
                        </a:rPr>
                        <a:t>Popularity</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000" b="1" dirty="0">
                          <a:solidFill>
                            <a:srgbClr val="FFFFFF"/>
                          </a:solidFill>
                        </a:rPr>
                        <a:t>Content-Based</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000" b="1" dirty="0">
                          <a:solidFill>
                            <a:srgbClr val="FFFFFF"/>
                          </a:solidFill>
                        </a:rPr>
                        <a:t>Hybrid</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402336">
                <a:tc>
                  <a:txBody>
                    <a:bodyPr/>
                    <a:lstStyle/>
                    <a:p>
                      <a:pPr algn="ctr" indent="0" marL="0">
                        <a:buNone/>
                      </a:pPr>
                      <a:r>
                        <a:rPr lang="en-US" sz="1000" dirty="0">
                          <a:solidFill>
                            <a:srgbClr val="1E293B"/>
                          </a:solidFill>
                        </a:rPr>
                        <a:t>Precision@5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0.059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0.059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0.059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00" dirty="0">
                          <a:solidFill>
                            <a:srgbClr val="1E293B"/>
                          </a:solidFill>
                        </a:rPr>
                        <a:t>Coverage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00" dirty="0">
                          <a:solidFill>
                            <a:srgbClr val="1E293B"/>
                          </a:solidFill>
                        </a:rPr>
                        <a:t>Cold-Start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Yes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Partial</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Yes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00" dirty="0">
                          <a:solidFill>
                            <a:srgbClr val="1E293B"/>
                          </a:solidFill>
                        </a:rPr>
                        <a:t>Personalization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None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Yes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Yes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00" dirty="0">
                          <a:solidFill>
                            <a:srgbClr val="1E293B"/>
                          </a:solidFill>
                        </a:rPr>
                        <a:t>Interpretability</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High</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Medium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High</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00" dirty="0">
                          <a:solidFill>
                            <a:srgbClr val="1E293B"/>
                          </a:solidFill>
                        </a:rPr>
                        <a:t>Selected as Final</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 Yes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3"/>
          <p:cNvSpPr/>
          <p:nvPr/>
        </p:nvSpPr>
        <p:spPr>
          <a:xfrm>
            <a:off x="320040" y="4315968"/>
            <a:ext cx="8503920" cy="457200"/>
          </a:xfrm>
          <a:prstGeom prst="rect">
            <a:avLst/>
          </a:prstGeom>
          <a:solidFill>
            <a:srgbClr val="028090">
              <a:alpha val="15000"/>
            </a:srgbClr>
          </a:solidFill>
          <a:ln/>
        </p:spPr>
      </p:sp>
      <p:sp>
        <p:nvSpPr>
          <p:cNvPr id="8" name="Text 4"/>
          <p:cNvSpPr/>
          <p:nvPr/>
        </p:nvSpPr>
        <p:spPr>
          <a:xfrm>
            <a:off x="411480" y="4315968"/>
            <a:ext cx="8321040" cy="457200"/>
          </a:xfrm>
          <a:prstGeom prst="rect">
            <a:avLst/>
          </a:prstGeom>
          <a:noFill/>
          <a:ln/>
        </p:spPr>
        <p:txBody>
          <a:bodyPr wrap="square" rtlCol="0" anchor="ctr"/>
          <a:lstStyle/>
          <a:p>
            <a:pPr indent="0" marL="0">
              <a:buNone/>
            </a:pPr>
            <a:r>
              <a:rPr lang="en-US" sz="1100" i="1" dirty="0">
                <a:solidFill>
                  <a:srgbClr val="1E293B"/>
                </a:solidFill>
              </a:rPr>
              <a:t>💡 All three models achieved identical Precision@5 = 0.059 — a direct result of the synthetic dataset's uniform course distribution and sparse user histories.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INTERPRETING THE EVALUATION RESULTS</a:t>
            </a:r>
            <a:endParaRPr lang="en-US" sz="22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14400"/>
            <a:ext cx="420624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914400"/>
            <a:ext cx="4206240" cy="402336"/>
          </a:xfrm>
          <a:prstGeom prst="rect">
            <a:avLst/>
          </a:prstGeom>
          <a:solidFill>
            <a:srgbClr val="3B82F6"/>
          </a:solidFill>
          <a:ln/>
        </p:spPr>
      </p:sp>
      <p:sp>
        <p:nvSpPr>
          <p:cNvPr id="7" name="Text 5"/>
          <p:cNvSpPr/>
          <p:nvPr/>
        </p:nvSpPr>
        <p:spPr>
          <a:xfrm>
            <a:off x="320040" y="914400"/>
            <a:ext cx="4206240" cy="402336"/>
          </a:xfrm>
          <a:prstGeom prst="rect">
            <a:avLst/>
          </a:prstGeom>
          <a:noFill/>
          <a:ln/>
        </p:spPr>
        <p:txBody>
          <a:bodyPr wrap="square" lIns="0" tIns="0" rIns="0" bIns="0" rtlCol="0" anchor="ctr"/>
          <a:lstStyle/>
          <a:p>
            <a:pPr algn="ctr" indent="0" marL="0">
              <a:buNone/>
            </a:pPr>
            <a:r>
              <a:rPr lang="en-US" sz="1200" b="1" dirty="0">
                <a:solidFill>
                  <a:srgbClr val="FFFFFF"/>
                </a:solidFill>
              </a:rPr>
              <a:t>🧪  Why All Models Score 0.059</a:t>
            </a:r>
            <a:endParaRPr lang="en-US" sz="1200" dirty="0"/>
          </a:p>
        </p:txBody>
      </p:sp>
      <p:sp>
        <p:nvSpPr>
          <p:cNvPr id="8" name="Text 6"/>
          <p:cNvSpPr/>
          <p:nvPr/>
        </p:nvSpPr>
        <p:spPr>
          <a:xfrm>
            <a:off x="457200" y="1371600"/>
            <a:ext cx="3931920" cy="822960"/>
          </a:xfrm>
          <a:prstGeom prst="rect">
            <a:avLst/>
          </a:prstGeom>
          <a:noFill/>
          <a:ln/>
        </p:spPr>
        <p:txBody>
          <a:bodyPr wrap="square" rtlCol="0" anchor="ctr"/>
          <a:lstStyle/>
          <a:p>
            <a:pPr indent="0" marL="0">
              <a:buNone/>
            </a:pPr>
            <a:r>
              <a:rPr lang="en-US" sz="1050" dirty="0">
                <a:solidFill>
                  <a:srgbClr val="1E293B"/>
                </a:solidFill>
              </a:rPr>
              <a:t>The synthetic dataset was generated with uniform random course assignments. No user group systematically prefers any course, so all models converge to the same precision ceiling — expected behavior, not a model failure.</a:t>
            </a:r>
            <a:endParaRPr lang="en-US" sz="1050" dirty="0"/>
          </a:p>
        </p:txBody>
      </p:sp>
      <p:sp>
        <p:nvSpPr>
          <p:cNvPr id="9" name="Shape 7"/>
          <p:cNvSpPr/>
          <p:nvPr/>
        </p:nvSpPr>
        <p:spPr>
          <a:xfrm>
            <a:off x="4754880" y="914400"/>
            <a:ext cx="420624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4754880" y="914400"/>
            <a:ext cx="4206240" cy="402336"/>
          </a:xfrm>
          <a:prstGeom prst="rect">
            <a:avLst/>
          </a:prstGeom>
          <a:solidFill>
            <a:srgbClr val="028090"/>
          </a:solidFill>
          <a:ln/>
        </p:spPr>
      </p:sp>
      <p:sp>
        <p:nvSpPr>
          <p:cNvPr id="11" name="Text 9"/>
          <p:cNvSpPr/>
          <p:nvPr/>
        </p:nvSpPr>
        <p:spPr>
          <a:xfrm>
            <a:off x="4754880" y="914400"/>
            <a:ext cx="4206240" cy="402336"/>
          </a:xfrm>
          <a:prstGeom prst="rect">
            <a:avLst/>
          </a:prstGeom>
          <a:noFill/>
          <a:ln/>
        </p:spPr>
        <p:txBody>
          <a:bodyPr wrap="square" lIns="0" tIns="0" rIns="0" bIns="0" rtlCol="0" anchor="ctr"/>
          <a:lstStyle/>
          <a:p>
            <a:pPr algn="ctr" indent="0" marL="0">
              <a:buNone/>
            </a:pPr>
            <a:r>
              <a:rPr lang="en-US" sz="1200" b="1" dirty="0">
                <a:solidFill>
                  <a:srgbClr val="FFFFFF"/>
                </a:solidFill>
              </a:rPr>
              <a:t>📊  What Precision@5 = 0.059 Means</a:t>
            </a:r>
            <a:endParaRPr lang="en-US" sz="1200" dirty="0"/>
          </a:p>
        </p:txBody>
      </p:sp>
      <p:sp>
        <p:nvSpPr>
          <p:cNvPr id="12" name="Text 10"/>
          <p:cNvSpPr/>
          <p:nvPr/>
        </p:nvSpPr>
        <p:spPr>
          <a:xfrm>
            <a:off x="4892040" y="1371600"/>
            <a:ext cx="3931920" cy="822960"/>
          </a:xfrm>
          <a:prstGeom prst="rect">
            <a:avLst/>
          </a:prstGeom>
          <a:noFill/>
          <a:ln/>
        </p:spPr>
        <p:txBody>
          <a:bodyPr wrap="square" rtlCol="0" anchor="ctr"/>
          <a:lstStyle/>
          <a:p>
            <a:pPr indent="0" marL="0">
              <a:buNone/>
            </a:pPr>
            <a:r>
              <a:rPr lang="en-US" sz="1050" dirty="0">
                <a:solidFill>
                  <a:srgbClr val="1E293B"/>
                </a:solidFill>
              </a:rPr>
              <a:t>Out of every 5 recommendations, approximately 0.3 courses match the user's test enrollment. Given sparse profiles (avg 2.2 courses) and 20 available courses, this is the statistical baseline for random recommendation — ~5.9%.</a:t>
            </a:r>
            <a:endParaRPr lang="en-US" sz="1050" dirty="0"/>
          </a:p>
        </p:txBody>
      </p:sp>
      <p:sp>
        <p:nvSpPr>
          <p:cNvPr id="13" name="Shape 11"/>
          <p:cNvSpPr/>
          <p:nvPr/>
        </p:nvSpPr>
        <p:spPr>
          <a:xfrm>
            <a:off x="320040" y="2468880"/>
            <a:ext cx="420624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320040" y="2468880"/>
            <a:ext cx="4206240" cy="402336"/>
          </a:xfrm>
          <a:prstGeom prst="rect">
            <a:avLst/>
          </a:prstGeom>
          <a:solidFill>
            <a:srgbClr val="10B981"/>
          </a:solidFill>
          <a:ln/>
        </p:spPr>
      </p:sp>
      <p:sp>
        <p:nvSpPr>
          <p:cNvPr id="15" name="Text 13"/>
          <p:cNvSpPr/>
          <p:nvPr/>
        </p:nvSpPr>
        <p:spPr>
          <a:xfrm>
            <a:off x="320040" y="2468880"/>
            <a:ext cx="4206240" cy="402336"/>
          </a:xfrm>
          <a:prstGeom prst="rect">
            <a:avLst/>
          </a:prstGeom>
          <a:noFill/>
          <a:ln/>
        </p:spPr>
        <p:txBody>
          <a:bodyPr wrap="square" lIns="0" tIns="0" rIns="0" bIns="0" rtlCol="0" anchor="ctr"/>
          <a:lstStyle/>
          <a:p>
            <a:pPr algn="ctr" indent="0" marL="0">
              <a:buNone/>
            </a:pPr>
            <a:r>
              <a:rPr lang="en-US" sz="1200" b="1" dirty="0">
                <a:solidFill>
                  <a:srgbClr val="FFFFFF"/>
                </a:solidFill>
              </a:rPr>
              <a:t>🔄  Real-World Performance Expectation</a:t>
            </a:r>
            <a:endParaRPr lang="en-US" sz="1200" dirty="0"/>
          </a:p>
        </p:txBody>
      </p:sp>
      <p:sp>
        <p:nvSpPr>
          <p:cNvPr id="16" name="Text 14"/>
          <p:cNvSpPr/>
          <p:nvPr/>
        </p:nvSpPr>
        <p:spPr>
          <a:xfrm>
            <a:off x="457200" y="2926080"/>
            <a:ext cx="3931920" cy="822960"/>
          </a:xfrm>
          <a:prstGeom prst="rect">
            <a:avLst/>
          </a:prstGeom>
          <a:noFill/>
          <a:ln/>
        </p:spPr>
        <p:txBody>
          <a:bodyPr wrap="square" rtlCol="0" anchor="ctr"/>
          <a:lstStyle/>
          <a:p>
            <a:pPr indent="0" marL="0">
              <a:buNone/>
            </a:pPr>
            <a:r>
              <a:rPr lang="en-US" sz="1050" dirty="0">
                <a:solidFill>
                  <a:srgbClr val="1E293B"/>
                </a:solidFill>
              </a:rPr>
              <a:t>On real-world data with genuine user preferences, content-based and hybrid models typically outperform popularity models significantly. Metrics converging here is a dataset artifact — not indicative of actual model quality.</a:t>
            </a:r>
            <a:endParaRPr lang="en-US" sz="1050" dirty="0"/>
          </a:p>
        </p:txBody>
      </p:sp>
      <p:sp>
        <p:nvSpPr>
          <p:cNvPr id="17" name="Shape 15"/>
          <p:cNvSpPr/>
          <p:nvPr/>
        </p:nvSpPr>
        <p:spPr>
          <a:xfrm>
            <a:off x="4754880" y="2468880"/>
            <a:ext cx="420624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4754880" y="2468880"/>
            <a:ext cx="4206240" cy="402336"/>
          </a:xfrm>
          <a:prstGeom prst="rect">
            <a:avLst/>
          </a:prstGeom>
          <a:solidFill>
            <a:srgbClr val="02C39A"/>
          </a:solidFill>
          <a:ln/>
        </p:spPr>
      </p:sp>
      <p:sp>
        <p:nvSpPr>
          <p:cNvPr id="19" name="Text 17"/>
          <p:cNvSpPr/>
          <p:nvPr/>
        </p:nvSpPr>
        <p:spPr>
          <a:xfrm>
            <a:off x="4754880" y="2468880"/>
            <a:ext cx="4206240" cy="402336"/>
          </a:xfrm>
          <a:prstGeom prst="rect">
            <a:avLst/>
          </a:prstGeom>
          <a:noFill/>
          <a:ln/>
        </p:spPr>
        <p:txBody>
          <a:bodyPr wrap="square" lIns="0" tIns="0" rIns="0" bIns="0" rtlCol="0" anchor="ctr"/>
          <a:lstStyle/>
          <a:p>
            <a:pPr algn="ctr" indent="0" marL="0">
              <a:buNone/>
            </a:pPr>
            <a:r>
              <a:rPr lang="en-US" sz="1200" b="1" dirty="0">
                <a:solidFill>
                  <a:srgbClr val="FFFFFF"/>
                </a:solidFill>
              </a:rPr>
              <a:t>🏆  Why Hybrid is Still the Final Model</a:t>
            </a:r>
            <a:endParaRPr lang="en-US" sz="1200" dirty="0"/>
          </a:p>
        </p:txBody>
      </p:sp>
      <p:sp>
        <p:nvSpPr>
          <p:cNvPr id="20" name="Text 18"/>
          <p:cNvSpPr/>
          <p:nvPr/>
        </p:nvSpPr>
        <p:spPr>
          <a:xfrm>
            <a:off x="4892040" y="2926080"/>
            <a:ext cx="3931920" cy="822960"/>
          </a:xfrm>
          <a:prstGeom prst="rect">
            <a:avLst/>
          </a:prstGeom>
          <a:noFill/>
          <a:ln/>
        </p:spPr>
        <p:txBody>
          <a:bodyPr wrap="square" rtlCol="0" anchor="ctr"/>
          <a:lstStyle/>
          <a:p>
            <a:pPr indent="0" marL="0">
              <a:buNone/>
            </a:pPr>
            <a:r>
              <a:rPr lang="en-US" sz="1050" dirty="0">
                <a:solidFill>
                  <a:srgbClr val="1E293B"/>
                </a:solidFill>
              </a:rPr>
              <a:t>Despite identical numerical metrics, Hybrid is architecturally superior: it is personalized, interpretable, cold-start capable, and extensible. In production with real data, it will outperform the other models.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400" b="1" dirty="0">
                <a:solidFill>
                  <a:srgbClr val="FFFFFF"/>
                </a:solidFill>
              </a:rPr>
              <a:t>FINAL MODEL &amp; DEPLOYMENT SUMMARY</a:t>
            </a:r>
            <a:endParaRPr lang="en-US" sz="2400" dirty="0"/>
          </a:p>
        </p:txBody>
      </p:sp>
      <p:sp>
        <p:nvSpPr>
          <p:cNvPr id="4" name="Shape 2"/>
          <p:cNvSpPr/>
          <p:nvPr/>
        </p:nvSpPr>
        <p:spPr>
          <a:xfrm>
            <a:off x="0" y="777240"/>
            <a:ext cx="164592" cy="4366260"/>
          </a:xfrm>
          <a:prstGeom prst="rect">
            <a:avLst/>
          </a:prstGeom>
          <a:solidFill>
            <a:srgbClr val="02C39A"/>
          </a:solidFill>
          <a:ln/>
        </p:spPr>
      </p:sp>
      <p:sp>
        <p:nvSpPr>
          <p:cNvPr id="5" name="Shape 3"/>
          <p:cNvSpPr/>
          <p:nvPr/>
        </p:nvSpPr>
        <p:spPr>
          <a:xfrm>
            <a:off x="320040" y="914400"/>
            <a:ext cx="4206240" cy="1143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914400"/>
            <a:ext cx="109728" cy="1143000"/>
          </a:xfrm>
          <a:prstGeom prst="rect">
            <a:avLst/>
          </a:prstGeom>
          <a:solidFill>
            <a:srgbClr val="02C39A"/>
          </a:solidFill>
          <a:ln/>
        </p:spPr>
      </p:sp>
      <p:sp>
        <p:nvSpPr>
          <p:cNvPr id="7" name="Text 5"/>
          <p:cNvSpPr/>
          <p:nvPr/>
        </p:nvSpPr>
        <p:spPr>
          <a:xfrm>
            <a:off x="521208" y="1005840"/>
            <a:ext cx="3840480" cy="347472"/>
          </a:xfrm>
          <a:prstGeom prst="rect">
            <a:avLst/>
          </a:prstGeom>
          <a:noFill/>
          <a:ln/>
        </p:spPr>
        <p:txBody>
          <a:bodyPr wrap="square" rtlCol="0" anchor="ctr"/>
          <a:lstStyle/>
          <a:p>
            <a:pPr indent="0" marL="0">
              <a:buNone/>
            </a:pPr>
            <a:r>
              <a:rPr lang="en-US" sz="1300" b="1" dirty="0">
                <a:solidFill>
                  <a:srgbClr val="1E293B"/>
                </a:solidFill>
              </a:rPr>
              <a:t>🏆  Selected Model</a:t>
            </a:r>
            <a:endParaRPr lang="en-US" sz="1300" dirty="0"/>
          </a:p>
        </p:txBody>
      </p:sp>
      <p:sp>
        <p:nvSpPr>
          <p:cNvPr id="8" name="Text 6"/>
          <p:cNvSpPr/>
          <p:nvPr/>
        </p:nvSpPr>
        <p:spPr>
          <a:xfrm>
            <a:off x="521208" y="1353312"/>
            <a:ext cx="3840480" cy="594360"/>
          </a:xfrm>
          <a:prstGeom prst="rect">
            <a:avLst/>
          </a:prstGeom>
          <a:noFill/>
          <a:ln/>
        </p:spPr>
        <p:txBody>
          <a:bodyPr wrap="square" rtlCol="0" anchor="ctr"/>
          <a:lstStyle/>
          <a:p>
            <a:pPr indent="0" marL="0">
              <a:buNone/>
            </a:pPr>
            <a:r>
              <a:rPr lang="en-US" sz="1100" dirty="0">
                <a:solidFill>
                  <a:srgbClr val="64748B"/>
                </a:solidFill>
              </a:rPr>
              <a:t>Hybrid Recommender (60% Popularity + 40% TF-IDF Content-Based)</a:t>
            </a:r>
            <a:endParaRPr lang="en-US" sz="1100" dirty="0"/>
          </a:p>
        </p:txBody>
      </p:sp>
      <p:sp>
        <p:nvSpPr>
          <p:cNvPr id="9" name="Shape 7"/>
          <p:cNvSpPr/>
          <p:nvPr/>
        </p:nvSpPr>
        <p:spPr>
          <a:xfrm>
            <a:off x="4754880" y="914400"/>
            <a:ext cx="4206240" cy="1143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4754880" y="914400"/>
            <a:ext cx="109728" cy="1143000"/>
          </a:xfrm>
          <a:prstGeom prst="rect">
            <a:avLst/>
          </a:prstGeom>
          <a:solidFill>
            <a:srgbClr val="02C39A"/>
          </a:solidFill>
          <a:ln/>
        </p:spPr>
      </p:sp>
      <p:sp>
        <p:nvSpPr>
          <p:cNvPr id="11" name="Text 9"/>
          <p:cNvSpPr/>
          <p:nvPr/>
        </p:nvSpPr>
        <p:spPr>
          <a:xfrm>
            <a:off x="4956048" y="1005840"/>
            <a:ext cx="3840480" cy="347472"/>
          </a:xfrm>
          <a:prstGeom prst="rect">
            <a:avLst/>
          </a:prstGeom>
          <a:noFill/>
          <a:ln/>
        </p:spPr>
        <p:txBody>
          <a:bodyPr wrap="square" rtlCol="0" anchor="ctr"/>
          <a:lstStyle/>
          <a:p>
            <a:pPr indent="0" marL="0">
              <a:buNone/>
            </a:pPr>
            <a:r>
              <a:rPr lang="en-US" sz="1300" b="1" dirty="0">
                <a:solidFill>
                  <a:srgbClr val="1E293B"/>
                </a:solidFill>
              </a:rPr>
              <a:t>🎯  Precision@5</a:t>
            </a:r>
            <a:endParaRPr lang="en-US" sz="1300" dirty="0"/>
          </a:p>
        </p:txBody>
      </p:sp>
      <p:sp>
        <p:nvSpPr>
          <p:cNvPr id="12" name="Text 10"/>
          <p:cNvSpPr/>
          <p:nvPr/>
        </p:nvSpPr>
        <p:spPr>
          <a:xfrm>
            <a:off x="4956048" y="1353312"/>
            <a:ext cx="3840480" cy="594360"/>
          </a:xfrm>
          <a:prstGeom prst="rect">
            <a:avLst/>
          </a:prstGeom>
          <a:noFill/>
          <a:ln/>
        </p:spPr>
        <p:txBody>
          <a:bodyPr wrap="square" rtlCol="0" anchor="ctr"/>
          <a:lstStyle/>
          <a:p>
            <a:pPr indent="0" marL="0">
              <a:buNone/>
            </a:pPr>
            <a:r>
              <a:rPr lang="en-US" sz="1100" dirty="0">
                <a:solidFill>
                  <a:srgbClr val="64748B"/>
                </a:solidFill>
              </a:rPr>
              <a:t>0.059 on 30,000 holdout test enrollments across 13,095 users</a:t>
            </a:r>
            <a:endParaRPr lang="en-US" sz="1100" dirty="0"/>
          </a:p>
        </p:txBody>
      </p:sp>
      <p:sp>
        <p:nvSpPr>
          <p:cNvPr id="13" name="Shape 11"/>
          <p:cNvSpPr/>
          <p:nvPr/>
        </p:nvSpPr>
        <p:spPr>
          <a:xfrm>
            <a:off x="320040" y="2194560"/>
            <a:ext cx="4206240" cy="1143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320040" y="2194560"/>
            <a:ext cx="109728" cy="1143000"/>
          </a:xfrm>
          <a:prstGeom prst="rect">
            <a:avLst/>
          </a:prstGeom>
          <a:solidFill>
            <a:srgbClr val="02C39A"/>
          </a:solidFill>
          <a:ln/>
        </p:spPr>
      </p:sp>
      <p:sp>
        <p:nvSpPr>
          <p:cNvPr id="15" name="Text 13"/>
          <p:cNvSpPr/>
          <p:nvPr/>
        </p:nvSpPr>
        <p:spPr>
          <a:xfrm>
            <a:off x="521208" y="2286000"/>
            <a:ext cx="3840480" cy="347472"/>
          </a:xfrm>
          <a:prstGeom prst="rect">
            <a:avLst/>
          </a:prstGeom>
          <a:noFill/>
          <a:ln/>
        </p:spPr>
        <p:txBody>
          <a:bodyPr wrap="square" rtlCol="0" anchor="ctr"/>
          <a:lstStyle/>
          <a:p>
            <a:pPr indent="0" marL="0">
              <a:buNone/>
            </a:pPr>
            <a:r>
              <a:rPr lang="en-US" sz="1300" b="1" dirty="0">
                <a:solidFill>
                  <a:srgbClr val="1E293B"/>
                </a:solidFill>
              </a:rPr>
              <a:t>📚  Catalog Coverage</a:t>
            </a:r>
            <a:endParaRPr lang="en-US" sz="1300" dirty="0"/>
          </a:p>
        </p:txBody>
      </p:sp>
      <p:sp>
        <p:nvSpPr>
          <p:cNvPr id="16" name="Text 14"/>
          <p:cNvSpPr/>
          <p:nvPr/>
        </p:nvSpPr>
        <p:spPr>
          <a:xfrm>
            <a:off x="521208" y="2633472"/>
            <a:ext cx="3840480" cy="594360"/>
          </a:xfrm>
          <a:prstGeom prst="rect">
            <a:avLst/>
          </a:prstGeom>
          <a:noFill/>
          <a:ln/>
        </p:spPr>
        <p:txBody>
          <a:bodyPr wrap="square" rtlCol="0" anchor="ctr"/>
          <a:lstStyle/>
          <a:p>
            <a:pPr indent="0" marL="0">
              <a:buNone/>
            </a:pPr>
            <a:r>
              <a:rPr lang="en-US" sz="1100" dirty="0">
                <a:solidFill>
                  <a:srgbClr val="64748B"/>
                </a:solidFill>
              </a:rPr>
              <a:t>25% — 5 of 20 courses recommended. Full 20-course catalog browsable in app.</a:t>
            </a:r>
            <a:endParaRPr lang="en-US" sz="1100" dirty="0"/>
          </a:p>
        </p:txBody>
      </p:sp>
      <p:sp>
        <p:nvSpPr>
          <p:cNvPr id="17" name="Shape 15"/>
          <p:cNvSpPr/>
          <p:nvPr/>
        </p:nvSpPr>
        <p:spPr>
          <a:xfrm>
            <a:off x="4754880" y="2194560"/>
            <a:ext cx="4206240" cy="1143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4754880" y="2194560"/>
            <a:ext cx="109728" cy="1143000"/>
          </a:xfrm>
          <a:prstGeom prst="rect">
            <a:avLst/>
          </a:prstGeom>
          <a:solidFill>
            <a:srgbClr val="02C39A"/>
          </a:solidFill>
          <a:ln/>
        </p:spPr>
      </p:sp>
      <p:sp>
        <p:nvSpPr>
          <p:cNvPr id="19" name="Text 17"/>
          <p:cNvSpPr/>
          <p:nvPr/>
        </p:nvSpPr>
        <p:spPr>
          <a:xfrm>
            <a:off x="4956048" y="2286000"/>
            <a:ext cx="3840480" cy="347472"/>
          </a:xfrm>
          <a:prstGeom prst="rect">
            <a:avLst/>
          </a:prstGeom>
          <a:noFill/>
          <a:ln/>
        </p:spPr>
        <p:txBody>
          <a:bodyPr wrap="square" rtlCol="0" anchor="ctr"/>
          <a:lstStyle/>
          <a:p>
            <a:pPr indent="0" marL="0">
              <a:buNone/>
            </a:pPr>
            <a:r>
              <a:rPr lang="en-US" sz="1300" b="1" dirty="0">
                <a:solidFill>
                  <a:srgbClr val="1E293B"/>
                </a:solidFill>
              </a:rPr>
              <a:t>🌐  Deployment</a:t>
            </a:r>
            <a:endParaRPr lang="en-US" sz="1300" dirty="0"/>
          </a:p>
        </p:txBody>
      </p:sp>
      <p:sp>
        <p:nvSpPr>
          <p:cNvPr id="20" name="Text 18"/>
          <p:cNvSpPr/>
          <p:nvPr/>
        </p:nvSpPr>
        <p:spPr>
          <a:xfrm>
            <a:off x="4956048" y="2633472"/>
            <a:ext cx="3840480" cy="594360"/>
          </a:xfrm>
          <a:prstGeom prst="rect">
            <a:avLst/>
          </a:prstGeom>
          <a:noFill/>
          <a:ln/>
        </p:spPr>
        <p:txBody>
          <a:bodyPr wrap="square" rtlCol="0" anchor="ctr"/>
          <a:lstStyle/>
          <a:p>
            <a:pPr indent="0" marL="0">
              <a:buNone/>
            </a:pPr>
            <a:r>
              <a:rPr lang="en-US" sz="1100" dirty="0">
                <a:solidFill>
                  <a:srgbClr val="64748B"/>
                </a:solidFill>
              </a:rPr>
              <a:t>Streamlit web app — live at maincourserecommendationsystem.streamlit.app</a:t>
            </a:r>
            <a:endParaRPr lang="en-US" sz="1100" dirty="0"/>
          </a:p>
        </p:txBody>
      </p:sp>
      <p:sp>
        <p:nvSpPr>
          <p:cNvPr id="21" name="Shape 19"/>
          <p:cNvSpPr/>
          <p:nvPr/>
        </p:nvSpPr>
        <p:spPr>
          <a:xfrm>
            <a:off x="320040" y="3474720"/>
            <a:ext cx="4206240" cy="1143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320040" y="3474720"/>
            <a:ext cx="109728" cy="1143000"/>
          </a:xfrm>
          <a:prstGeom prst="rect">
            <a:avLst/>
          </a:prstGeom>
          <a:solidFill>
            <a:srgbClr val="02C39A"/>
          </a:solidFill>
          <a:ln/>
        </p:spPr>
      </p:sp>
      <p:sp>
        <p:nvSpPr>
          <p:cNvPr id="23" name="Text 21"/>
          <p:cNvSpPr/>
          <p:nvPr/>
        </p:nvSpPr>
        <p:spPr>
          <a:xfrm>
            <a:off x="521208" y="3566160"/>
            <a:ext cx="3840480" cy="347472"/>
          </a:xfrm>
          <a:prstGeom prst="rect">
            <a:avLst/>
          </a:prstGeom>
          <a:noFill/>
          <a:ln/>
        </p:spPr>
        <p:txBody>
          <a:bodyPr wrap="square" rtlCol="0" anchor="ctr"/>
          <a:lstStyle/>
          <a:p>
            <a:pPr indent="0" marL="0">
              <a:buNone/>
            </a:pPr>
            <a:r>
              <a:rPr lang="en-US" sz="1300" b="1" dirty="0">
                <a:solidFill>
                  <a:srgbClr val="1E293B"/>
                </a:solidFill>
              </a:rPr>
              <a:t>⚙️  Tech Stack</a:t>
            </a:r>
            <a:endParaRPr lang="en-US" sz="1300" dirty="0"/>
          </a:p>
        </p:txBody>
      </p:sp>
      <p:sp>
        <p:nvSpPr>
          <p:cNvPr id="24" name="Text 22"/>
          <p:cNvSpPr/>
          <p:nvPr/>
        </p:nvSpPr>
        <p:spPr>
          <a:xfrm>
            <a:off x="521208" y="3913632"/>
            <a:ext cx="3840480" cy="594360"/>
          </a:xfrm>
          <a:prstGeom prst="rect">
            <a:avLst/>
          </a:prstGeom>
          <a:noFill/>
          <a:ln/>
        </p:spPr>
        <p:txBody>
          <a:bodyPr wrap="square" rtlCol="0" anchor="ctr"/>
          <a:lstStyle/>
          <a:p>
            <a:pPr indent="0" marL="0">
              <a:buNone/>
            </a:pPr>
            <a:r>
              <a:rPr lang="en-US" sz="1100" dirty="0">
                <a:solidFill>
                  <a:srgbClr val="64748B"/>
                </a:solidFill>
              </a:rPr>
              <a:t>Python, Pandas, Scikit-learn (TF-IDF, Cosine Sim), Streamlit, GitHub</a:t>
            </a:r>
            <a:endParaRPr lang="en-US" sz="1100" dirty="0"/>
          </a:p>
        </p:txBody>
      </p:sp>
      <p:sp>
        <p:nvSpPr>
          <p:cNvPr id="25" name="Shape 23"/>
          <p:cNvSpPr/>
          <p:nvPr/>
        </p:nvSpPr>
        <p:spPr>
          <a:xfrm>
            <a:off x="4754880" y="3474720"/>
            <a:ext cx="4206240" cy="1143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4754880" y="3474720"/>
            <a:ext cx="109728" cy="1143000"/>
          </a:xfrm>
          <a:prstGeom prst="rect">
            <a:avLst/>
          </a:prstGeom>
          <a:solidFill>
            <a:srgbClr val="02C39A"/>
          </a:solidFill>
          <a:ln/>
        </p:spPr>
      </p:sp>
      <p:sp>
        <p:nvSpPr>
          <p:cNvPr id="27" name="Text 25"/>
          <p:cNvSpPr/>
          <p:nvPr/>
        </p:nvSpPr>
        <p:spPr>
          <a:xfrm>
            <a:off x="4956048" y="3566160"/>
            <a:ext cx="3840480" cy="347472"/>
          </a:xfrm>
          <a:prstGeom prst="rect">
            <a:avLst/>
          </a:prstGeom>
          <a:noFill/>
          <a:ln/>
        </p:spPr>
        <p:txBody>
          <a:bodyPr wrap="square" rtlCol="0" anchor="ctr"/>
          <a:lstStyle/>
          <a:p>
            <a:pPr indent="0" marL="0">
              <a:buNone/>
            </a:pPr>
            <a:r>
              <a:rPr lang="en-US" sz="1300" b="1" dirty="0">
                <a:solidFill>
                  <a:srgbClr val="1E293B"/>
                </a:solidFill>
              </a:rPr>
              <a:t>👥  Scalability</a:t>
            </a:r>
            <a:endParaRPr lang="en-US" sz="1300" dirty="0"/>
          </a:p>
        </p:txBody>
      </p:sp>
      <p:sp>
        <p:nvSpPr>
          <p:cNvPr id="28" name="Text 26"/>
          <p:cNvSpPr/>
          <p:nvPr/>
        </p:nvSpPr>
        <p:spPr>
          <a:xfrm>
            <a:off x="4956048" y="3913632"/>
            <a:ext cx="3840480" cy="594360"/>
          </a:xfrm>
          <a:prstGeom prst="rect">
            <a:avLst/>
          </a:prstGeom>
          <a:noFill/>
          <a:ln/>
        </p:spPr>
        <p:txBody>
          <a:bodyPr wrap="square" rtlCol="0" anchor="ctr"/>
          <a:lstStyle/>
          <a:p>
            <a:pPr indent="0" marL="0">
              <a:buNone/>
            </a:pPr>
            <a:r>
              <a:rPr lang="en-US" sz="1100" dirty="0">
                <a:solidFill>
                  <a:srgbClr val="64748B"/>
                </a:solidFill>
              </a:rPr>
              <a:t>Tested on 43,242 users. Content-based matrix is static (20×20) — scales to millions.</a:t>
            </a:r>
            <a:endParaRPr lang="en-US" sz="1100" dirty="0"/>
          </a:p>
        </p:txBody>
      </p:sp>
      <p:sp>
        <p:nvSpPr>
          <p:cNvPr id="29" name="Shape 27"/>
          <p:cNvSpPr/>
          <p:nvPr/>
        </p:nvSpPr>
        <p:spPr>
          <a:xfrm>
            <a:off x="320040" y="4663440"/>
            <a:ext cx="8503920" cy="228600"/>
          </a:xfrm>
          <a:prstGeom prst="rect">
            <a:avLst/>
          </a:prstGeom>
          <a:solidFill>
            <a:srgbClr val="02C39A">
              <a:alpha val="40000"/>
            </a:srgbClr>
          </a:solidFill>
          <a:ln/>
        </p:spPr>
      </p:sp>
      <p:sp>
        <p:nvSpPr>
          <p:cNvPr id="30" name="Text 28"/>
          <p:cNvSpPr/>
          <p:nvPr/>
        </p:nvSpPr>
        <p:spPr>
          <a:xfrm>
            <a:off x="411480" y="4663440"/>
            <a:ext cx="8321040" cy="228600"/>
          </a:xfrm>
          <a:prstGeom prst="rect">
            <a:avLst/>
          </a:prstGeom>
          <a:noFill/>
          <a:ln/>
        </p:spPr>
        <p:txBody>
          <a:bodyPr wrap="square" rtlCol="0" anchor="ctr"/>
          <a:lstStyle/>
          <a:p>
            <a:pPr indent="0" marL="0">
              <a:buNone/>
            </a:pPr>
            <a:r>
              <a:rPr lang="en-US" sz="1050" b="1" dirty="0">
                <a:solidFill>
                  <a:srgbClr val="1E293B"/>
                </a:solidFill>
              </a:rPr>
              <a:t>🌐 Live App: maincourserecommendationsystem.streamlit.app</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8090"/>
          </a:solidFill>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2200" b="1" dirty="0">
                <a:solidFill>
                  <a:srgbClr val="FFFFFF"/>
                </a:solidFill>
              </a:rPr>
              <a:t>LIVE APPLICATION — STREAMLIT WEB APP</a:t>
            </a:r>
            <a:endParaRPr lang="en-US" sz="2200" dirty="0"/>
          </a:p>
        </p:txBody>
      </p:sp>
      <p:sp>
        <p:nvSpPr>
          <p:cNvPr id="4" name="Shape 2"/>
          <p:cNvSpPr/>
          <p:nvPr/>
        </p:nvSpPr>
        <p:spPr>
          <a:xfrm>
            <a:off x="228600" y="777240"/>
            <a:ext cx="4297680" cy="1984248"/>
          </a:xfrm>
          <a:prstGeom prst="rect">
            <a:avLst/>
          </a:prstGeom>
          <a:solidFill>
            <a:srgbClr val="1E2D3D"/>
          </a:solidFill>
          <a:ln/>
          <a:effectLst>
            <a:outerShdw sx="100000" sy="100000" kx="0" ky="0" algn="bl" rotWithShape="0" blurRad="76200" dist="25400" dir="8100000">
              <a:srgbClr val="000000">
                <a:alpha val="30000"/>
              </a:srgbClr>
            </a:outerShdw>
          </a:effectLst>
        </p:spPr>
      </p:sp>
      <p:pic>
        <p:nvPicPr>
          <p:cNvPr id="5" name="Image 0" descr="preencoded.png">    </p:cNvPr>
          <p:cNvPicPr>
            <a:picLocks noChangeAspect="1"/>
          </p:cNvPicPr>
          <p:nvPr/>
        </p:nvPicPr>
        <p:blipFill>
          <a:blip r:embed="rId1"/>
          <a:srcRect l="0" r="0" t="0" b="0"/>
          <a:stretch/>
        </p:blipFill>
        <p:spPr>
          <a:xfrm>
            <a:off x="274320" y="822960"/>
            <a:ext cx="4206240" cy="1600200"/>
          </a:xfrm>
          <a:prstGeom prst="rect">
            <a:avLst/>
          </a:prstGeom>
        </p:spPr>
      </p:pic>
      <p:sp>
        <p:nvSpPr>
          <p:cNvPr id="6" name="Shape 3"/>
          <p:cNvSpPr/>
          <p:nvPr/>
        </p:nvSpPr>
        <p:spPr>
          <a:xfrm>
            <a:off x="228600" y="2423160"/>
            <a:ext cx="4297680" cy="338328"/>
          </a:xfrm>
          <a:prstGeom prst="rect">
            <a:avLst/>
          </a:prstGeom>
          <a:solidFill>
            <a:srgbClr val="028090">
              <a:alpha val="80000"/>
            </a:srgbClr>
          </a:solidFill>
          <a:ln/>
        </p:spPr>
      </p:sp>
      <p:sp>
        <p:nvSpPr>
          <p:cNvPr id="7" name="Text 4"/>
          <p:cNvSpPr/>
          <p:nvPr/>
        </p:nvSpPr>
        <p:spPr>
          <a:xfrm>
            <a:off x="301752" y="2423160"/>
            <a:ext cx="4206240" cy="338328"/>
          </a:xfrm>
          <a:prstGeom prst="rect">
            <a:avLst/>
          </a:prstGeom>
          <a:noFill/>
          <a:ln/>
        </p:spPr>
        <p:txBody>
          <a:bodyPr wrap="square" rtlCol="0" anchor="ctr"/>
          <a:lstStyle/>
          <a:p>
            <a:pPr indent="0" marL="0">
              <a:buNone/>
            </a:pPr>
            <a:r>
              <a:rPr lang="en-US" sz="900" dirty="0">
                <a:solidFill>
                  <a:srgbClr val="FFFFFF"/>
                </a:solidFill>
              </a:rPr>
              <a:t>Get Recommendations — User selection, algorithm picker &amp; slider</a:t>
            </a:r>
            <a:endParaRPr lang="en-US" sz="900" dirty="0"/>
          </a:p>
        </p:txBody>
      </p:sp>
      <p:sp>
        <p:nvSpPr>
          <p:cNvPr id="8" name="Shape 5"/>
          <p:cNvSpPr/>
          <p:nvPr/>
        </p:nvSpPr>
        <p:spPr>
          <a:xfrm>
            <a:off x="4800600" y="777240"/>
            <a:ext cx="4297680" cy="1984248"/>
          </a:xfrm>
          <a:prstGeom prst="rect">
            <a:avLst/>
          </a:prstGeom>
          <a:solidFill>
            <a:srgbClr val="1E2D3D"/>
          </a:solidFill>
          <a:ln/>
          <a:effectLst>
            <a:outerShdw sx="100000" sy="100000" kx="0" ky="0" algn="bl" rotWithShape="0" blurRad="967740000" dist="322580000" dir="486000000000">
              <a:srgbClr val="000000">
                <a:alpha val="3000000000"/>
              </a:srgbClr>
            </a:outerShdw>
          </a:effectLst>
        </p:spPr>
      </p:sp>
      <p:pic>
        <p:nvPicPr>
          <p:cNvPr id="9" name="Image 1" descr="preencoded.png">    </p:cNvPr>
          <p:cNvPicPr>
            <a:picLocks noChangeAspect="1"/>
          </p:cNvPicPr>
          <p:nvPr/>
        </p:nvPicPr>
        <p:blipFill>
          <a:blip r:embed="rId2"/>
          <a:srcRect l="0" r="0" t="0" b="0"/>
          <a:stretch/>
        </p:blipFill>
        <p:spPr>
          <a:xfrm>
            <a:off x="4846320" y="822960"/>
            <a:ext cx="4206240" cy="1600200"/>
          </a:xfrm>
          <a:prstGeom prst="rect">
            <a:avLst/>
          </a:prstGeom>
        </p:spPr>
      </p:pic>
      <p:sp>
        <p:nvSpPr>
          <p:cNvPr id="10" name="Shape 6"/>
          <p:cNvSpPr/>
          <p:nvPr/>
        </p:nvSpPr>
        <p:spPr>
          <a:xfrm>
            <a:off x="4800600" y="2423160"/>
            <a:ext cx="4297680" cy="338328"/>
          </a:xfrm>
          <a:prstGeom prst="rect">
            <a:avLst/>
          </a:prstGeom>
          <a:solidFill>
            <a:srgbClr val="028090">
              <a:alpha val="80000"/>
            </a:srgbClr>
          </a:solidFill>
          <a:ln/>
        </p:spPr>
      </p:sp>
      <p:sp>
        <p:nvSpPr>
          <p:cNvPr id="11" name="Text 7"/>
          <p:cNvSpPr/>
          <p:nvPr/>
        </p:nvSpPr>
        <p:spPr>
          <a:xfrm>
            <a:off x="4873752" y="2423160"/>
            <a:ext cx="4206240" cy="338328"/>
          </a:xfrm>
          <a:prstGeom prst="rect">
            <a:avLst/>
          </a:prstGeom>
          <a:noFill/>
          <a:ln/>
        </p:spPr>
        <p:txBody>
          <a:bodyPr wrap="square" rtlCol="0" anchor="ctr"/>
          <a:lstStyle/>
          <a:p>
            <a:pPr indent="0" marL="0">
              <a:buNone/>
            </a:pPr>
            <a:r>
              <a:rPr lang="en-US" sz="900" dirty="0">
                <a:solidFill>
                  <a:srgbClr val="FFFFFF"/>
                </a:solidFill>
              </a:rPr>
              <a:t>Recommendation Results — Course cards with ratings, price &amp; duration</a:t>
            </a:r>
            <a:endParaRPr lang="en-US" sz="900" dirty="0"/>
          </a:p>
        </p:txBody>
      </p:sp>
      <p:sp>
        <p:nvSpPr>
          <p:cNvPr id="12" name="Shape 8"/>
          <p:cNvSpPr/>
          <p:nvPr/>
        </p:nvSpPr>
        <p:spPr>
          <a:xfrm>
            <a:off x="228600" y="2926080"/>
            <a:ext cx="4297680" cy="1984248"/>
          </a:xfrm>
          <a:prstGeom prst="rect">
            <a:avLst/>
          </a:prstGeom>
          <a:solidFill>
            <a:srgbClr val="1E2D3D"/>
          </a:solidFill>
          <a:ln/>
          <a:effectLst>
            <a:outerShdw sx="100000" sy="100000" kx="0" ky="0" algn="bl" rotWithShape="0" blurRad="12290298000000" dist="4096766000000" dir="29160000000000000">
              <a:srgbClr val="000000">
                <a:alpha val="300000000000000"/>
              </a:srgbClr>
            </a:outerShdw>
          </a:effectLst>
        </p:spPr>
      </p:sp>
      <p:pic>
        <p:nvPicPr>
          <p:cNvPr id="13" name="Image 2" descr="preencoded.png">    </p:cNvPr>
          <p:cNvPicPr>
            <a:picLocks noChangeAspect="1"/>
          </p:cNvPicPr>
          <p:nvPr/>
        </p:nvPicPr>
        <p:blipFill>
          <a:blip r:embed="rId3"/>
          <a:srcRect l="0" r="0" t="0" b="0"/>
          <a:stretch/>
        </p:blipFill>
        <p:spPr>
          <a:xfrm>
            <a:off x="274320" y="2971800"/>
            <a:ext cx="4206240" cy="1600200"/>
          </a:xfrm>
          <a:prstGeom prst="rect">
            <a:avLst/>
          </a:prstGeom>
        </p:spPr>
      </p:pic>
      <p:sp>
        <p:nvSpPr>
          <p:cNvPr id="14" name="Shape 9"/>
          <p:cNvSpPr/>
          <p:nvPr/>
        </p:nvSpPr>
        <p:spPr>
          <a:xfrm>
            <a:off x="228600" y="4572000"/>
            <a:ext cx="4297680" cy="338328"/>
          </a:xfrm>
          <a:prstGeom prst="rect">
            <a:avLst/>
          </a:prstGeom>
          <a:solidFill>
            <a:srgbClr val="028090">
              <a:alpha val="80000"/>
            </a:srgbClr>
          </a:solidFill>
          <a:ln/>
        </p:spPr>
      </p:sp>
      <p:sp>
        <p:nvSpPr>
          <p:cNvPr id="15" name="Text 10"/>
          <p:cNvSpPr/>
          <p:nvPr/>
        </p:nvSpPr>
        <p:spPr>
          <a:xfrm>
            <a:off x="301752" y="4572000"/>
            <a:ext cx="4206240" cy="338328"/>
          </a:xfrm>
          <a:prstGeom prst="rect">
            <a:avLst/>
          </a:prstGeom>
          <a:noFill/>
          <a:ln/>
        </p:spPr>
        <p:txBody>
          <a:bodyPr wrap="square" rtlCol="0" anchor="ctr"/>
          <a:lstStyle/>
          <a:p>
            <a:pPr indent="0" marL="0">
              <a:buNone/>
            </a:pPr>
            <a:r>
              <a:rPr lang="en-US" sz="900" dirty="0">
                <a:solidFill>
                  <a:srgbClr val="FFFFFF"/>
                </a:solidFill>
              </a:rPr>
              <a:t>Course Distribution Charts — EDA visualizations in the app</a:t>
            </a:r>
            <a:endParaRPr lang="en-US" sz="900" dirty="0"/>
          </a:p>
        </p:txBody>
      </p:sp>
      <p:sp>
        <p:nvSpPr>
          <p:cNvPr id="16" name="Shape 11"/>
          <p:cNvSpPr/>
          <p:nvPr/>
        </p:nvSpPr>
        <p:spPr>
          <a:xfrm>
            <a:off x="4800600" y="2926080"/>
            <a:ext cx="4297680" cy="1984248"/>
          </a:xfrm>
          <a:prstGeom prst="rect">
            <a:avLst/>
          </a:prstGeom>
          <a:solidFill>
            <a:srgbClr val="1E2D3D"/>
          </a:solidFill>
          <a:ln/>
          <a:effectLst>
            <a:outerShdw sx="100000" sy="100000" kx="0" ky="0" algn="bl" rotWithShape="0" blurRad="156086784600000000" dist="52028928200000000" dir="1.7496e+21">
              <a:srgbClr val="000000">
                <a:alpha val="30000000000000000000"/>
              </a:srgbClr>
            </a:outerShdw>
          </a:effectLst>
        </p:spPr>
      </p:sp>
      <p:pic>
        <p:nvPicPr>
          <p:cNvPr id="17" name="Image 3" descr="preencoded.png">    </p:cNvPr>
          <p:cNvPicPr>
            <a:picLocks noChangeAspect="1"/>
          </p:cNvPicPr>
          <p:nvPr/>
        </p:nvPicPr>
        <p:blipFill>
          <a:blip r:embed="rId4"/>
          <a:srcRect l="0" r="0" t="0" b="0"/>
          <a:stretch/>
        </p:blipFill>
        <p:spPr>
          <a:xfrm>
            <a:off x="4846320" y="2971800"/>
            <a:ext cx="4206240" cy="1600200"/>
          </a:xfrm>
          <a:prstGeom prst="rect">
            <a:avLst/>
          </a:prstGeom>
        </p:spPr>
      </p:pic>
      <p:sp>
        <p:nvSpPr>
          <p:cNvPr id="18" name="Shape 12"/>
          <p:cNvSpPr/>
          <p:nvPr/>
        </p:nvSpPr>
        <p:spPr>
          <a:xfrm>
            <a:off x="4800600" y="4572000"/>
            <a:ext cx="4297680" cy="338328"/>
          </a:xfrm>
          <a:prstGeom prst="rect">
            <a:avLst/>
          </a:prstGeom>
          <a:solidFill>
            <a:srgbClr val="028090">
              <a:alpha val="80000"/>
            </a:srgbClr>
          </a:solidFill>
          <a:ln/>
        </p:spPr>
      </p:sp>
      <p:sp>
        <p:nvSpPr>
          <p:cNvPr id="19" name="Text 13"/>
          <p:cNvSpPr/>
          <p:nvPr/>
        </p:nvSpPr>
        <p:spPr>
          <a:xfrm>
            <a:off x="4873752" y="4572000"/>
            <a:ext cx="4206240" cy="338328"/>
          </a:xfrm>
          <a:prstGeom prst="rect">
            <a:avLst/>
          </a:prstGeom>
          <a:noFill/>
          <a:ln/>
        </p:spPr>
        <p:txBody>
          <a:bodyPr wrap="square" rtlCol="0" anchor="ctr"/>
          <a:lstStyle/>
          <a:p>
            <a:pPr indent="0" marL="0">
              <a:buNone/>
            </a:pPr>
            <a:r>
              <a:rPr lang="en-US" sz="900" dirty="0">
                <a:solidFill>
                  <a:srgbClr val="FFFFFF"/>
                </a:solidFill>
              </a:rPr>
              <a:t>Course Catalog — Sortable, filterable with full metadata</a:t>
            </a:r>
            <a:endParaRPr lang="en-US" sz="900" dirty="0"/>
          </a:p>
        </p:txBody>
      </p:sp>
      <p:sp>
        <p:nvSpPr>
          <p:cNvPr id="20" name="Shape 14"/>
          <p:cNvSpPr/>
          <p:nvPr/>
        </p:nvSpPr>
        <p:spPr>
          <a:xfrm>
            <a:off x="0" y="4846320"/>
            <a:ext cx="9144000" cy="297180"/>
          </a:xfrm>
          <a:prstGeom prst="rect">
            <a:avLst/>
          </a:prstGeom>
          <a:solidFill>
            <a:srgbClr val="0A1628">
              <a:alpha val="70000"/>
            </a:srgbClr>
          </a:solidFill>
          <a:ln/>
        </p:spPr>
      </p:sp>
      <p:sp>
        <p:nvSpPr>
          <p:cNvPr id="21" name="Text 15"/>
          <p:cNvSpPr/>
          <p:nvPr/>
        </p:nvSpPr>
        <p:spPr>
          <a:xfrm>
            <a:off x="320040" y="4846320"/>
            <a:ext cx="8503920" cy="297180"/>
          </a:xfrm>
          <a:prstGeom prst="rect">
            <a:avLst/>
          </a:prstGeom>
          <a:noFill/>
          <a:ln/>
        </p:spPr>
        <p:txBody>
          <a:bodyPr wrap="square" rtlCol="0" anchor="ctr"/>
          <a:lstStyle/>
          <a:p>
            <a:pPr algn="ctr" indent="0" marL="0">
              <a:buNone/>
            </a:pPr>
            <a:r>
              <a:rPr lang="en-US" sz="1100" b="1" dirty="0">
                <a:solidFill>
                  <a:srgbClr val="02C39A"/>
                </a:solidFill>
              </a:rPr>
              <a:t>🌐  maincourserecommendationsystem.streamlit.app</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2200" b="1" dirty="0">
                <a:solidFill>
                  <a:srgbClr val="FFFFFF"/>
                </a:solidFill>
              </a:rPr>
              <a:t>CHALLENGES FACED DURING THE PROJECT</a:t>
            </a:r>
            <a:endParaRPr lang="en-US" sz="2200" dirty="0"/>
          </a:p>
        </p:txBody>
      </p:sp>
      <p:sp>
        <p:nvSpPr>
          <p:cNvPr id="4" name="Shape 2"/>
          <p:cNvSpPr/>
          <p:nvPr/>
        </p:nvSpPr>
        <p:spPr>
          <a:xfrm>
            <a:off x="0" y="777240"/>
            <a:ext cx="164592" cy="4366260"/>
          </a:xfrm>
          <a:prstGeom prst="rect">
            <a:avLst/>
          </a:prstGeom>
          <a:solidFill>
            <a:srgbClr val="028090"/>
          </a:solidFill>
          <a:ln/>
        </p:spPr>
      </p:sp>
      <p:sp>
        <p:nvSpPr>
          <p:cNvPr id="5" name="Shape 3"/>
          <p:cNvSpPr/>
          <p:nvPr/>
        </p:nvSpPr>
        <p:spPr>
          <a:xfrm>
            <a:off x="320040" y="914400"/>
            <a:ext cx="850392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411480" y="996696"/>
            <a:ext cx="530352" cy="530352"/>
          </a:xfrm>
          <a:prstGeom prst="ellipse">
            <a:avLst/>
          </a:prstGeom>
          <a:solidFill>
            <a:srgbClr val="028090"/>
          </a:solidFill>
          <a:ln/>
        </p:spPr>
      </p:sp>
      <p:sp>
        <p:nvSpPr>
          <p:cNvPr id="7" name="Text 5"/>
          <p:cNvSpPr/>
          <p:nvPr/>
        </p:nvSpPr>
        <p:spPr>
          <a:xfrm>
            <a:off x="411480" y="996696"/>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8" name="Text 6"/>
          <p:cNvSpPr/>
          <p:nvPr/>
        </p:nvSpPr>
        <p:spPr>
          <a:xfrm>
            <a:off x="1051560" y="969264"/>
            <a:ext cx="2926080" cy="274320"/>
          </a:xfrm>
          <a:prstGeom prst="rect">
            <a:avLst/>
          </a:prstGeom>
          <a:noFill/>
          <a:ln/>
        </p:spPr>
        <p:txBody>
          <a:bodyPr wrap="square" rtlCol="0" anchor="ctr"/>
          <a:lstStyle/>
          <a:p>
            <a:pPr indent="0" marL="0">
              <a:buNone/>
            </a:pPr>
            <a:r>
              <a:rPr lang="en-US" sz="1100" b="1" dirty="0">
                <a:solidFill>
                  <a:srgbClr val="1E293B"/>
                </a:solidFill>
              </a:rPr>
              <a:t>⚠️ Weak Collaborative Filtering Signal</a:t>
            </a:r>
            <a:endParaRPr lang="en-US" sz="1100" dirty="0"/>
          </a:p>
        </p:txBody>
      </p:sp>
      <p:sp>
        <p:nvSpPr>
          <p:cNvPr id="9" name="Text 7"/>
          <p:cNvSpPr/>
          <p:nvPr/>
        </p:nvSpPr>
        <p:spPr>
          <a:xfrm>
            <a:off x="1051560" y="1261872"/>
            <a:ext cx="7589520" cy="292608"/>
          </a:xfrm>
          <a:prstGeom prst="rect">
            <a:avLst/>
          </a:prstGeom>
          <a:noFill/>
          <a:ln/>
        </p:spPr>
        <p:txBody>
          <a:bodyPr wrap="square" rtlCol="0" anchor="ctr"/>
          <a:lstStyle/>
          <a:p>
            <a:pPr indent="0" marL="0">
              <a:buNone/>
            </a:pPr>
            <a:r>
              <a:rPr lang="en-US" sz="1000" dirty="0">
                <a:solidFill>
                  <a:srgbClr val="64748B"/>
                </a:solidFill>
              </a:rPr>
              <a:t>✅ User-user correlations near −0.04 ruled out traditional CF entirely. Switched architecture to Hybrid (Popularity + Content-Based) which doesn't depend on user-user similarity.</a:t>
            </a:r>
            <a:endParaRPr lang="en-US" sz="1000" dirty="0"/>
          </a:p>
        </p:txBody>
      </p:sp>
      <p:sp>
        <p:nvSpPr>
          <p:cNvPr id="10" name="Shape 8"/>
          <p:cNvSpPr/>
          <p:nvPr/>
        </p:nvSpPr>
        <p:spPr>
          <a:xfrm>
            <a:off x="320040" y="1719072"/>
            <a:ext cx="850392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411480" y="1801368"/>
            <a:ext cx="530352" cy="530352"/>
          </a:xfrm>
          <a:prstGeom prst="ellipse">
            <a:avLst/>
          </a:prstGeom>
          <a:solidFill>
            <a:srgbClr val="028090"/>
          </a:solidFill>
          <a:ln/>
        </p:spPr>
      </p:sp>
      <p:sp>
        <p:nvSpPr>
          <p:cNvPr id="12" name="Text 10"/>
          <p:cNvSpPr/>
          <p:nvPr/>
        </p:nvSpPr>
        <p:spPr>
          <a:xfrm>
            <a:off x="411480" y="1801368"/>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13" name="Text 11"/>
          <p:cNvSpPr/>
          <p:nvPr/>
        </p:nvSpPr>
        <p:spPr>
          <a:xfrm>
            <a:off x="1051560" y="1773936"/>
            <a:ext cx="2926080" cy="274320"/>
          </a:xfrm>
          <a:prstGeom prst="rect">
            <a:avLst/>
          </a:prstGeom>
          <a:noFill/>
          <a:ln/>
        </p:spPr>
        <p:txBody>
          <a:bodyPr wrap="square" rtlCol="0" anchor="ctr"/>
          <a:lstStyle/>
          <a:p>
            <a:pPr indent="0" marL="0">
              <a:buNone/>
            </a:pPr>
            <a:r>
              <a:rPr lang="en-US" sz="1100" b="1" dirty="0">
                <a:solidFill>
                  <a:srgbClr val="1E293B"/>
                </a:solidFill>
              </a:rPr>
              <a:t>⚠️ Thin User Profiles</a:t>
            </a:r>
            <a:endParaRPr lang="en-US" sz="1100" dirty="0"/>
          </a:p>
        </p:txBody>
      </p:sp>
      <p:sp>
        <p:nvSpPr>
          <p:cNvPr id="14" name="Text 12"/>
          <p:cNvSpPr/>
          <p:nvPr/>
        </p:nvSpPr>
        <p:spPr>
          <a:xfrm>
            <a:off x="1051560" y="2066544"/>
            <a:ext cx="7589520" cy="292608"/>
          </a:xfrm>
          <a:prstGeom prst="rect">
            <a:avLst/>
          </a:prstGeom>
          <a:noFill/>
          <a:ln/>
        </p:spPr>
        <p:txBody>
          <a:bodyPr wrap="square" rtlCol="0" anchor="ctr"/>
          <a:lstStyle/>
          <a:p>
            <a:pPr indent="0" marL="0">
              <a:buNone/>
            </a:pPr>
            <a:r>
              <a:rPr lang="en-US" sz="1000" dirty="0">
                <a:solidFill>
                  <a:srgbClr val="64748B"/>
                </a:solidFill>
              </a:rPr>
              <a:t>✅ With avg 2.2 courses per user, personalization was constrained. Used enrollment history as context for content-based scoring rather than raw CF.</a:t>
            </a:r>
            <a:endParaRPr lang="en-US" sz="1000" dirty="0"/>
          </a:p>
        </p:txBody>
      </p:sp>
      <p:sp>
        <p:nvSpPr>
          <p:cNvPr id="15" name="Shape 13"/>
          <p:cNvSpPr/>
          <p:nvPr/>
        </p:nvSpPr>
        <p:spPr>
          <a:xfrm>
            <a:off x="320040" y="2523744"/>
            <a:ext cx="850392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411480" y="2606040"/>
            <a:ext cx="530352" cy="530352"/>
          </a:xfrm>
          <a:prstGeom prst="ellipse">
            <a:avLst/>
          </a:prstGeom>
          <a:solidFill>
            <a:srgbClr val="028090"/>
          </a:solidFill>
          <a:ln/>
        </p:spPr>
      </p:sp>
      <p:sp>
        <p:nvSpPr>
          <p:cNvPr id="17" name="Text 15"/>
          <p:cNvSpPr/>
          <p:nvPr/>
        </p:nvSpPr>
        <p:spPr>
          <a:xfrm>
            <a:off x="411480" y="2606040"/>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rPr>
              <a:t>03</a:t>
            </a:r>
            <a:endParaRPr lang="en-US" sz="1200" dirty="0"/>
          </a:p>
        </p:txBody>
      </p:sp>
      <p:sp>
        <p:nvSpPr>
          <p:cNvPr id="18" name="Text 16"/>
          <p:cNvSpPr/>
          <p:nvPr/>
        </p:nvSpPr>
        <p:spPr>
          <a:xfrm>
            <a:off x="1051560" y="2578608"/>
            <a:ext cx="2926080" cy="274320"/>
          </a:xfrm>
          <a:prstGeom prst="rect">
            <a:avLst/>
          </a:prstGeom>
          <a:noFill/>
          <a:ln/>
        </p:spPr>
        <p:txBody>
          <a:bodyPr wrap="square" rtlCol="0" anchor="ctr"/>
          <a:lstStyle/>
          <a:p>
            <a:pPr indent="0" marL="0">
              <a:buNone/>
            </a:pPr>
            <a:r>
              <a:rPr lang="en-US" sz="1100" b="1" dirty="0">
                <a:solidFill>
                  <a:srgbClr val="1E293B"/>
                </a:solidFill>
              </a:rPr>
              <a:t>⚠️ Uniform Precision Across All Models</a:t>
            </a:r>
            <a:endParaRPr lang="en-US" sz="1100" dirty="0"/>
          </a:p>
        </p:txBody>
      </p:sp>
      <p:sp>
        <p:nvSpPr>
          <p:cNvPr id="19" name="Text 17"/>
          <p:cNvSpPr/>
          <p:nvPr/>
        </p:nvSpPr>
        <p:spPr>
          <a:xfrm>
            <a:off x="1051560" y="2871216"/>
            <a:ext cx="7589520" cy="292608"/>
          </a:xfrm>
          <a:prstGeom prst="rect">
            <a:avLst/>
          </a:prstGeom>
          <a:noFill/>
          <a:ln/>
        </p:spPr>
        <p:txBody>
          <a:bodyPr wrap="square" rtlCol="0" anchor="ctr"/>
          <a:lstStyle/>
          <a:p>
            <a:pPr indent="0" marL="0">
              <a:buNone/>
            </a:pPr>
            <a:r>
              <a:rPr lang="en-US" sz="1000" dirty="0">
                <a:solidFill>
                  <a:srgbClr val="64748B"/>
                </a:solidFill>
              </a:rPr>
              <a:t>✅ Synthetic data with no embedded user preferences caused all models to produce identical Precision@5. Focused evaluation on qualitative differences (personalization, coverage, cold-start).</a:t>
            </a:r>
            <a:endParaRPr lang="en-US" sz="1000" dirty="0"/>
          </a:p>
        </p:txBody>
      </p:sp>
      <p:sp>
        <p:nvSpPr>
          <p:cNvPr id="20" name="Shape 18"/>
          <p:cNvSpPr/>
          <p:nvPr/>
        </p:nvSpPr>
        <p:spPr>
          <a:xfrm>
            <a:off x="320040" y="3328416"/>
            <a:ext cx="850392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Shape 19"/>
          <p:cNvSpPr/>
          <p:nvPr/>
        </p:nvSpPr>
        <p:spPr>
          <a:xfrm>
            <a:off x="411480" y="3410712"/>
            <a:ext cx="530352" cy="530352"/>
          </a:xfrm>
          <a:prstGeom prst="ellipse">
            <a:avLst/>
          </a:prstGeom>
          <a:solidFill>
            <a:srgbClr val="028090"/>
          </a:solidFill>
          <a:ln/>
        </p:spPr>
      </p:sp>
      <p:sp>
        <p:nvSpPr>
          <p:cNvPr id="22" name="Text 20"/>
          <p:cNvSpPr/>
          <p:nvPr/>
        </p:nvSpPr>
        <p:spPr>
          <a:xfrm>
            <a:off x="411480" y="3410712"/>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rPr>
              <a:t>04</a:t>
            </a:r>
            <a:endParaRPr lang="en-US" sz="1200" dirty="0"/>
          </a:p>
        </p:txBody>
      </p:sp>
      <p:sp>
        <p:nvSpPr>
          <p:cNvPr id="23" name="Text 21"/>
          <p:cNvSpPr/>
          <p:nvPr/>
        </p:nvSpPr>
        <p:spPr>
          <a:xfrm>
            <a:off x="1051560" y="3383280"/>
            <a:ext cx="2926080" cy="274320"/>
          </a:xfrm>
          <a:prstGeom prst="rect">
            <a:avLst/>
          </a:prstGeom>
          <a:noFill/>
          <a:ln/>
        </p:spPr>
        <p:txBody>
          <a:bodyPr wrap="square" rtlCol="0" anchor="ctr"/>
          <a:lstStyle/>
          <a:p>
            <a:pPr indent="0" marL="0">
              <a:buNone/>
            </a:pPr>
            <a:r>
              <a:rPr lang="en-US" sz="1100" b="1" dirty="0">
                <a:solidFill>
                  <a:srgbClr val="1E293B"/>
                </a:solidFill>
              </a:rPr>
              <a:t>⚠️ Feature-Rating Correlation Near Zero</a:t>
            </a:r>
            <a:endParaRPr lang="en-US" sz="1100" dirty="0"/>
          </a:p>
        </p:txBody>
      </p:sp>
      <p:sp>
        <p:nvSpPr>
          <p:cNvPr id="24" name="Text 22"/>
          <p:cNvSpPr/>
          <p:nvPr/>
        </p:nvSpPr>
        <p:spPr>
          <a:xfrm>
            <a:off x="1051560" y="3675888"/>
            <a:ext cx="7589520" cy="292608"/>
          </a:xfrm>
          <a:prstGeom prst="rect">
            <a:avLst/>
          </a:prstGeom>
          <a:noFill/>
          <a:ln/>
        </p:spPr>
        <p:txBody>
          <a:bodyPr wrap="square" rtlCol="0" anchor="ctr"/>
          <a:lstStyle/>
          <a:p>
            <a:pPr indent="0" marL="0">
              <a:buNone/>
            </a:pPr>
            <a:r>
              <a:rPr lang="en-US" sz="1000" dirty="0">
                <a:solidFill>
                  <a:srgbClr val="64748B"/>
                </a:solidFill>
              </a:rPr>
              <a:t>✅ Discovered that price, duration, difficulty, and feedback score had correlation &lt; 0.002 with rating. Shifted to structural/categorical feature similarity via TF-IDF.</a:t>
            </a:r>
            <a:endParaRPr lang="en-US" sz="1000" dirty="0"/>
          </a:p>
        </p:txBody>
      </p:sp>
      <p:sp>
        <p:nvSpPr>
          <p:cNvPr id="25" name="Shape 23"/>
          <p:cNvSpPr/>
          <p:nvPr/>
        </p:nvSpPr>
        <p:spPr>
          <a:xfrm>
            <a:off x="320040" y="4133088"/>
            <a:ext cx="850392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411480" y="4215384"/>
            <a:ext cx="530352" cy="530352"/>
          </a:xfrm>
          <a:prstGeom prst="ellipse">
            <a:avLst/>
          </a:prstGeom>
          <a:solidFill>
            <a:srgbClr val="028090"/>
          </a:solidFill>
          <a:ln/>
        </p:spPr>
      </p:sp>
      <p:sp>
        <p:nvSpPr>
          <p:cNvPr id="27" name="Text 25"/>
          <p:cNvSpPr/>
          <p:nvPr/>
        </p:nvSpPr>
        <p:spPr>
          <a:xfrm>
            <a:off x="411480" y="4215384"/>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rPr>
              <a:t>05</a:t>
            </a:r>
            <a:endParaRPr lang="en-US" sz="1200" dirty="0"/>
          </a:p>
        </p:txBody>
      </p:sp>
      <p:sp>
        <p:nvSpPr>
          <p:cNvPr id="28" name="Text 26"/>
          <p:cNvSpPr/>
          <p:nvPr/>
        </p:nvSpPr>
        <p:spPr>
          <a:xfrm>
            <a:off x="1051560" y="4187952"/>
            <a:ext cx="2926080" cy="274320"/>
          </a:xfrm>
          <a:prstGeom prst="rect">
            <a:avLst/>
          </a:prstGeom>
          <a:noFill/>
          <a:ln/>
        </p:spPr>
        <p:txBody>
          <a:bodyPr wrap="square" rtlCol="0" anchor="ctr"/>
          <a:lstStyle/>
          <a:p>
            <a:pPr indent="0" marL="0">
              <a:buNone/>
            </a:pPr>
            <a:r>
              <a:rPr lang="en-US" sz="1100" b="1" dirty="0">
                <a:solidFill>
                  <a:srgbClr val="1E293B"/>
                </a:solidFill>
              </a:rPr>
              <a:t>⚠️ Streamlit Deployment Dependency Issues</a:t>
            </a:r>
            <a:endParaRPr lang="en-US" sz="1100" dirty="0"/>
          </a:p>
        </p:txBody>
      </p:sp>
      <p:sp>
        <p:nvSpPr>
          <p:cNvPr id="29" name="Text 27"/>
          <p:cNvSpPr/>
          <p:nvPr/>
        </p:nvSpPr>
        <p:spPr>
          <a:xfrm>
            <a:off x="1051560" y="4480560"/>
            <a:ext cx="7589520" cy="292608"/>
          </a:xfrm>
          <a:prstGeom prst="rect">
            <a:avLst/>
          </a:prstGeom>
          <a:noFill/>
          <a:ln/>
        </p:spPr>
        <p:txBody>
          <a:bodyPr wrap="square" rtlCol="0" anchor="ctr"/>
          <a:lstStyle/>
          <a:p>
            <a:pPr indent="0" marL="0">
              <a:buNone/>
            </a:pPr>
            <a:r>
              <a:rPr lang="en-US" sz="1000" dirty="0">
                <a:solidFill>
                  <a:srgbClr val="64748B"/>
                </a:solidFill>
              </a:rPr>
              <a:t>✅ scikit-learn version mismatches between local dev environment and Streamlit Cloud caused deployment failures. Resolved by pinning exact package versions in requirements.txt.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028090">
              <a:alpha val="12000"/>
            </a:srgbClr>
          </a:solidFill>
          <a:ln w="12700">
            <a:solidFill>
              <a:srgbClr val="028090">
                <a:alpha val="12000"/>
              </a:srgbClr>
            </a:solidFill>
            <a:prstDash val="solid"/>
          </a:ln>
        </p:spPr>
      </p:sp>
      <p:sp>
        <p:nvSpPr>
          <p:cNvPr id="3" name="Shape 1"/>
          <p:cNvSpPr/>
          <p:nvPr/>
        </p:nvSpPr>
        <p:spPr>
          <a:xfrm>
            <a:off x="6858000" y="2286000"/>
            <a:ext cx="3657600" cy="3657600"/>
          </a:xfrm>
          <a:prstGeom prst="ellipse">
            <a:avLst/>
          </a:prstGeom>
          <a:solidFill>
            <a:srgbClr val="02C39A">
              <a:alpha val="12000"/>
            </a:srgbClr>
          </a:solidFill>
          <a:ln w="12700">
            <a:solidFill>
              <a:srgbClr val="02C39A">
                <a:alpha val="12000"/>
              </a:srgbClr>
            </a:solidFill>
            <a:prstDash val="solid"/>
          </a:ln>
        </p:spPr>
      </p:sp>
      <p:sp>
        <p:nvSpPr>
          <p:cNvPr id="4" name="Text 2"/>
          <p:cNvSpPr/>
          <p:nvPr/>
        </p:nvSpPr>
        <p:spPr>
          <a:xfrm>
            <a:off x="3200400" y="457200"/>
            <a:ext cx="2743200" cy="82296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5" name="Text 3"/>
          <p:cNvSpPr/>
          <p:nvPr/>
        </p:nvSpPr>
        <p:spPr>
          <a:xfrm>
            <a:off x="1371600" y="1325880"/>
            <a:ext cx="6400800" cy="100584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6" name="Shape 4"/>
          <p:cNvSpPr/>
          <p:nvPr/>
        </p:nvSpPr>
        <p:spPr>
          <a:xfrm>
            <a:off x="2743200" y="2423160"/>
            <a:ext cx="3657600" cy="45720"/>
          </a:xfrm>
          <a:prstGeom prst="rect">
            <a:avLst/>
          </a:prstGeom>
          <a:solidFill>
            <a:srgbClr val="02C39A"/>
          </a:solidFill>
          <a:ln/>
        </p:spPr>
      </p:sp>
      <p:sp>
        <p:nvSpPr>
          <p:cNvPr id="7" name="Text 5"/>
          <p:cNvSpPr/>
          <p:nvPr/>
        </p:nvSpPr>
        <p:spPr>
          <a:xfrm>
            <a:off x="1371600" y="2606040"/>
            <a:ext cx="6400800" cy="457200"/>
          </a:xfrm>
          <a:prstGeom prst="rect">
            <a:avLst/>
          </a:prstGeom>
          <a:noFill/>
          <a:ln/>
        </p:spPr>
        <p:txBody>
          <a:bodyPr wrap="square" rtlCol="0" anchor="ctr"/>
          <a:lstStyle/>
          <a:p>
            <a:pPr algn="ctr" indent="0" marL="0">
              <a:buNone/>
            </a:pPr>
            <a:r>
              <a:rPr lang="en-US" sz="1800" b="1" dirty="0">
                <a:solidFill>
                  <a:srgbClr val="02C39A"/>
                </a:solidFill>
              </a:rPr>
              <a:t>Course Recommendation System</a:t>
            </a:r>
            <a:endParaRPr lang="en-US" sz="1800" dirty="0"/>
          </a:p>
        </p:txBody>
      </p:sp>
      <p:sp>
        <p:nvSpPr>
          <p:cNvPr id="8" name="Text 6"/>
          <p:cNvSpPr/>
          <p:nvPr/>
        </p:nvSpPr>
        <p:spPr>
          <a:xfrm>
            <a:off x="1371600" y="3063240"/>
            <a:ext cx="6400800" cy="365760"/>
          </a:xfrm>
          <a:prstGeom prst="rect">
            <a:avLst/>
          </a:prstGeom>
          <a:noFill/>
          <a:ln/>
        </p:spPr>
        <p:txBody>
          <a:bodyPr wrap="square" rtlCol="0" anchor="ctr"/>
          <a:lstStyle/>
          <a:p>
            <a:pPr algn="ctr" indent="0" marL="0">
              <a:buNone/>
            </a:pPr>
            <a:r>
              <a:rPr lang="en-US" sz="1300" i="1" dirty="0">
                <a:solidFill>
                  <a:srgbClr val="CBD5E1"/>
                </a:solidFill>
              </a:rPr>
              <a:t>Popularity-Based  ·  Content-Based (TF-IDF)  ·  Hybrid Model</a:t>
            </a:r>
            <a:endParaRPr lang="en-US" sz="1300" dirty="0"/>
          </a:p>
        </p:txBody>
      </p:sp>
      <p:sp>
        <p:nvSpPr>
          <p:cNvPr id="9" name="Text 7"/>
          <p:cNvSpPr/>
          <p:nvPr/>
        </p:nvSpPr>
        <p:spPr>
          <a:xfrm>
            <a:off x="731520" y="3547872"/>
            <a:ext cx="7680960" cy="256032"/>
          </a:xfrm>
          <a:prstGeom prst="rect">
            <a:avLst/>
          </a:prstGeom>
          <a:noFill/>
          <a:ln/>
        </p:spPr>
        <p:txBody>
          <a:bodyPr wrap="square" rtlCol="0" anchor="ctr"/>
          <a:lstStyle/>
          <a:p>
            <a:pPr algn="ctr" indent="0" marL="0">
              <a:buNone/>
            </a:pPr>
            <a:r>
              <a:rPr lang="en-US" sz="1050" dirty="0">
                <a:solidFill>
                  <a:srgbClr val="CBD5E1"/>
                </a:solidFill>
              </a:rPr>
              <a:t>👥 Team:  Mekala Arunkumar · Pranay Bhagwan Doijad · Anil Kumar Reddy Korivi</a:t>
            </a:r>
            <a:endParaRPr lang="en-US" sz="1050" dirty="0"/>
          </a:p>
        </p:txBody>
      </p:sp>
      <p:sp>
        <p:nvSpPr>
          <p:cNvPr id="10" name="Text 8"/>
          <p:cNvSpPr/>
          <p:nvPr/>
        </p:nvSpPr>
        <p:spPr>
          <a:xfrm>
            <a:off x="731520" y="3822192"/>
            <a:ext cx="7680960" cy="256032"/>
          </a:xfrm>
          <a:prstGeom prst="rect">
            <a:avLst/>
          </a:prstGeom>
          <a:noFill/>
          <a:ln/>
        </p:spPr>
        <p:txBody>
          <a:bodyPr wrap="square" rtlCol="0" anchor="ctr"/>
          <a:lstStyle/>
          <a:p>
            <a:pPr algn="ctr" indent="0" marL="0">
              <a:buNone/>
            </a:pPr>
            <a:r>
              <a:rPr lang="en-US" sz="1050" dirty="0">
                <a:solidFill>
                  <a:srgbClr val="CBD5E1"/>
                </a:solidFill>
              </a:rPr>
              <a:t>         Mrs. Dhivya Mohan · Devarakonda Vijay · Neha P · Shriharsh Salokhe</a:t>
            </a:r>
            <a:endParaRPr lang="en-US" sz="1050" dirty="0"/>
          </a:p>
        </p:txBody>
      </p:sp>
      <p:sp>
        <p:nvSpPr>
          <p:cNvPr id="11" name="Text 9"/>
          <p:cNvSpPr/>
          <p:nvPr/>
        </p:nvSpPr>
        <p:spPr>
          <a:xfrm>
            <a:off x="731520" y="4096512"/>
            <a:ext cx="7680960" cy="256032"/>
          </a:xfrm>
          <a:prstGeom prst="rect">
            <a:avLst/>
          </a:prstGeom>
          <a:noFill/>
          <a:ln/>
        </p:spPr>
        <p:txBody>
          <a:bodyPr wrap="square" rtlCol="0" anchor="ctr"/>
          <a:lstStyle/>
          <a:p>
            <a:pPr algn="ctr" indent="0" marL="0">
              <a:buNone/>
            </a:pPr>
            <a:r>
              <a:rPr lang="en-US" sz="1050" dirty="0">
                <a:solidFill>
                  <a:srgbClr val="CBD5E1"/>
                </a:solidFill>
              </a:rPr>
              <a:t>🏢 Organization:  AI Variant, Pune</a:t>
            </a:r>
            <a:endParaRPr lang="en-US" sz="1050" dirty="0"/>
          </a:p>
        </p:txBody>
      </p:sp>
      <p:sp>
        <p:nvSpPr>
          <p:cNvPr id="12" name="Text 10"/>
          <p:cNvSpPr/>
          <p:nvPr/>
        </p:nvSpPr>
        <p:spPr>
          <a:xfrm>
            <a:off x="731520" y="4370832"/>
            <a:ext cx="7680960" cy="256032"/>
          </a:xfrm>
          <a:prstGeom prst="rect">
            <a:avLst/>
          </a:prstGeom>
          <a:noFill/>
          <a:ln/>
        </p:spPr>
        <p:txBody>
          <a:bodyPr wrap="square" rtlCol="0" anchor="ctr"/>
          <a:lstStyle/>
          <a:p>
            <a:pPr algn="ctr" indent="0" marL="0">
              <a:buNone/>
            </a:pPr>
            <a:r>
              <a:rPr lang="en-US" sz="1050" dirty="0">
                <a:solidFill>
                  <a:srgbClr val="02C39A"/>
                </a:solidFill>
              </a:rPr>
              <a:t>🌐 Live Application:  maincourserecommendationsystem.streamlit.app</a:t>
            </a:r>
            <a:endParaRPr lang="en-US" sz="1050" dirty="0"/>
          </a:p>
        </p:txBody>
      </p:sp>
      <p:sp>
        <p:nvSpPr>
          <p:cNvPr id="13" name="Shape 11"/>
          <p:cNvSpPr/>
          <p:nvPr/>
        </p:nvSpPr>
        <p:spPr>
          <a:xfrm>
            <a:off x="0" y="4800600"/>
            <a:ext cx="9144000" cy="342900"/>
          </a:xfrm>
          <a:prstGeom prst="rect">
            <a:avLst/>
          </a:prstGeom>
          <a:solidFill>
            <a:srgbClr val="028090">
              <a:alpha val="30000"/>
            </a:srgbClr>
          </a:solidFill>
          <a:ln/>
        </p:spPr>
      </p:sp>
      <p:sp>
        <p:nvSpPr>
          <p:cNvPr id="14" name="Text 12"/>
          <p:cNvSpPr/>
          <p:nvPr/>
        </p:nvSpPr>
        <p:spPr>
          <a:xfrm>
            <a:off x="274320" y="4800600"/>
            <a:ext cx="8595360" cy="342900"/>
          </a:xfrm>
          <a:prstGeom prst="rect">
            <a:avLst/>
          </a:prstGeom>
          <a:noFill/>
          <a:ln/>
        </p:spPr>
        <p:txBody>
          <a:bodyPr wrap="square" rtlCol="0" anchor="ctr"/>
          <a:lstStyle/>
          <a:p>
            <a:pPr algn="ctr" indent="0" marL="0">
              <a:buNone/>
            </a:pPr>
            <a:r>
              <a:rPr lang="en-US" sz="1200" i="1" dirty="0">
                <a:solidFill>
                  <a:srgbClr val="FFFFFF"/>
                </a:solidFill>
              </a:rPr>
              <a:t>We welcome your questions and feedback!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Recommendation System</dc:title>
  <dc:subject>PptxGenJS Presentation</dc:subject>
  <dc:creator>PptxGenJS</dc:creator>
  <cp:lastModifiedBy>PptxGenJS</cp:lastModifiedBy>
  <cp:revision>1</cp:revision>
  <dcterms:created xsi:type="dcterms:W3CDTF">2026-04-18T13:20:06Z</dcterms:created>
  <dcterms:modified xsi:type="dcterms:W3CDTF">2026-04-18T13:20:06Z</dcterms:modified>
</cp:coreProperties>
</file>